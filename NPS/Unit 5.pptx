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78" r:id="rId26"/>
    <p:sldId id="283" r:id="rId27"/>
    <p:sldId id="282" r:id="rId28"/>
    <p:sldId id="281" r:id="rId29"/>
    <p:sldId id="280" r:id="rId30"/>
    <p:sldId id="284" r:id="rId31"/>
    <p:sldId id="285" r:id="rId32"/>
    <p:sldId id="286" r:id="rId33"/>
    <p:sldId id="287" r:id="rId34"/>
  </p:sldIdLst>
  <p:sldSz cx="9144000" cy="6858000" type="screen4x3"/>
  <p:notesSz cx="6858000" cy="9144000"/>
  <p:defaultTextStyle>
    <a:defPPr>
      <a:defRPr lang="en-US"/>
    </a:defPPr>
    <a:lvl1pPr marL="0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89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77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65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53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442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31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619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707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69741" autoAdjust="0"/>
  </p:normalViewPr>
  <p:slideViewPr>
    <p:cSldViewPr>
      <p:cViewPr varScale="1">
        <p:scale>
          <a:sx n="73" d="100"/>
          <a:sy n="73" d="100"/>
        </p:scale>
        <p:origin x="-129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10765D-81D4-B544-AAB0-AD389DF7E279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748F2-7825-8745-8722-4DD3E5003A24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+mn-lt"/>
            </a:rPr>
            <a:t>Distribution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6FF17B5A-1E11-9C46-8BC4-F4A6B1FC5148}" type="parTrans" cxnId="{2E5FB9E4-C986-274B-B87B-780475783349}">
      <dgm:prSet/>
      <dgm:spPr/>
      <dgm:t>
        <a:bodyPr/>
        <a:lstStyle/>
        <a:p>
          <a:endParaRPr lang="en-US"/>
        </a:p>
      </dgm:t>
    </dgm:pt>
    <dgm:pt modelId="{A875E2FB-77A6-A041-8CFB-D1C1EABE121C}" type="sibTrans" cxnId="{2E5FB9E4-C986-274B-B87B-780475783349}">
      <dgm:prSet/>
      <dgm:spPr/>
      <dgm:t>
        <a:bodyPr/>
        <a:lstStyle/>
        <a:p>
          <a:endParaRPr lang="en-US"/>
        </a:p>
      </dgm:t>
    </dgm:pt>
    <dgm:pt modelId="{A5AE48E8-F0D1-BB44-97C5-FAFCC92BE8D2}">
      <dgm:prSet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+mn-lt"/>
            </a:rPr>
            <a:t>The primary service used by stations to exchange MPDUs when the  MPDUs must traverse the DS to get from a station in one BSS to a station in another BSS</a:t>
          </a:r>
        </a:p>
      </dgm:t>
    </dgm:pt>
    <dgm:pt modelId="{EBB9882F-B476-3E42-BDD8-9F79A83A136C}" type="parTrans" cxnId="{3F4C7C80-1CA2-5E41-B595-E44C8C1B704C}">
      <dgm:prSet/>
      <dgm:spPr/>
      <dgm:t>
        <a:bodyPr/>
        <a:lstStyle/>
        <a:p>
          <a:endParaRPr lang="en-US"/>
        </a:p>
      </dgm:t>
    </dgm:pt>
    <dgm:pt modelId="{4E86DAD5-6872-6347-A2E8-54D279C3DE33}" type="sibTrans" cxnId="{3F4C7C80-1CA2-5E41-B595-E44C8C1B704C}">
      <dgm:prSet/>
      <dgm:spPr/>
      <dgm:t>
        <a:bodyPr/>
        <a:lstStyle/>
        <a:p>
          <a:endParaRPr lang="en-US"/>
        </a:p>
      </dgm:t>
    </dgm:pt>
    <dgm:pt modelId="{7986AB96-648B-9941-9CDF-C99963F6BC7E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rgbClr val="FFFFFF"/>
              </a:solidFill>
              <a:latin typeface="+mn-lt"/>
            </a:rPr>
            <a:t>Integration</a:t>
          </a:r>
        </a:p>
      </dgm:t>
    </dgm:pt>
    <dgm:pt modelId="{8A6F72F5-F339-4048-B519-75A2B1F15A4E}" type="parTrans" cxnId="{594D5832-564B-5B40-8A75-BCF89B634079}">
      <dgm:prSet/>
      <dgm:spPr/>
      <dgm:t>
        <a:bodyPr/>
        <a:lstStyle/>
        <a:p>
          <a:endParaRPr lang="en-US"/>
        </a:p>
      </dgm:t>
    </dgm:pt>
    <dgm:pt modelId="{88D250CC-76AF-F14B-808D-4FD20A6DD88F}" type="sibTrans" cxnId="{594D5832-564B-5B40-8A75-BCF89B634079}">
      <dgm:prSet/>
      <dgm:spPr/>
      <dgm:t>
        <a:bodyPr/>
        <a:lstStyle/>
        <a:p>
          <a:endParaRPr lang="en-US"/>
        </a:p>
      </dgm:t>
    </dgm:pt>
    <dgm:pt modelId="{BE6C5D77-43F0-0E42-8EEB-A94CE4E54F6F}">
      <dgm:prSet/>
      <dgm:spPr>
        <a:solidFill>
          <a:schemeClr val="accent5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+mn-lt"/>
            </a:rPr>
            <a:t>Enables transfer of data between a station on an IEEE 802.11 LAN and a station on an integrated IEEE 802x LAN</a:t>
          </a:r>
        </a:p>
      </dgm:t>
    </dgm:pt>
    <dgm:pt modelId="{BA3452E6-E72C-3C4C-8A92-3B7A990908B2}" type="parTrans" cxnId="{CC72A201-ECCC-1942-9BA8-C2DD1D752C97}">
      <dgm:prSet/>
      <dgm:spPr/>
      <dgm:t>
        <a:bodyPr/>
        <a:lstStyle/>
        <a:p>
          <a:endParaRPr lang="en-US"/>
        </a:p>
      </dgm:t>
    </dgm:pt>
    <dgm:pt modelId="{ADB05AC1-C402-284E-A4B6-C739D315842A}" type="sibTrans" cxnId="{CC72A201-ECCC-1942-9BA8-C2DD1D752C97}">
      <dgm:prSet/>
      <dgm:spPr/>
      <dgm:t>
        <a:bodyPr/>
        <a:lstStyle/>
        <a:p>
          <a:endParaRPr lang="en-US"/>
        </a:p>
      </dgm:t>
    </dgm:pt>
    <dgm:pt modelId="{E21DBE4C-8029-044C-8D66-00EF1DAF409F}">
      <dgm:prSet/>
      <dgm:spPr>
        <a:solidFill>
          <a:schemeClr val="accent5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+mn-lt"/>
            </a:rPr>
            <a:t>Service enables transfer of data between a station on an IEEE 802.11 LAN and a station on an integrated IEEE 802.x LAN</a:t>
          </a:r>
        </a:p>
      </dgm:t>
    </dgm:pt>
    <dgm:pt modelId="{DFDB4D66-A143-FC46-B978-0436A7EA8337}" type="parTrans" cxnId="{7D982019-8A4C-6B4A-810E-53D67FA042D9}">
      <dgm:prSet/>
      <dgm:spPr/>
      <dgm:t>
        <a:bodyPr/>
        <a:lstStyle/>
        <a:p>
          <a:endParaRPr lang="en-US"/>
        </a:p>
      </dgm:t>
    </dgm:pt>
    <dgm:pt modelId="{7AA2AB8A-EE74-4047-96BB-9F131D84FCF9}" type="sibTrans" cxnId="{7D982019-8A4C-6B4A-810E-53D67FA042D9}">
      <dgm:prSet/>
      <dgm:spPr/>
      <dgm:t>
        <a:bodyPr/>
        <a:lstStyle/>
        <a:p>
          <a:endParaRPr lang="en-US"/>
        </a:p>
      </dgm:t>
    </dgm:pt>
    <dgm:pt modelId="{CFA3FD97-8CAA-4042-A93C-F58FBAD81292}" type="pres">
      <dgm:prSet presAssocID="{EF10765D-81D4-B544-AAB0-AD389DF7E27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CC79456-93D1-9740-9F33-96CE739606B6}" type="pres">
      <dgm:prSet presAssocID="{C8E748F2-7825-8745-8722-4DD3E5003A24}" presName="linNode" presStyleCnt="0"/>
      <dgm:spPr/>
    </dgm:pt>
    <dgm:pt modelId="{F542A4FB-4B7E-4243-AFEB-046331542B53}" type="pres">
      <dgm:prSet presAssocID="{C8E748F2-7825-8745-8722-4DD3E5003A24}" presName="parentText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2BE455-A5C1-A348-8992-C25171E50576}" type="pres">
      <dgm:prSet presAssocID="{C8E748F2-7825-8745-8722-4DD3E5003A24}" presName="descendantText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117272-680C-F046-8EA6-D382AF0AA1A6}" type="pres">
      <dgm:prSet presAssocID="{A875E2FB-77A6-A041-8CFB-D1C1EABE121C}" presName="sp" presStyleCnt="0"/>
      <dgm:spPr/>
    </dgm:pt>
    <dgm:pt modelId="{3E77BA3A-9F40-3F45-9792-2CA40E5E716D}" type="pres">
      <dgm:prSet presAssocID="{7986AB96-648B-9941-9CDF-C99963F6BC7E}" presName="linNode" presStyleCnt="0"/>
      <dgm:spPr/>
    </dgm:pt>
    <dgm:pt modelId="{109846DE-19BC-7040-BF99-24ED037194E3}" type="pres">
      <dgm:prSet presAssocID="{7986AB96-648B-9941-9CDF-C99963F6BC7E}" presName="parentText" presStyleLbl="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84B9D7-67A2-4B47-8772-428251F9BC42}" type="pres">
      <dgm:prSet presAssocID="{7986AB96-648B-9941-9CDF-C99963F6BC7E}" presName="descendantText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71B1751-5451-4FDA-9ECA-D9F2CEB9357E}" type="presOf" srcId="{C8E748F2-7825-8745-8722-4DD3E5003A24}" destId="{F542A4FB-4B7E-4243-AFEB-046331542B53}" srcOrd="0" destOrd="0" presId="urn:microsoft.com/office/officeart/2005/8/layout/vList5"/>
    <dgm:cxn modelId="{FB72EDB7-6309-43E9-8975-16D64EB8B480}" type="presOf" srcId="{EF10765D-81D4-B544-AAB0-AD389DF7E279}" destId="{CFA3FD97-8CAA-4042-A93C-F58FBAD81292}" srcOrd="0" destOrd="0" presId="urn:microsoft.com/office/officeart/2005/8/layout/vList5"/>
    <dgm:cxn modelId="{2E5FB9E4-C986-274B-B87B-780475783349}" srcId="{EF10765D-81D4-B544-AAB0-AD389DF7E279}" destId="{C8E748F2-7825-8745-8722-4DD3E5003A24}" srcOrd="0" destOrd="0" parTransId="{6FF17B5A-1E11-9C46-8BC4-F4A6B1FC5148}" sibTransId="{A875E2FB-77A6-A041-8CFB-D1C1EABE121C}"/>
    <dgm:cxn modelId="{594D5832-564B-5B40-8A75-BCF89B634079}" srcId="{EF10765D-81D4-B544-AAB0-AD389DF7E279}" destId="{7986AB96-648B-9941-9CDF-C99963F6BC7E}" srcOrd="1" destOrd="0" parTransId="{8A6F72F5-F339-4048-B519-75A2B1F15A4E}" sibTransId="{88D250CC-76AF-F14B-808D-4FD20A6DD88F}"/>
    <dgm:cxn modelId="{CC72A201-ECCC-1942-9BA8-C2DD1D752C97}" srcId="{7986AB96-648B-9941-9CDF-C99963F6BC7E}" destId="{BE6C5D77-43F0-0E42-8EEB-A94CE4E54F6F}" srcOrd="0" destOrd="0" parTransId="{BA3452E6-E72C-3C4C-8A92-3B7A990908B2}" sibTransId="{ADB05AC1-C402-284E-A4B6-C739D315842A}"/>
    <dgm:cxn modelId="{3F4C7C80-1CA2-5E41-B595-E44C8C1B704C}" srcId="{C8E748F2-7825-8745-8722-4DD3E5003A24}" destId="{A5AE48E8-F0D1-BB44-97C5-FAFCC92BE8D2}" srcOrd="0" destOrd="0" parTransId="{EBB9882F-B476-3E42-BDD8-9F79A83A136C}" sibTransId="{4E86DAD5-6872-6347-A2E8-54D279C3DE33}"/>
    <dgm:cxn modelId="{7D982019-8A4C-6B4A-810E-53D67FA042D9}" srcId="{7986AB96-648B-9941-9CDF-C99963F6BC7E}" destId="{E21DBE4C-8029-044C-8D66-00EF1DAF409F}" srcOrd="1" destOrd="0" parTransId="{DFDB4D66-A143-FC46-B978-0436A7EA8337}" sibTransId="{7AA2AB8A-EE74-4047-96BB-9F131D84FCF9}"/>
    <dgm:cxn modelId="{1E43F10E-AF17-45FF-8753-62A5FA3F0FF0}" type="presOf" srcId="{E21DBE4C-8029-044C-8D66-00EF1DAF409F}" destId="{8084B9D7-67A2-4B47-8772-428251F9BC42}" srcOrd="0" destOrd="1" presId="urn:microsoft.com/office/officeart/2005/8/layout/vList5"/>
    <dgm:cxn modelId="{2B65256C-9135-41A3-9437-AEB686DD4B08}" type="presOf" srcId="{7986AB96-648B-9941-9CDF-C99963F6BC7E}" destId="{109846DE-19BC-7040-BF99-24ED037194E3}" srcOrd="0" destOrd="0" presId="urn:microsoft.com/office/officeart/2005/8/layout/vList5"/>
    <dgm:cxn modelId="{FA298165-BBAE-4A82-825F-ED3C9D49B3E4}" type="presOf" srcId="{A5AE48E8-F0D1-BB44-97C5-FAFCC92BE8D2}" destId="{6A2BE455-A5C1-A348-8992-C25171E50576}" srcOrd="0" destOrd="0" presId="urn:microsoft.com/office/officeart/2005/8/layout/vList5"/>
    <dgm:cxn modelId="{99ADB0C7-E62B-43A0-8C7B-32DC3A54E623}" type="presOf" srcId="{BE6C5D77-43F0-0E42-8EEB-A94CE4E54F6F}" destId="{8084B9D7-67A2-4B47-8772-428251F9BC42}" srcOrd="0" destOrd="0" presId="urn:microsoft.com/office/officeart/2005/8/layout/vList5"/>
    <dgm:cxn modelId="{9D071738-9506-4A8C-B42D-A0A302425BCF}" type="presParOf" srcId="{CFA3FD97-8CAA-4042-A93C-F58FBAD81292}" destId="{8CC79456-93D1-9740-9F33-96CE739606B6}" srcOrd="0" destOrd="0" presId="urn:microsoft.com/office/officeart/2005/8/layout/vList5"/>
    <dgm:cxn modelId="{741EFFCF-5208-49D6-9D8D-C539C38046BD}" type="presParOf" srcId="{8CC79456-93D1-9740-9F33-96CE739606B6}" destId="{F542A4FB-4B7E-4243-AFEB-046331542B53}" srcOrd="0" destOrd="0" presId="urn:microsoft.com/office/officeart/2005/8/layout/vList5"/>
    <dgm:cxn modelId="{9BDD1C22-273A-4944-8032-4BBFB9F24903}" type="presParOf" srcId="{8CC79456-93D1-9740-9F33-96CE739606B6}" destId="{6A2BE455-A5C1-A348-8992-C25171E50576}" srcOrd="1" destOrd="0" presId="urn:microsoft.com/office/officeart/2005/8/layout/vList5"/>
    <dgm:cxn modelId="{502A6E3D-9D8A-4BBF-B43B-A5C963D6A0BF}" type="presParOf" srcId="{CFA3FD97-8CAA-4042-A93C-F58FBAD81292}" destId="{62117272-680C-F046-8EA6-D382AF0AA1A6}" srcOrd="1" destOrd="0" presId="urn:microsoft.com/office/officeart/2005/8/layout/vList5"/>
    <dgm:cxn modelId="{DE803A1C-757F-46FD-A769-CA4F590905F2}" type="presParOf" srcId="{CFA3FD97-8CAA-4042-A93C-F58FBAD81292}" destId="{3E77BA3A-9F40-3F45-9792-2CA40E5E716D}" srcOrd="2" destOrd="0" presId="urn:microsoft.com/office/officeart/2005/8/layout/vList5"/>
    <dgm:cxn modelId="{0A2D5962-AB9B-424F-80A3-8AD2976A5F79}" type="presParOf" srcId="{3E77BA3A-9F40-3F45-9792-2CA40E5E716D}" destId="{109846DE-19BC-7040-BF99-24ED037194E3}" srcOrd="0" destOrd="0" presId="urn:microsoft.com/office/officeart/2005/8/layout/vList5"/>
    <dgm:cxn modelId="{829657A0-B6ED-43C9-B21A-88D5EF13BD4B}" type="presParOf" srcId="{3E77BA3A-9F40-3F45-9792-2CA40E5E716D}" destId="{8084B9D7-67A2-4B47-8772-428251F9BC4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9B22D3-26A3-D041-BA8A-6F0084DB3EF4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39F774-E010-D84E-A829-F9213FBAF27A}">
      <dgm:prSet/>
      <dgm:spPr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pPr algn="ctr" rtl="0"/>
          <a:r>
            <a:rPr lang="en-US" b="1" dirty="0" smtClean="0">
              <a:solidFill>
                <a:schemeClr val="bg1"/>
              </a:solidFill>
              <a:latin typeface="+mn-lt"/>
            </a:rPr>
            <a:t>Association  </a:t>
          </a:r>
          <a:endParaRPr lang="en-US" dirty="0">
            <a:solidFill>
              <a:schemeClr val="bg1"/>
            </a:solidFill>
            <a:latin typeface="+mn-lt"/>
          </a:endParaRPr>
        </a:p>
      </dgm:t>
    </dgm:pt>
    <dgm:pt modelId="{DEF90239-77FF-C04C-9250-3A51B171DE73}" type="parTrans" cxnId="{5776619B-EB4E-034A-95BE-C201AC53B5F4}">
      <dgm:prSet/>
      <dgm:spPr/>
      <dgm:t>
        <a:bodyPr/>
        <a:lstStyle/>
        <a:p>
          <a:endParaRPr lang="en-US"/>
        </a:p>
      </dgm:t>
    </dgm:pt>
    <dgm:pt modelId="{20153888-C6A1-864C-AED8-02948C8F463E}" type="sibTrans" cxnId="{5776619B-EB4E-034A-95BE-C201AC53B5F4}">
      <dgm:prSet/>
      <dgm:spPr/>
      <dgm:t>
        <a:bodyPr/>
        <a:lstStyle/>
        <a:p>
          <a:endParaRPr lang="en-US"/>
        </a:p>
      </dgm:t>
    </dgm:pt>
    <dgm:pt modelId="{6E12E72C-2E14-FF43-85B6-B72990FB4468}">
      <dgm:prSet custT="1"/>
      <dgm:spPr/>
      <dgm:t>
        <a:bodyPr/>
        <a:lstStyle/>
        <a:p>
          <a:pPr rtl="0"/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Establishes an initial association between a station and an AP</a:t>
          </a:r>
          <a:endParaRPr lang="en-US" sz="18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B06567E6-B380-A747-AD65-880AE3688705}" type="parTrans" cxnId="{42AF4375-92C2-F741-8547-CE27B5315B1A}">
      <dgm:prSet/>
      <dgm:spPr/>
      <dgm:t>
        <a:bodyPr/>
        <a:lstStyle/>
        <a:p>
          <a:endParaRPr lang="en-US"/>
        </a:p>
      </dgm:t>
    </dgm:pt>
    <dgm:pt modelId="{EEB1EF49-5103-DE4C-B10D-D747A8BEA1D6}" type="sibTrans" cxnId="{42AF4375-92C2-F741-8547-CE27B5315B1A}">
      <dgm:prSet/>
      <dgm:spPr/>
      <dgm:t>
        <a:bodyPr/>
        <a:lstStyle/>
        <a:p>
          <a:endParaRPr lang="en-US"/>
        </a:p>
      </dgm:t>
    </dgm:pt>
    <dgm:pt modelId="{9302CDF7-374A-034C-86D0-4682A2AE9F46}">
      <dgm:prSet/>
      <dgm:spPr>
        <a:solidFill>
          <a:schemeClr val="accent5">
            <a:lumMod val="75000"/>
          </a:schemeClr>
        </a:solidFill>
        <a:ln>
          <a:solidFill>
            <a:schemeClr val="accent5">
              <a:lumMod val="50000"/>
            </a:schemeClr>
          </a:solidFill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pPr algn="ctr" rtl="0"/>
          <a:r>
            <a:rPr lang="en-US" b="1" dirty="0" err="1" smtClean="0">
              <a:solidFill>
                <a:schemeClr val="bg1"/>
              </a:solidFill>
              <a:latin typeface="+mn-lt"/>
            </a:rPr>
            <a:t>Reassociation</a:t>
          </a:r>
          <a:endParaRPr lang="en-US" b="1" dirty="0">
            <a:solidFill>
              <a:schemeClr val="bg1"/>
            </a:solidFill>
            <a:latin typeface="+mn-lt"/>
          </a:endParaRPr>
        </a:p>
      </dgm:t>
    </dgm:pt>
    <dgm:pt modelId="{B21337A6-B183-5647-9E69-E35B3D37BA3C}" type="parTrans" cxnId="{392CE275-DB86-E44E-984F-C9194E299F75}">
      <dgm:prSet/>
      <dgm:spPr/>
      <dgm:t>
        <a:bodyPr/>
        <a:lstStyle/>
        <a:p>
          <a:endParaRPr lang="en-US"/>
        </a:p>
      </dgm:t>
    </dgm:pt>
    <dgm:pt modelId="{AEE7598B-8759-9F4B-95B1-68206287FB2F}" type="sibTrans" cxnId="{392CE275-DB86-E44E-984F-C9194E299F75}">
      <dgm:prSet/>
      <dgm:spPr/>
      <dgm:t>
        <a:bodyPr/>
        <a:lstStyle/>
        <a:p>
          <a:endParaRPr lang="en-US"/>
        </a:p>
      </dgm:t>
    </dgm:pt>
    <dgm:pt modelId="{93B98D5D-DA6A-D344-89A3-8377D2C155E9}">
      <dgm:prSet custT="1"/>
      <dgm:spPr/>
      <dgm:t>
        <a:bodyPr/>
        <a:lstStyle/>
        <a:p>
          <a:pPr rtl="0"/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Enables an established association to be transferred from one AP to another, allowing a mobile station to move from one BSS to another</a:t>
          </a:r>
          <a:endParaRPr lang="en-US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4669BE90-DA32-274E-8D6A-86D731CFA512}" type="parTrans" cxnId="{22B3EA45-707D-CB43-B263-C0EF7FBA1B78}">
      <dgm:prSet/>
      <dgm:spPr/>
      <dgm:t>
        <a:bodyPr/>
        <a:lstStyle/>
        <a:p>
          <a:endParaRPr lang="en-US"/>
        </a:p>
      </dgm:t>
    </dgm:pt>
    <dgm:pt modelId="{BDA99702-6FA8-A14B-9E55-E6C45C5357CF}" type="sibTrans" cxnId="{22B3EA45-707D-CB43-B263-C0EF7FBA1B78}">
      <dgm:prSet/>
      <dgm:spPr/>
      <dgm:t>
        <a:bodyPr/>
        <a:lstStyle/>
        <a:p>
          <a:endParaRPr lang="en-US"/>
        </a:p>
      </dgm:t>
    </dgm:pt>
    <dgm:pt modelId="{7D9D15BE-6FC7-3A4A-B601-EBABF6D5BE26}">
      <dgm:prSet/>
      <dgm:spPr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pPr algn="ctr" rtl="0"/>
          <a:r>
            <a:rPr lang="en-US" b="1" dirty="0" smtClean="0">
              <a:solidFill>
                <a:schemeClr val="bg1"/>
              </a:solidFill>
              <a:latin typeface="+mn-lt"/>
            </a:rPr>
            <a:t>Disassociation</a:t>
          </a:r>
          <a:endParaRPr lang="en-US" dirty="0">
            <a:solidFill>
              <a:schemeClr val="bg1"/>
            </a:solidFill>
            <a:latin typeface="+mn-lt"/>
          </a:endParaRPr>
        </a:p>
      </dgm:t>
    </dgm:pt>
    <dgm:pt modelId="{2B4B60A8-FB97-3240-BE79-49E544B91DD7}" type="parTrans" cxnId="{5B1C332F-07C6-9140-B20F-8C0E310F318D}">
      <dgm:prSet/>
      <dgm:spPr/>
      <dgm:t>
        <a:bodyPr/>
        <a:lstStyle/>
        <a:p>
          <a:endParaRPr lang="en-US"/>
        </a:p>
      </dgm:t>
    </dgm:pt>
    <dgm:pt modelId="{F9360C08-C1D7-BB44-B349-B0067BAEA49B}" type="sibTrans" cxnId="{5B1C332F-07C6-9140-B20F-8C0E310F318D}">
      <dgm:prSet/>
      <dgm:spPr/>
      <dgm:t>
        <a:bodyPr/>
        <a:lstStyle/>
        <a:p>
          <a:endParaRPr lang="en-US"/>
        </a:p>
      </dgm:t>
    </dgm:pt>
    <dgm:pt modelId="{EEBB01BA-C54F-E34C-9E40-ABE3035A3DB2}">
      <dgm:prSet custT="1"/>
      <dgm:spPr/>
      <dgm:t>
        <a:bodyPr/>
        <a:lstStyle/>
        <a:p>
          <a:pPr rtl="0"/>
          <a:r>
            <a:rPr lang="en-US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A notification from either a station or an AP that an existing association is terminated</a:t>
          </a:r>
          <a:endParaRPr lang="en-US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ABDC5011-99BD-BC4C-A435-AE0F14C7F290}" type="parTrans" cxnId="{3B9E6931-1A25-5441-807D-8C309505538C}">
      <dgm:prSet/>
      <dgm:spPr/>
      <dgm:t>
        <a:bodyPr/>
        <a:lstStyle/>
        <a:p>
          <a:endParaRPr lang="en-US"/>
        </a:p>
      </dgm:t>
    </dgm:pt>
    <dgm:pt modelId="{F4A8A825-FAD7-E440-BD42-F165FF0BD36C}" type="sibTrans" cxnId="{3B9E6931-1A25-5441-807D-8C309505538C}">
      <dgm:prSet/>
      <dgm:spPr/>
      <dgm:t>
        <a:bodyPr/>
        <a:lstStyle/>
        <a:p>
          <a:endParaRPr lang="en-US"/>
        </a:p>
      </dgm:t>
    </dgm:pt>
    <dgm:pt modelId="{521F5F57-0471-2546-8B70-13F583226FEB}" type="pres">
      <dgm:prSet presAssocID="{F79B22D3-26A3-D041-BA8A-6F0084DB3EF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51ED82-7E74-5F42-8E91-8D62DA38EAA3}" type="pres">
      <dgm:prSet presAssocID="{2339F774-E010-D84E-A829-F9213FBAF27A}" presName="parentText" presStyleLbl="node1" presStyleIdx="0" presStyleCnt="3" custScaleX="33334" custLinFactY="41459" custLinFactNeighborX="-2240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C24477-A4DC-7046-AD5C-FCE169CECE93}" type="pres">
      <dgm:prSet presAssocID="{2339F774-E010-D84E-A829-F9213FBAF27A}" presName="childText" presStyleLbl="revTx" presStyleIdx="0" presStyleCnt="3" custScaleX="42593" custScaleY="162925" custLinFactNeighborX="27154" custLinFactNeighborY="-8139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83118B-48EE-3943-8AC6-4A4B37E1C882}" type="pres">
      <dgm:prSet presAssocID="{9302CDF7-374A-034C-86D0-4682A2AE9F46}" presName="parentText" presStyleLbl="node1" presStyleIdx="1" presStyleCnt="3" custScaleX="33332" custLinFactY="27148" custLinFactNeighborX="-2245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DD76B6-7EC9-B74C-AEB5-2533048092AC}" type="pres">
      <dgm:prSet presAssocID="{9302CDF7-374A-034C-86D0-4682A2AE9F46}" presName="childText" presStyleLbl="revTx" presStyleIdx="1" presStyleCnt="3" custScaleX="38889" custScaleY="318313" custLinFactY="-9495" custLinFactNeighborX="24826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4B4B37-7836-E047-BF46-94C49832A19C}" type="pres">
      <dgm:prSet presAssocID="{7D9D15BE-6FC7-3A4A-B601-EBABF6D5BE26}" presName="parentText" presStyleLbl="node1" presStyleIdx="2" presStyleCnt="3" custScaleX="35186" custLinFactNeighborX="-22015" custLinFactNeighborY="-8477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905E0D-F1C5-2643-9075-B45EDC2E537D}" type="pres">
      <dgm:prSet presAssocID="{7D9D15BE-6FC7-3A4A-B601-EBABF6D5BE26}" presName="childText" presStyleLbl="revTx" presStyleIdx="2" presStyleCnt="3" custScaleX="38888" custScaleY="184809" custLinFactY="-98407" custLinFactNeighborX="27779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7D76731-6A60-45F6-B7E9-F2DB3A1B6343}" type="presOf" srcId="{EEBB01BA-C54F-E34C-9E40-ABE3035A3DB2}" destId="{A9905E0D-F1C5-2643-9075-B45EDC2E537D}" srcOrd="0" destOrd="0" presId="urn:microsoft.com/office/officeart/2005/8/layout/vList2"/>
    <dgm:cxn modelId="{8C7187B7-E321-4519-92A6-451CF2CCEAE7}" type="presOf" srcId="{2339F774-E010-D84E-A829-F9213FBAF27A}" destId="{4651ED82-7E74-5F42-8E91-8D62DA38EAA3}" srcOrd="0" destOrd="0" presId="urn:microsoft.com/office/officeart/2005/8/layout/vList2"/>
    <dgm:cxn modelId="{378D8742-334D-491D-9FD9-D862EF828BCE}" type="presOf" srcId="{93B98D5D-DA6A-D344-89A3-8377D2C155E9}" destId="{CBDD76B6-7EC9-B74C-AEB5-2533048092AC}" srcOrd="0" destOrd="0" presId="urn:microsoft.com/office/officeart/2005/8/layout/vList2"/>
    <dgm:cxn modelId="{0C450387-C58A-41EE-BD07-9755FBAA03E3}" type="presOf" srcId="{9302CDF7-374A-034C-86D0-4682A2AE9F46}" destId="{8B83118B-48EE-3943-8AC6-4A4B37E1C882}" srcOrd="0" destOrd="0" presId="urn:microsoft.com/office/officeart/2005/8/layout/vList2"/>
    <dgm:cxn modelId="{22B3EA45-707D-CB43-B263-C0EF7FBA1B78}" srcId="{9302CDF7-374A-034C-86D0-4682A2AE9F46}" destId="{93B98D5D-DA6A-D344-89A3-8377D2C155E9}" srcOrd="0" destOrd="0" parTransId="{4669BE90-DA32-274E-8D6A-86D731CFA512}" sibTransId="{BDA99702-6FA8-A14B-9E55-E6C45C5357CF}"/>
    <dgm:cxn modelId="{5B1C332F-07C6-9140-B20F-8C0E310F318D}" srcId="{F79B22D3-26A3-D041-BA8A-6F0084DB3EF4}" destId="{7D9D15BE-6FC7-3A4A-B601-EBABF6D5BE26}" srcOrd="2" destOrd="0" parTransId="{2B4B60A8-FB97-3240-BE79-49E544B91DD7}" sibTransId="{F9360C08-C1D7-BB44-B349-B0067BAEA49B}"/>
    <dgm:cxn modelId="{392CE275-DB86-E44E-984F-C9194E299F75}" srcId="{F79B22D3-26A3-D041-BA8A-6F0084DB3EF4}" destId="{9302CDF7-374A-034C-86D0-4682A2AE9F46}" srcOrd="1" destOrd="0" parTransId="{B21337A6-B183-5647-9E69-E35B3D37BA3C}" sibTransId="{AEE7598B-8759-9F4B-95B1-68206287FB2F}"/>
    <dgm:cxn modelId="{5776619B-EB4E-034A-95BE-C201AC53B5F4}" srcId="{F79B22D3-26A3-D041-BA8A-6F0084DB3EF4}" destId="{2339F774-E010-D84E-A829-F9213FBAF27A}" srcOrd="0" destOrd="0" parTransId="{DEF90239-77FF-C04C-9250-3A51B171DE73}" sibTransId="{20153888-C6A1-864C-AED8-02948C8F463E}"/>
    <dgm:cxn modelId="{654E6973-E656-4F23-B19B-07CE46B36A59}" type="presOf" srcId="{F79B22D3-26A3-D041-BA8A-6F0084DB3EF4}" destId="{521F5F57-0471-2546-8B70-13F583226FEB}" srcOrd="0" destOrd="0" presId="urn:microsoft.com/office/officeart/2005/8/layout/vList2"/>
    <dgm:cxn modelId="{42AF4375-92C2-F741-8547-CE27B5315B1A}" srcId="{2339F774-E010-D84E-A829-F9213FBAF27A}" destId="{6E12E72C-2E14-FF43-85B6-B72990FB4468}" srcOrd="0" destOrd="0" parTransId="{B06567E6-B380-A747-AD65-880AE3688705}" sibTransId="{EEB1EF49-5103-DE4C-B10D-D747A8BEA1D6}"/>
    <dgm:cxn modelId="{FF24DDDE-3480-4B3F-9AD2-6753D531C734}" type="presOf" srcId="{7D9D15BE-6FC7-3A4A-B601-EBABF6D5BE26}" destId="{144B4B37-7836-E047-BF46-94C49832A19C}" srcOrd="0" destOrd="0" presId="urn:microsoft.com/office/officeart/2005/8/layout/vList2"/>
    <dgm:cxn modelId="{3B9E6931-1A25-5441-807D-8C309505538C}" srcId="{7D9D15BE-6FC7-3A4A-B601-EBABF6D5BE26}" destId="{EEBB01BA-C54F-E34C-9E40-ABE3035A3DB2}" srcOrd="0" destOrd="0" parTransId="{ABDC5011-99BD-BC4C-A435-AE0F14C7F290}" sibTransId="{F4A8A825-FAD7-E440-BD42-F165FF0BD36C}"/>
    <dgm:cxn modelId="{A823EE2E-60B0-41AE-8D99-2C7DF0233CBB}" type="presOf" srcId="{6E12E72C-2E14-FF43-85B6-B72990FB4468}" destId="{C7C24477-A4DC-7046-AD5C-FCE169CECE93}" srcOrd="0" destOrd="0" presId="urn:microsoft.com/office/officeart/2005/8/layout/vList2"/>
    <dgm:cxn modelId="{F1FE4CCA-A109-497C-BE48-F04D60A43731}" type="presParOf" srcId="{521F5F57-0471-2546-8B70-13F583226FEB}" destId="{4651ED82-7E74-5F42-8E91-8D62DA38EAA3}" srcOrd="0" destOrd="0" presId="urn:microsoft.com/office/officeart/2005/8/layout/vList2"/>
    <dgm:cxn modelId="{F7F668A4-B978-40E0-B9B9-71498E4574C1}" type="presParOf" srcId="{521F5F57-0471-2546-8B70-13F583226FEB}" destId="{C7C24477-A4DC-7046-AD5C-FCE169CECE93}" srcOrd="1" destOrd="0" presId="urn:microsoft.com/office/officeart/2005/8/layout/vList2"/>
    <dgm:cxn modelId="{8369A560-2C11-4927-8498-6678104C9568}" type="presParOf" srcId="{521F5F57-0471-2546-8B70-13F583226FEB}" destId="{8B83118B-48EE-3943-8AC6-4A4B37E1C882}" srcOrd="2" destOrd="0" presId="urn:microsoft.com/office/officeart/2005/8/layout/vList2"/>
    <dgm:cxn modelId="{BD73254E-4623-4534-B6D2-E9E7FFB9B3F3}" type="presParOf" srcId="{521F5F57-0471-2546-8B70-13F583226FEB}" destId="{CBDD76B6-7EC9-B74C-AEB5-2533048092AC}" srcOrd="3" destOrd="0" presId="urn:microsoft.com/office/officeart/2005/8/layout/vList2"/>
    <dgm:cxn modelId="{2AC161EC-D235-4456-B625-89143AB415FF}" type="presParOf" srcId="{521F5F57-0471-2546-8B70-13F583226FEB}" destId="{144B4B37-7836-E047-BF46-94C49832A19C}" srcOrd="4" destOrd="0" presId="urn:microsoft.com/office/officeart/2005/8/layout/vList2"/>
    <dgm:cxn modelId="{50E48490-4A58-4A6C-87CD-937FB00B52AA}" type="presParOf" srcId="{521F5F57-0471-2546-8B70-13F583226FEB}" destId="{A9905E0D-F1C5-2643-9075-B45EDC2E537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BE455-A5C1-A348-8992-C25171E50576}">
      <dsp:nvSpPr>
        <dsp:cNvPr id="0" name=""/>
        <dsp:cNvSpPr/>
      </dsp:nvSpPr>
      <dsp:spPr>
        <a:xfrm rot="5400000">
          <a:off x="5369633" y="-2055967"/>
          <a:ext cx="1208299" cy="5622384"/>
        </a:xfrm>
        <a:prstGeom prst="round2SameRect">
          <a:avLst/>
        </a:prstGeom>
        <a:solidFill>
          <a:schemeClr val="accent3">
            <a:lumMod val="40000"/>
            <a:lumOff val="60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n-lt"/>
            </a:rPr>
            <a:t>The primary service used by stations to exchange MPDUs when the  MPDUs must traverse the DS to get from a station in one BSS to a station in another BSS</a:t>
          </a:r>
        </a:p>
      </dsp:txBody>
      <dsp:txXfrm rot="-5400000">
        <a:off x="3162591" y="210059"/>
        <a:ext cx="5563400" cy="1090331"/>
      </dsp:txXfrm>
    </dsp:sp>
    <dsp:sp modelId="{F542A4FB-4B7E-4243-AFEB-046331542B53}">
      <dsp:nvSpPr>
        <dsp:cNvPr id="0" name=""/>
        <dsp:cNvSpPr/>
      </dsp:nvSpPr>
      <dsp:spPr>
        <a:xfrm>
          <a:off x="0" y="37"/>
          <a:ext cx="3162591" cy="1510374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>
              <a:solidFill>
                <a:schemeClr val="tx1"/>
              </a:solidFill>
              <a:latin typeface="+mn-lt"/>
            </a:rPr>
            <a:t>Distribution</a:t>
          </a:r>
          <a:endParaRPr lang="en-US" sz="4100" kern="1200" dirty="0">
            <a:solidFill>
              <a:schemeClr val="tx1"/>
            </a:solidFill>
            <a:latin typeface="+mn-lt"/>
          </a:endParaRPr>
        </a:p>
      </dsp:txBody>
      <dsp:txXfrm>
        <a:off x="73730" y="73767"/>
        <a:ext cx="3015131" cy="1362914"/>
      </dsp:txXfrm>
    </dsp:sp>
    <dsp:sp modelId="{8084B9D7-67A2-4B47-8772-428251F9BC42}">
      <dsp:nvSpPr>
        <dsp:cNvPr id="0" name=""/>
        <dsp:cNvSpPr/>
      </dsp:nvSpPr>
      <dsp:spPr>
        <a:xfrm rot="5400000">
          <a:off x="5369633" y="-470073"/>
          <a:ext cx="1208299" cy="5622384"/>
        </a:xfrm>
        <a:prstGeom prst="round2SameRect">
          <a:avLst/>
        </a:prstGeom>
        <a:solidFill>
          <a:schemeClr val="accent5">
            <a:lumMod val="40000"/>
            <a:lumOff val="60000"/>
            <a:alpha val="9000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n-lt"/>
            </a:rPr>
            <a:t>Enables transfer of data between a station on an IEEE 802.11 LAN and a station on an integrated IEEE 802x LAN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+mn-lt"/>
            </a:rPr>
            <a:t>Service enables transfer of data between a station on an IEEE 802.11 LAN and a station on an integrated IEEE 802.x LAN</a:t>
          </a:r>
        </a:p>
      </dsp:txBody>
      <dsp:txXfrm rot="-5400000">
        <a:off x="3162591" y="1795953"/>
        <a:ext cx="5563400" cy="1090331"/>
      </dsp:txXfrm>
    </dsp:sp>
    <dsp:sp modelId="{109846DE-19BC-7040-BF99-24ED037194E3}">
      <dsp:nvSpPr>
        <dsp:cNvPr id="0" name=""/>
        <dsp:cNvSpPr/>
      </dsp:nvSpPr>
      <dsp:spPr>
        <a:xfrm>
          <a:off x="0" y="1585931"/>
          <a:ext cx="3162591" cy="1510374"/>
        </a:xfrm>
        <a:prstGeom prst="round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>
              <a:solidFill>
                <a:srgbClr val="FFFFFF"/>
              </a:solidFill>
              <a:latin typeface="+mn-lt"/>
            </a:rPr>
            <a:t>Integration</a:t>
          </a:r>
        </a:p>
      </dsp:txBody>
      <dsp:txXfrm>
        <a:off x="73730" y="1659661"/>
        <a:ext cx="3015131" cy="1362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51ED82-7E74-5F42-8E91-8D62DA38EAA3}">
      <dsp:nvSpPr>
        <dsp:cNvPr id="0" name=""/>
        <dsp:cNvSpPr/>
      </dsp:nvSpPr>
      <dsp:spPr>
        <a:xfrm>
          <a:off x="899659" y="460494"/>
          <a:ext cx="2743254" cy="359774"/>
        </a:xfrm>
        <a:prstGeom prst="roundRect">
          <a:avLst/>
        </a:prstGeom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bg1"/>
              </a:solidFill>
              <a:latin typeface="+mn-lt"/>
            </a:rPr>
            <a:t>Association  </a:t>
          </a:r>
          <a:endParaRPr lang="en-US" sz="1400" kern="1200" dirty="0">
            <a:solidFill>
              <a:schemeClr val="bg1"/>
            </a:solidFill>
            <a:latin typeface="+mn-lt"/>
          </a:endParaRPr>
        </a:p>
      </dsp:txBody>
      <dsp:txXfrm>
        <a:off x="917222" y="478057"/>
        <a:ext cx="2708128" cy="324648"/>
      </dsp:txXfrm>
    </dsp:sp>
    <dsp:sp modelId="{C7C24477-A4DC-7046-AD5C-FCE169CECE93}">
      <dsp:nvSpPr>
        <dsp:cNvPr id="0" name=""/>
        <dsp:cNvSpPr/>
      </dsp:nvSpPr>
      <dsp:spPr>
        <a:xfrm>
          <a:off x="4596848" y="75540"/>
          <a:ext cx="3505233" cy="493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Establishes an initial association between a station and an AP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4596848" y="75540"/>
        <a:ext cx="3505233" cy="493235"/>
      </dsp:txXfrm>
    </dsp:sp>
    <dsp:sp modelId="{8B83118B-48EE-3943-8AC6-4A4B37E1C882}">
      <dsp:nvSpPr>
        <dsp:cNvPr id="0" name=""/>
        <dsp:cNvSpPr/>
      </dsp:nvSpPr>
      <dsp:spPr>
        <a:xfrm>
          <a:off x="895627" y="1518179"/>
          <a:ext cx="2743090" cy="359774"/>
        </a:xfrm>
        <a:prstGeom prst="roundRect">
          <a:avLst/>
        </a:prstGeom>
        <a:solidFill>
          <a:schemeClr val="accent5">
            <a:lumMod val="75000"/>
          </a:schemeClr>
        </a:solidFill>
        <a:ln>
          <a:solidFill>
            <a:schemeClr val="accent5">
              <a:lumMod val="50000"/>
            </a:schemeClr>
          </a:solidFill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err="1" smtClean="0">
              <a:solidFill>
                <a:schemeClr val="bg1"/>
              </a:solidFill>
              <a:latin typeface="+mn-lt"/>
            </a:rPr>
            <a:t>Reassociation</a:t>
          </a:r>
          <a:endParaRPr lang="en-US" sz="1400" b="1" kern="1200" dirty="0">
            <a:solidFill>
              <a:schemeClr val="bg1"/>
            </a:solidFill>
            <a:latin typeface="+mn-lt"/>
          </a:endParaRPr>
        </a:p>
      </dsp:txBody>
      <dsp:txXfrm>
        <a:off x="913190" y="1535742"/>
        <a:ext cx="2707964" cy="324648"/>
      </dsp:txXfrm>
    </dsp:sp>
    <dsp:sp modelId="{CBDD76B6-7EC9-B74C-AEB5-2533048092AC}">
      <dsp:nvSpPr>
        <dsp:cNvPr id="0" name=""/>
        <dsp:cNvSpPr/>
      </dsp:nvSpPr>
      <dsp:spPr>
        <a:xfrm>
          <a:off x="4557675" y="808540"/>
          <a:ext cx="3200409" cy="177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Enables an established association to be transferred from one AP to another, allowing a mobile station to move from one BSS to another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4557675" y="808540"/>
        <a:ext cx="3200409" cy="1779051"/>
      </dsp:txXfrm>
    </dsp:sp>
    <dsp:sp modelId="{144B4B37-7836-E047-BF46-94C49832A19C}">
      <dsp:nvSpPr>
        <dsp:cNvPr id="0" name=""/>
        <dsp:cNvSpPr/>
      </dsp:nvSpPr>
      <dsp:spPr>
        <a:xfrm>
          <a:off x="855220" y="2526637"/>
          <a:ext cx="2895667" cy="359774"/>
        </a:xfrm>
        <a:prstGeom prst="roundRect">
          <a:avLst/>
        </a:prstGeom>
        <a:solidFill>
          <a:schemeClr val="accent3">
            <a:lumMod val="75000"/>
          </a:schemeClr>
        </a:solidFill>
        <a:ln>
          <a:solidFill>
            <a:schemeClr val="accent3">
              <a:lumMod val="50000"/>
            </a:schemeClr>
          </a:solidFill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bg1"/>
              </a:solidFill>
              <a:latin typeface="+mn-lt"/>
            </a:rPr>
            <a:t>Disassociation</a:t>
          </a:r>
          <a:endParaRPr lang="en-US" sz="1400" kern="1200" dirty="0">
            <a:solidFill>
              <a:schemeClr val="bg1"/>
            </a:solidFill>
            <a:latin typeface="+mn-lt"/>
          </a:endParaRPr>
        </a:p>
      </dsp:txBody>
      <dsp:txXfrm>
        <a:off x="872783" y="2544200"/>
        <a:ext cx="2860541" cy="324648"/>
      </dsp:txXfrm>
    </dsp:sp>
    <dsp:sp modelId="{A9905E0D-F1C5-2643-9075-B45EDC2E537D}">
      <dsp:nvSpPr>
        <dsp:cNvPr id="0" name=""/>
        <dsp:cNvSpPr/>
      </dsp:nvSpPr>
      <dsp:spPr>
        <a:xfrm>
          <a:off x="4800737" y="2450437"/>
          <a:ext cx="3200326" cy="1032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A notification from either a station or an AP that an existing association is terminated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4800737" y="2450437"/>
        <a:ext cx="3200326" cy="10328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12736-7FB4-4610-97A7-6C7C9CD38104}" type="datetimeFigureOut">
              <a:rPr lang="en-IN" smtClean="0"/>
              <a:pPr/>
              <a:t>20-10-2020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02730-EE36-4314-B95C-475A4FFA465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50373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89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77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265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353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442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31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619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707" algn="l" defTabSz="914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first 802.11 standard to gain broad industry acceptance was 802.11b. Although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802.11b products are all based on the same standard, there is always a concern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whether products from different vendors will successfully interoperate. To meet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concern, the Wireless Ethernet Compatibility Alliance (WECA), an industry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consortium, was formed in 1999. This organization, subsequently renamed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Wi-Fi (Wireless Fidelity) Alliance, created a test suite to certify interoperability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802.11b products. The term used for certified 802.11b products is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Wi-Fi . Wi-Fi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certification has been extended to 802.11g products. The Wi-Fi Alliance has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developed a certification process for 802.11a products, called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Wi-Fi5 . The Wi-Fi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Alliance is concerned with a range of market areas for WLANs, including enterprise,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home, and hot spots.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More recently, the Wi-Fi Alliance has developed certification procedures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IEEE 802.11 security standards, referred to as Wi-Fi Protected Access (WPA).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most recent version of WPA, known as WPA2, incorporates all of the features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IEEE 802.11i WLAN security specification.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8806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Before proceeding, we need to briefly preview the IEEE 802 protocol architecture.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IEEE 802.11 standards are defined within the structure of a layered set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protocols. This structure, used for all IEEE 802 standards, is illustrated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24.3 .</a:t>
            </a:r>
          </a:p>
          <a:p>
            <a:endParaRPr lang="en-US" sz="1200" b="0" i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The lowest layer of the IEEE 802 reference model is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layer , which includes such functions as encoding/decoding of signals and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bit transmission/reception. In addition, the physical layer includes a specification of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transmission medium. In the case of IEEE 802.11, the physical layer also defines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frequency bands and antenna characteristics.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 LANs consist of collections of devices that share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network’s transmission capacity. Some means of controlling access to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transmission medium is needed to provide an orderly and efficient use of that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capacity. This is the function of a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medium access control (MAC) 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layer. The MAC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layer receives data from a higher-layer protocol, typically the logical link control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(LLC) layer, in the form of a block of data known as the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MAC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service data unit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MSDU)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In general, the MAC layer performs the following functions: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 On transmission, assemble data into a frame, known as a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MAC protocol data</a:t>
            </a:r>
          </a:p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unit (MPDU)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with address and error-detection fields.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 On reception, disassemble frame, and perform address recognition and error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detection.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 Govern access to the LAN transmission medium.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45881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exact format of the MPDU differs somewhat for the various MAC protocols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use. In general, all of the MPDUs have a format similar to that of Figure 24.4 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fields of this frame are as follows: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MAC Control: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field contains any protocol control information needed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the functioning of the MAC protocol. For example, a priority level could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indicated here.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Destination MAC Address: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destination physical address on the LAN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MPDU.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Source MAC Address: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source physical address on the LAN for this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MPDU.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MAC Service Data Unit: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data from the next higher layer.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CRC: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cyclic redundancy check field, also known as the Frame Check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Sequence (FCS) field. This is an error-detecting code, such as that which 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in other data-link control protocols. The CRC is calculated based on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bits in the entire MPDU. The sender calculates the CRC and adds it to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frame. The receiver performs the same calculation on the incoming MPDU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compares that calculation to the CRC field in that incoming MPDU. If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values don’t match, then one or more bits have been altered in transit.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fields preceding the MSDU field are referred to as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MAC header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field following the MSDU field is referred to as the M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 trailer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The header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trailer contain control information that accompany the data field and that are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by the MAC protocol.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38971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model developed by the 802.11 working group.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smallest building block of a wireless LAN is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basic service set (BSS)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which consists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wireless stations executing the same MAC protocol and competing for access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same shared wireless medium. A BSS may be isolated or it may connect to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backbone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distribution system (DS)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point (AP)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The AP functions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a bridge and a relay point. In a BSS, client stations do not communicate directly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one another. Rather, if one station in the BSS wants to communicate with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 station in the same BSS, the MAC frame is first sent from the originating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station to the AP and then from the AP to the destination station. Similarly, a MAC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 from a station in the BSS to a remote station is sent from the local station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AP and then relayed by the AP over the DS on its way to the destination station.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BSS generally corresponds to what is referred to as a cell in the literature.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DS can be a switch, a wired network, or a wireless network.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all the stations in the BSS are mobile stations that communicate directly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one another (not using an AP) the BSS is called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independent BSS (IBSS)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IBSS is typically an ad hoc network. In an IBSS, the stations all communicate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directly, and no AP is involved.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simple configuration is shown in Figure 24.5 , in which each station belongs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single BSS; that is, each station is within wireless range only of other stations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within the same BSS. It is also possible for two BSSs to overlap geographically,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 that a single station could participate in more than one BSS. Furthermore,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association between a station and a BSS is dynamic. Stations may turn off, come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within range, and go out of range.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extended service set (ESS)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consists of two or more basic service sets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interconnected by a distribution system. The extended service set appears as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 logical LAN to the LLC level.</a:t>
            </a:r>
            <a:endParaRPr lang="en-US" b="0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57101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IEEE 802.11 defines nine services that need to be provided by the wireless LAN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achieve functionality equivalent to that which is inherent to wired LANs. Table 24.2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lists the services and indicates two ways of categorizing them.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The service provider can be either the station or the DS. Station services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implemented in every 802.11 station, including AP stations. Distribution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services are provided between BSSs; these services may be implemented in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 or in another special-purpose device attached to the distribution system.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Three of the services are used to control IEEE 802.11 LAN access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confidentiality. Six of the services are used to support delivery of MSDUs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stations. If the MSDU is too large to be transmitted in a single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MPDU, it may be fragmented and transmitted in a series of MPDUs.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Following the IEEE 802.11 document, we next discuss the services in an order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designed to clarify the operation of an IEEE 802.11 ESS network. MSDU delivery 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is the basic service, has already been mentioned.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86731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two services involved with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distribution of messages within a DS are distribution and integration. Distribution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the primary service used by stations to exchange MPDUs when the MPDUs must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traverse the DS to get from a station in one BSS to a station in another BSS.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example, suppose a frame is to be sent from station 2 (STA 2) to station 7 (STA 7)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Figure 24.5 . The frame is sent from STA 2 to AP 1, which is the AP for this BSS.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AP gives the frame to the DS, which has the job of directing the frame to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 associated with STA 7 in the target BSS. AP 2 receives the frame and forwards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to STA 7. How the message is transported through the DS is beyond the scope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IEEE 802.11 standard.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the two stations that are communicating are within the same BSS, then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distribution service logically goes through the single AP of that BSS.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integration service enables transfer of data between a station on an IEEE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802.11 LAN and a station on an integrated IEEE 802.x LAN. The term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integrated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refers to a wired LAN that is physically connected to the DS and whose stations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be logically connected to an IEEE 802.11 LAN via the integration service.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integration service takes care of any address translation and media conversion logic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required for the exchange of data.</a:t>
            </a:r>
            <a:endParaRPr lang="en-US" b="0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62193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primary purpose of the MAC layer is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MSDUs between MAC entities; this purpose is fulfilled by the distribution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service. For that service to function, it requires information about stations within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ESS that is provided by the association-related services. Before the distribution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service can deliver data to or accept data from a station, that station must be</a:t>
            </a:r>
          </a:p>
          <a:p>
            <a:r>
              <a:rPr lang="en-US" sz="1200" b="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associated .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Before looking at the concept of association, we need to describe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concept of mobility. The standard defines three transition types, based on mobility: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No transition: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station of this type is either stationary or moves only within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direct communication range of the communicating stations of a single BSS.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BSS transition: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defined as a station movement from one BSS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 BSS within the same ESS. In this case, delivery of data to the station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requires that the addressing capability be able to recognize the new location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station.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ESS transition: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defined as a station movement from a BSS in one ESS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BSS within another ESS. This case is supported only in the sense that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station can move. Maintenance of upper-layer connections supported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802.11 cannot be guaranteed. In fact, disruption of service is likely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occur.</a:t>
            </a:r>
            <a:endParaRPr lang="en-US" b="0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16239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802.11i RSN security specification defines the following services.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Authentication: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protocol is used to define an exchange between a user and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(authentication server) that provides mutual authentication and generates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temporary keys to be used between the client and the AP over the wireless link.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Access control: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function enforces the use of the authentication function,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routes the messages properly, and facilitates key exchange. It can work with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variety of authentication protocols.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Privacy with message integrity: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MAC-level data (e.g., an LLC PDU) are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encrypted along with a message integrity code that ensures that the data have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been altered.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01237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operation of an IEEE 802.11i RSN can be broken down into five distinct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phases. The exact nature of the phases will depend on the configuration and the end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points of the communication. Possibilities include (see Figure 24.5 ):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Two wireless stations in the same BSS communicating via the access point for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BSS.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Two wireless stations (STAs) in the same ad hoc IBSS communicating directly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each other.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Two wireless stations in different BSSs communicating via their respective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APs across a distribution system.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4. A wireless station communicating with an end station on a wired network via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AP and the distribution system.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IEEE 802.11i security is concerned only with secure communication between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STA and its AP. In case 1 in the preceding list, secure communication is assured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each STA establishes secure communications with the AP. Case 2 is similar,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AP functionality residing in the STA. For case 3, security is not provided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across the distribution system at the level of IEEE 802.11, but only within each BSS.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End-to-end security (if required) must be provided at a higher layer. Similarly, in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case 4, security is only provided between the STA and its AP.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these considerations in mind, Figure 24.7 depicts the five phases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 for an RSN and maps them to the network components involved. One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new component is the authentication server (AS). The rectangles indicate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exchange of sequences of MPDUs. The five phases are defined as follows: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Discovery: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AP uses messages called Beacons and Probe Responses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advertise its IEEE 802.11i security policy. The STA uses these to identify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 for a WLAN with which it wishes to communicate. The STA associates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AP, which it uses to select the cipher suite and authentication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mechanism when the Beacons and Probe Responses present a choice.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Authentication: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During this phase, the STA and AS prove their identities to each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other. The AP blocks non-authentication traffic between the STA and AS until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authentication transaction is successful. The AP does not participate in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authentication transaction other than forwarding traffic between the STA and AS.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Key Management: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The AP and the STA perform several operations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cause cryptographic keys to be generated and placed on the AP and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STA. Frames are exchanged between the AP and STA only.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Protected data transfer: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Frames are exchanged between the STA and the end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station through the AP. As denoted by the shading and the encryption module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icon, secure data transfer occurs between the STA and the AP only; security 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provided end-to-end.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Connection termination: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AP and STA exchange frames. During this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phase, the secure connection is torn down and the connection is restored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original state.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02730-EE36-4314-B95C-475A4FFA465F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9378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4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6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2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35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4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5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6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70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89" indent="0">
              <a:buNone/>
              <a:defRPr sz="2000" b="1"/>
            </a:lvl2pPr>
            <a:lvl3pPr marL="914177" indent="0">
              <a:buNone/>
              <a:defRPr sz="1800" b="1"/>
            </a:lvl3pPr>
            <a:lvl4pPr marL="1371265" indent="0">
              <a:buNone/>
              <a:defRPr sz="1600" b="1"/>
            </a:lvl4pPr>
            <a:lvl5pPr marL="1828353" indent="0">
              <a:buNone/>
              <a:defRPr sz="1600" b="1"/>
            </a:lvl5pPr>
            <a:lvl6pPr marL="2285442" indent="0">
              <a:buNone/>
              <a:defRPr sz="1600" b="1"/>
            </a:lvl6pPr>
            <a:lvl7pPr marL="2742531" indent="0">
              <a:buNone/>
              <a:defRPr sz="1600" b="1"/>
            </a:lvl7pPr>
            <a:lvl8pPr marL="3199619" indent="0">
              <a:buNone/>
              <a:defRPr sz="1600" b="1"/>
            </a:lvl8pPr>
            <a:lvl9pPr marL="3656707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89" indent="0">
              <a:buNone/>
              <a:defRPr sz="2000" b="1"/>
            </a:lvl2pPr>
            <a:lvl3pPr marL="914177" indent="0">
              <a:buNone/>
              <a:defRPr sz="1800" b="1"/>
            </a:lvl3pPr>
            <a:lvl4pPr marL="1371265" indent="0">
              <a:buNone/>
              <a:defRPr sz="1600" b="1"/>
            </a:lvl4pPr>
            <a:lvl5pPr marL="1828353" indent="0">
              <a:buNone/>
              <a:defRPr sz="1600" b="1"/>
            </a:lvl5pPr>
            <a:lvl6pPr marL="2285442" indent="0">
              <a:buNone/>
              <a:defRPr sz="1600" b="1"/>
            </a:lvl6pPr>
            <a:lvl7pPr marL="2742531" indent="0">
              <a:buNone/>
              <a:defRPr sz="1600" b="1"/>
            </a:lvl7pPr>
            <a:lvl8pPr marL="3199619" indent="0">
              <a:buNone/>
              <a:defRPr sz="1600" b="1"/>
            </a:lvl8pPr>
            <a:lvl9pPr marL="3656707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89" indent="0">
              <a:buNone/>
              <a:defRPr sz="1200"/>
            </a:lvl2pPr>
            <a:lvl3pPr marL="914177" indent="0">
              <a:buNone/>
              <a:defRPr sz="1000"/>
            </a:lvl3pPr>
            <a:lvl4pPr marL="1371265" indent="0">
              <a:buNone/>
              <a:defRPr sz="900"/>
            </a:lvl4pPr>
            <a:lvl5pPr marL="1828353" indent="0">
              <a:buNone/>
              <a:defRPr sz="900"/>
            </a:lvl5pPr>
            <a:lvl6pPr marL="2285442" indent="0">
              <a:buNone/>
              <a:defRPr sz="900"/>
            </a:lvl6pPr>
            <a:lvl7pPr marL="2742531" indent="0">
              <a:buNone/>
              <a:defRPr sz="900"/>
            </a:lvl7pPr>
            <a:lvl8pPr marL="3199619" indent="0">
              <a:buNone/>
              <a:defRPr sz="900"/>
            </a:lvl8pPr>
            <a:lvl9pPr marL="365670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89" indent="0">
              <a:buNone/>
              <a:defRPr sz="2800"/>
            </a:lvl2pPr>
            <a:lvl3pPr marL="914177" indent="0">
              <a:buNone/>
              <a:defRPr sz="2400"/>
            </a:lvl3pPr>
            <a:lvl4pPr marL="1371265" indent="0">
              <a:buNone/>
              <a:defRPr sz="2000"/>
            </a:lvl4pPr>
            <a:lvl5pPr marL="1828353" indent="0">
              <a:buNone/>
              <a:defRPr sz="2000"/>
            </a:lvl5pPr>
            <a:lvl6pPr marL="2285442" indent="0">
              <a:buNone/>
              <a:defRPr sz="2000"/>
            </a:lvl6pPr>
            <a:lvl7pPr marL="2742531" indent="0">
              <a:buNone/>
              <a:defRPr sz="2000"/>
            </a:lvl7pPr>
            <a:lvl8pPr marL="3199619" indent="0">
              <a:buNone/>
              <a:defRPr sz="2000"/>
            </a:lvl8pPr>
            <a:lvl9pPr marL="3656707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89" indent="0">
              <a:buNone/>
              <a:defRPr sz="1200"/>
            </a:lvl2pPr>
            <a:lvl3pPr marL="914177" indent="0">
              <a:buNone/>
              <a:defRPr sz="1000"/>
            </a:lvl3pPr>
            <a:lvl4pPr marL="1371265" indent="0">
              <a:buNone/>
              <a:defRPr sz="900"/>
            </a:lvl4pPr>
            <a:lvl5pPr marL="1828353" indent="0">
              <a:buNone/>
              <a:defRPr sz="900"/>
            </a:lvl5pPr>
            <a:lvl6pPr marL="2285442" indent="0">
              <a:buNone/>
              <a:defRPr sz="900"/>
            </a:lvl6pPr>
            <a:lvl7pPr marL="2742531" indent="0">
              <a:buNone/>
              <a:defRPr sz="900"/>
            </a:lvl7pPr>
            <a:lvl8pPr marL="3199619" indent="0">
              <a:buNone/>
              <a:defRPr sz="900"/>
            </a:lvl8pPr>
            <a:lvl9pPr marL="365670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276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9DEF6-DCDD-494D-9C15-BCB3D91C8B31}" type="datetimeFigureOut">
              <a:rPr lang="en-US" altLang="en-US"/>
              <a:pPr>
                <a:defRPr/>
              </a:pPr>
              <a:t>10/20/2020</a:t>
            </a:fld>
            <a:endParaRPr lang="en-US" alt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F25984-D638-4352-A815-3475F35608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62497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269" y="247405"/>
            <a:ext cx="8615462" cy="230832"/>
          </a:xfrm>
        </p:spPr>
        <p:txBody>
          <a:bodyPr/>
          <a:lstStyle>
            <a:lvl1pPr>
              <a:defRPr sz="1500" b="0" i="1">
                <a:solidFill>
                  <a:srgbClr val="422C75"/>
                </a:solidFill>
                <a:latin typeface="Playfair Display"/>
                <a:cs typeface="Playfair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F53CE-9521-4323-AB6E-A22538D005B8}" type="datetimeFigureOut">
              <a:rPr lang="en-US" altLang="en-US"/>
              <a:pPr>
                <a:defRPr/>
              </a:pPr>
              <a:t>10/20/2020</a:t>
            </a:fld>
            <a:endParaRPr lang="en-US" alt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D7F074-D3E9-4B67-9224-B8A2CCCA53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245235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269" y="247405"/>
            <a:ext cx="8615462" cy="230832"/>
          </a:xfrm>
        </p:spPr>
        <p:txBody>
          <a:bodyPr/>
          <a:lstStyle>
            <a:lvl1pPr>
              <a:defRPr sz="1500" b="0" i="1">
                <a:solidFill>
                  <a:srgbClr val="422C75"/>
                </a:solidFill>
                <a:latin typeface="Playfair Display"/>
                <a:cs typeface="Playfair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CF17D-11DD-454F-A7B3-FE6074CD43E2}" type="datetimeFigureOut">
              <a:rPr lang="en-US" altLang="en-US"/>
              <a:pPr>
                <a:defRPr/>
              </a:pPr>
              <a:t>10/20/2020</a:t>
            </a:fld>
            <a:endParaRPr lang="en-US" altLang="en-US"/>
          </a:p>
        </p:txBody>
      </p:sp>
      <p:sp>
        <p:nvSpPr>
          <p:cNvPr id="7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1FE89-FF61-4950-BABC-1F976A0877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846676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269" y="247405"/>
            <a:ext cx="8615462" cy="230832"/>
          </a:xfrm>
        </p:spPr>
        <p:txBody>
          <a:bodyPr/>
          <a:lstStyle>
            <a:lvl1pPr>
              <a:defRPr sz="1500" b="0" i="1">
                <a:solidFill>
                  <a:srgbClr val="422C75"/>
                </a:solidFill>
                <a:latin typeface="Playfair Display"/>
                <a:cs typeface="Playfair Display"/>
              </a:defRPr>
            </a:lvl1pPr>
          </a:lstStyle>
          <a:p>
            <a:endParaRPr/>
          </a:p>
        </p:txBody>
      </p:sp>
      <p:sp>
        <p:nvSpPr>
          <p:cNvPr id="3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FDCAE-33D8-4F3A-B7FC-60BDC6253228}" type="datetimeFigureOut">
              <a:rPr lang="en-US" altLang="en-US"/>
              <a:pPr>
                <a:defRPr/>
              </a:pPr>
              <a:t>10/20/2020</a:t>
            </a:fld>
            <a:endParaRPr lang="en-US" altLang="en-US"/>
          </a:p>
        </p:txBody>
      </p:sp>
      <p:sp>
        <p:nvSpPr>
          <p:cNvPr id="5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88D20F-5262-4D14-A91F-90B2E4DF16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96195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493BB-75C8-4EAF-A0A4-5FB9E58983FB}" type="datetimeFigureOut">
              <a:rPr lang="en-US" altLang="en-US"/>
              <a:pPr>
                <a:defRPr/>
              </a:pPr>
              <a:t>10/20/2020</a:t>
            </a:fld>
            <a:endParaRPr lang="en-US" altLang="en-US"/>
          </a:p>
        </p:txBody>
      </p:sp>
      <p:sp>
        <p:nvSpPr>
          <p:cNvPr id="4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0A3DC2-8B95-446D-82E7-9662B27A05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78827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18" tIns="45709" rIns="91418" bIns="4570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18" tIns="45709" rIns="91418" bIns="4570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18" tIns="45709" rIns="91418" bIns="4570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1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16" indent="-342816" algn="l" defTabSz="9141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69" indent="-285680" algn="l" defTabSz="9141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21" indent="-228544" algn="l" defTabSz="9141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10" indent="-228544" algn="l" defTabSz="9141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98" indent="-228544" algn="l" defTabSz="9141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86" indent="-228544" algn="l" defTabSz="9141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74" indent="-228544" algn="l" defTabSz="9141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63" indent="-228544" algn="l" defTabSz="9141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52" indent="-228544" algn="l" defTabSz="9141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9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7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65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53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42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31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19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07" algn="l" defTabSz="914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k object 16"/>
          <p:cNvSpPr>
            <a:spLocks/>
          </p:cNvSpPr>
          <p:nvPr/>
        </p:nvSpPr>
        <p:spPr bwMode="auto">
          <a:xfrm>
            <a:off x="0" y="6850299"/>
            <a:ext cx="9144000" cy="0"/>
          </a:xfrm>
          <a:custGeom>
            <a:avLst/>
            <a:gdLst>
              <a:gd name="T0" fmla="*/ 0 w 20104100"/>
              <a:gd name="T1" fmla="*/ 20104099 w 201041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20104100">
                <a:moveTo>
                  <a:pt x="0" y="0"/>
                </a:moveTo>
                <a:lnTo>
                  <a:pt x="20104099" y="0"/>
                </a:lnTo>
              </a:path>
            </a:pathLst>
          </a:custGeom>
          <a:noFill/>
          <a:ln w="22859">
            <a:solidFill>
              <a:srgbClr val="E76A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852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1027" name="bk object 17"/>
          <p:cNvSpPr>
            <a:spLocks/>
          </p:cNvSpPr>
          <p:nvPr/>
        </p:nvSpPr>
        <p:spPr bwMode="auto">
          <a:xfrm>
            <a:off x="0" y="6836821"/>
            <a:ext cx="9131003" cy="0"/>
          </a:xfrm>
          <a:custGeom>
            <a:avLst/>
            <a:gdLst>
              <a:gd name="T0" fmla="*/ 0 w 20076160"/>
              <a:gd name="T1" fmla="*/ 20055090 w 2007616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20076160">
                <a:moveTo>
                  <a:pt x="0" y="0"/>
                </a:moveTo>
                <a:lnTo>
                  <a:pt x="20076037" y="0"/>
                </a:lnTo>
              </a:path>
            </a:pathLst>
          </a:custGeom>
          <a:noFill/>
          <a:ln w="22859">
            <a:solidFill>
              <a:srgbClr val="E76A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852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1028" name="bk object 18"/>
          <p:cNvSpPr>
            <a:spLocks/>
          </p:cNvSpPr>
          <p:nvPr/>
        </p:nvSpPr>
        <p:spPr bwMode="auto">
          <a:xfrm>
            <a:off x="12997" y="28880"/>
            <a:ext cx="0" cy="6800240"/>
          </a:xfrm>
          <a:custGeom>
            <a:avLst/>
            <a:gdLst>
              <a:gd name="T0" fmla="*/ 0 h 11215370"/>
              <a:gd name="T1" fmla="*/ 11173535 h 1121537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215370">
                <a:moveTo>
                  <a:pt x="0" y="0"/>
                </a:moveTo>
                <a:lnTo>
                  <a:pt x="0" y="11215370"/>
                </a:lnTo>
              </a:path>
            </a:pathLst>
          </a:custGeom>
          <a:noFill/>
          <a:ln w="56218">
            <a:solidFill>
              <a:srgbClr val="E76A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852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1029" name="bk object 19"/>
          <p:cNvSpPr>
            <a:spLocks/>
          </p:cNvSpPr>
          <p:nvPr/>
        </p:nvSpPr>
        <p:spPr bwMode="auto">
          <a:xfrm>
            <a:off x="0" y="14440"/>
            <a:ext cx="9144000" cy="0"/>
          </a:xfrm>
          <a:custGeom>
            <a:avLst/>
            <a:gdLst>
              <a:gd name="T0" fmla="*/ 0 w 20104100"/>
              <a:gd name="T1" fmla="*/ 20104099 w 201041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20104100">
                <a:moveTo>
                  <a:pt x="0" y="0"/>
                </a:moveTo>
                <a:lnTo>
                  <a:pt x="20104099" y="0"/>
                </a:lnTo>
              </a:path>
            </a:pathLst>
          </a:custGeom>
          <a:noFill/>
          <a:ln w="46990">
            <a:solidFill>
              <a:srgbClr val="E76A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852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1030" name="bk object 20"/>
          <p:cNvSpPr>
            <a:spLocks/>
          </p:cNvSpPr>
          <p:nvPr/>
        </p:nvSpPr>
        <p:spPr bwMode="auto">
          <a:xfrm>
            <a:off x="9131003" y="6829121"/>
            <a:ext cx="12997" cy="14440"/>
          </a:xfrm>
          <a:custGeom>
            <a:avLst/>
            <a:gdLst>
              <a:gd name="T0" fmla="*/ 0 w 28575"/>
              <a:gd name="T1" fmla="*/ 88099 h 22859"/>
              <a:gd name="T2" fmla="*/ 28061 w 28575"/>
              <a:gd name="T3" fmla="*/ 88099 h 22859"/>
              <a:gd name="T4" fmla="*/ 28061 w 28575"/>
              <a:gd name="T5" fmla="*/ 0 h 22859"/>
              <a:gd name="T6" fmla="*/ 0 w 28575"/>
              <a:gd name="T7" fmla="*/ 0 h 22859"/>
              <a:gd name="T8" fmla="*/ 0 w 28575"/>
              <a:gd name="T9" fmla="*/ 88099 h 228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575" h="22859">
                <a:moveTo>
                  <a:pt x="0" y="22856"/>
                </a:moveTo>
                <a:lnTo>
                  <a:pt x="28061" y="22856"/>
                </a:lnTo>
                <a:lnTo>
                  <a:pt x="28061" y="0"/>
                </a:lnTo>
                <a:lnTo>
                  <a:pt x="0" y="0"/>
                </a:lnTo>
                <a:lnTo>
                  <a:pt x="0" y="22856"/>
                </a:lnTo>
                <a:close/>
              </a:path>
            </a:pathLst>
          </a:custGeom>
          <a:solidFill>
            <a:srgbClr val="E76A8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852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1031" name="bk object 21"/>
          <p:cNvSpPr>
            <a:spLocks/>
          </p:cNvSpPr>
          <p:nvPr/>
        </p:nvSpPr>
        <p:spPr bwMode="auto">
          <a:xfrm>
            <a:off x="9131003" y="28880"/>
            <a:ext cx="0" cy="6800240"/>
          </a:xfrm>
          <a:custGeom>
            <a:avLst/>
            <a:gdLst>
              <a:gd name="T0" fmla="*/ 0 h 11215370"/>
              <a:gd name="T1" fmla="*/ 11173535 h 1121537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215370">
                <a:moveTo>
                  <a:pt x="0" y="0"/>
                </a:moveTo>
                <a:lnTo>
                  <a:pt x="0" y="11215370"/>
                </a:lnTo>
              </a:path>
            </a:pathLst>
          </a:custGeom>
          <a:noFill/>
          <a:ln w="56176">
            <a:solidFill>
              <a:srgbClr val="E76A8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852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1032" name="Holder 2"/>
          <p:cNvSpPr>
            <a:spLocks noGrp="1"/>
          </p:cNvSpPr>
          <p:nvPr>
            <p:ph type="title"/>
          </p:nvPr>
        </p:nvSpPr>
        <p:spPr bwMode="auto">
          <a:xfrm>
            <a:off x="264269" y="247405"/>
            <a:ext cx="86154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 smtClean="0"/>
          </a:p>
        </p:txBody>
      </p:sp>
      <p:sp>
        <p:nvSpPr>
          <p:cNvPr id="1033" name="Holder 3"/>
          <p:cNvSpPr>
            <a:spLocks noGrp="1"/>
          </p:cNvSpPr>
          <p:nvPr>
            <p:ph type="body" idx="1"/>
          </p:nvPr>
        </p:nvSpPr>
        <p:spPr bwMode="auto">
          <a:xfrm>
            <a:off x="1249141" y="1584541"/>
            <a:ext cx="66457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 smtClean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9134" y="6377632"/>
            <a:ext cx="292573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32852"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056" y="6377632"/>
            <a:ext cx="2103322" cy="276999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>
                <a:solidFill>
                  <a:srgbClr val="898989"/>
                </a:solidFill>
              </a:defRPr>
            </a:lvl1pPr>
          </a:lstStyle>
          <a:p>
            <a:pPr defTabSz="232852" fontAlgn="base">
              <a:spcBef>
                <a:spcPct val="0"/>
              </a:spcBef>
              <a:spcAft>
                <a:spcPct val="0"/>
              </a:spcAft>
              <a:defRPr/>
            </a:pPr>
            <a:fld id="{9715AC06-00AF-4E58-8053-D9B854F32D07}" type="datetimeFigureOut">
              <a:rPr lang="en-US" altLang="en-US">
                <a:ea typeface="ＭＳ Ｐゴシック" pitchFamily="34" charset="-128"/>
              </a:rPr>
              <a:pPr defTabSz="232852" fontAlgn="base">
                <a:spcBef>
                  <a:spcPct val="0"/>
                </a:spcBef>
                <a:spcAft>
                  <a:spcPct val="0"/>
                </a:spcAft>
                <a:defRPr/>
              </a:pPr>
              <a:t>10/20/2020</a:t>
            </a:fld>
            <a:endParaRPr lang="en-US" altLang="en-US">
              <a:ea typeface="ＭＳ Ｐゴシック" pitchFamily="34" charset="-128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22" y="6377632"/>
            <a:ext cx="2103322" cy="276999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 defTabSz="232852" fontAlgn="base">
              <a:spcBef>
                <a:spcPct val="0"/>
              </a:spcBef>
              <a:spcAft>
                <a:spcPct val="0"/>
              </a:spcAft>
            </a:pPr>
            <a:fld id="{3559208F-82B5-46B6-9D53-B12A6F91852F}" type="slidenum">
              <a:rPr lang="en-US" altLang="en-US" smtClean="0">
                <a:ea typeface="ＭＳ Ｐゴシック" pitchFamily="34" charset="-128"/>
              </a:rPr>
              <a:pPr defTabSz="232852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360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5pPr>
      <a:lvl6pPr marL="232852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6pPr>
      <a:lvl7pPr marL="465704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7pPr>
      <a:lvl8pPr marL="698556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8pPr>
      <a:lvl9pPr marL="931408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174639" indent="-174639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232852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465704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698556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931408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164260">
        <a:defRPr>
          <a:latin typeface="+mn-lt"/>
          <a:ea typeface="+mn-ea"/>
          <a:cs typeface="+mn-cs"/>
        </a:defRPr>
      </a:lvl6pPr>
      <a:lvl7pPr marL="1397112">
        <a:defRPr>
          <a:latin typeface="+mn-lt"/>
          <a:ea typeface="+mn-ea"/>
          <a:cs typeface="+mn-cs"/>
        </a:defRPr>
      </a:lvl7pPr>
      <a:lvl8pPr marL="1629964">
        <a:defRPr>
          <a:latin typeface="+mn-lt"/>
          <a:ea typeface="+mn-ea"/>
          <a:cs typeface="+mn-cs"/>
        </a:defRPr>
      </a:lvl8pPr>
      <a:lvl9pPr marL="186281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32852">
        <a:defRPr>
          <a:latin typeface="+mn-lt"/>
          <a:ea typeface="+mn-ea"/>
          <a:cs typeface="+mn-cs"/>
        </a:defRPr>
      </a:lvl2pPr>
      <a:lvl3pPr marL="465704">
        <a:defRPr>
          <a:latin typeface="+mn-lt"/>
          <a:ea typeface="+mn-ea"/>
          <a:cs typeface="+mn-cs"/>
        </a:defRPr>
      </a:lvl3pPr>
      <a:lvl4pPr marL="698556">
        <a:defRPr>
          <a:latin typeface="+mn-lt"/>
          <a:ea typeface="+mn-ea"/>
          <a:cs typeface="+mn-cs"/>
        </a:defRPr>
      </a:lvl4pPr>
      <a:lvl5pPr marL="931408">
        <a:defRPr>
          <a:latin typeface="+mn-lt"/>
          <a:ea typeface="+mn-ea"/>
          <a:cs typeface="+mn-cs"/>
        </a:defRPr>
      </a:lvl5pPr>
      <a:lvl6pPr marL="1164260">
        <a:defRPr>
          <a:latin typeface="+mn-lt"/>
          <a:ea typeface="+mn-ea"/>
          <a:cs typeface="+mn-cs"/>
        </a:defRPr>
      </a:lvl6pPr>
      <a:lvl7pPr marL="1397112">
        <a:defRPr>
          <a:latin typeface="+mn-lt"/>
          <a:ea typeface="+mn-ea"/>
          <a:cs typeface="+mn-cs"/>
        </a:defRPr>
      </a:lvl7pPr>
      <a:lvl8pPr marL="1629964">
        <a:defRPr>
          <a:latin typeface="+mn-lt"/>
          <a:ea typeface="+mn-ea"/>
          <a:cs typeface="+mn-cs"/>
        </a:defRPr>
      </a:lvl8pPr>
      <a:lvl9pPr marL="186281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0326" y="-30805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7171" name="object 2"/>
          <p:cNvSpPr txBox="1">
            <a:spLocks noChangeArrowheads="1"/>
          </p:cNvSpPr>
          <p:nvPr/>
        </p:nvSpPr>
        <p:spPr bwMode="auto">
          <a:xfrm>
            <a:off x="1054188" y="3193148"/>
            <a:ext cx="7538168" cy="186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5820" rIns="0" bIns="0">
            <a:spAutoFit/>
          </a:bodyPr>
          <a:lstStyle>
            <a:lvl1pPr marL="12700"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algn="ctr">
              <a:spcBef>
                <a:spcPts val="45"/>
              </a:spcBef>
            </a:pPr>
            <a:r>
              <a:rPr lang="en-US" altLang="en-US" sz="3100" dirty="0">
                <a:solidFill>
                  <a:srgbClr val="005893"/>
                </a:solidFill>
                <a:latin typeface="Playfair Display" charset="0"/>
              </a:rPr>
              <a:t>Unit </a:t>
            </a:r>
            <a:r>
              <a:rPr lang="en-US" altLang="en-US" sz="3100" dirty="0" smtClean="0">
                <a:solidFill>
                  <a:srgbClr val="005893"/>
                </a:solidFill>
                <a:latin typeface="Playfair Display" charset="0"/>
              </a:rPr>
              <a:t>5</a:t>
            </a:r>
          </a:p>
          <a:p>
            <a:pPr algn="ctr">
              <a:spcBef>
                <a:spcPts val="45"/>
              </a:spcBef>
            </a:pPr>
            <a:r>
              <a:rPr lang="en-US" altLang="en-US" sz="3100" dirty="0" smtClean="0">
                <a:solidFill>
                  <a:srgbClr val="005893"/>
                </a:solidFill>
                <a:latin typeface="Playfair Display" charset="0"/>
              </a:rPr>
              <a:t>Transport </a:t>
            </a:r>
            <a:r>
              <a:rPr lang="en-US" altLang="en-US" sz="3100" dirty="0">
                <a:solidFill>
                  <a:srgbClr val="005893"/>
                </a:solidFill>
                <a:latin typeface="Playfair Display" charset="0"/>
              </a:rPr>
              <a:t>Layer Security and Wireless Network Security</a:t>
            </a:r>
          </a:p>
          <a:p>
            <a:pPr algn="ctr">
              <a:spcBef>
                <a:spcPts val="45"/>
              </a:spcBef>
            </a:pPr>
            <a:endParaRPr lang="en-US" altLang="en-US" sz="1400" dirty="0">
              <a:solidFill>
                <a:srgbClr val="005893"/>
              </a:solidFill>
              <a:latin typeface="Helvetica-Bold" charset="0"/>
            </a:endParaRPr>
          </a:p>
          <a:p>
            <a:pPr algn="ctr">
              <a:spcBef>
                <a:spcPts val="45"/>
              </a:spcBef>
            </a:pPr>
            <a:endParaRPr lang="en-US" altLang="en-US" sz="1400" dirty="0">
              <a:solidFill>
                <a:srgbClr val="005893"/>
              </a:solidFill>
              <a:latin typeface="Helvetica-Bold" charset="0"/>
            </a:endParaRPr>
          </a:p>
        </p:txBody>
      </p:sp>
      <p:sp>
        <p:nvSpPr>
          <p:cNvPr id="7172" name="object 3"/>
          <p:cNvSpPr>
            <a:spLocks/>
          </p:cNvSpPr>
          <p:nvPr/>
        </p:nvSpPr>
        <p:spPr bwMode="auto">
          <a:xfrm>
            <a:off x="-2888" y="9627"/>
            <a:ext cx="4265130" cy="3927659"/>
          </a:xfrm>
          <a:custGeom>
            <a:avLst/>
            <a:gdLst>
              <a:gd name="T0" fmla="*/ 2147483646 w 7436484"/>
              <a:gd name="T1" fmla="*/ 0 h 5134610"/>
              <a:gd name="T2" fmla="*/ 0 w 7436484"/>
              <a:gd name="T3" fmla="*/ 0 h 5134610"/>
              <a:gd name="T4" fmla="*/ 0 w 7436484"/>
              <a:gd name="T5" fmla="*/ 2147483646 h 5134610"/>
              <a:gd name="T6" fmla="*/ 2147483646 w 7436484"/>
              <a:gd name="T7" fmla="*/ 0 h 51346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436484" h="5134610">
                <a:moveTo>
                  <a:pt x="7435941" y="0"/>
                </a:moveTo>
                <a:lnTo>
                  <a:pt x="0" y="0"/>
                </a:lnTo>
                <a:lnTo>
                  <a:pt x="0" y="5134513"/>
                </a:lnTo>
                <a:lnTo>
                  <a:pt x="7435941" y="0"/>
                </a:lnTo>
                <a:close/>
              </a:path>
            </a:pathLst>
          </a:custGeom>
          <a:solidFill>
            <a:srgbClr val="005893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7173" name="object 4"/>
          <p:cNvSpPr>
            <a:spLocks noChangeArrowheads="1"/>
          </p:cNvSpPr>
          <p:nvPr/>
        </p:nvSpPr>
        <p:spPr bwMode="auto">
          <a:xfrm>
            <a:off x="214448" y="252217"/>
            <a:ext cx="839740" cy="111668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endParaRPr lang="en-US" altLang="en-US"/>
          </a:p>
        </p:txBody>
      </p:sp>
      <p:sp>
        <p:nvSpPr>
          <p:cNvPr id="7174" name="object 5"/>
          <p:cNvSpPr>
            <a:spLocks noChangeArrowheads="1"/>
          </p:cNvSpPr>
          <p:nvPr/>
        </p:nvSpPr>
        <p:spPr bwMode="auto">
          <a:xfrm>
            <a:off x="2548825" y="810561"/>
            <a:ext cx="66428" cy="8952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endParaRPr lang="en-US" altLang="en-US"/>
          </a:p>
        </p:txBody>
      </p:sp>
      <p:sp>
        <p:nvSpPr>
          <p:cNvPr id="6" name="object 6"/>
          <p:cNvSpPr txBox="1"/>
          <p:nvPr/>
        </p:nvSpPr>
        <p:spPr>
          <a:xfrm>
            <a:off x="1140834" y="437048"/>
            <a:ext cx="1732912" cy="943010"/>
          </a:xfrm>
          <a:prstGeom prst="rect">
            <a:avLst/>
          </a:prstGeom>
        </p:spPr>
        <p:txBody>
          <a:bodyPr lIns="0" tIns="6790" rIns="0" bIns="0">
            <a:spAutoFit/>
          </a:bodyPr>
          <a:lstStyle/>
          <a:p>
            <a:pPr marL="6467">
              <a:lnSpc>
                <a:spcPts val="2391"/>
              </a:lnSpc>
              <a:spcBef>
                <a:spcPts val="53"/>
              </a:spcBef>
              <a:defRPr/>
            </a:pPr>
            <a:r>
              <a:rPr lang="en-IN" sz="2200" b="1" spc="-18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RV College of </a:t>
            </a:r>
          </a:p>
          <a:p>
            <a:pPr marL="6467">
              <a:lnSpc>
                <a:spcPts val="2391"/>
              </a:lnSpc>
              <a:spcBef>
                <a:spcPts val="53"/>
              </a:spcBef>
              <a:defRPr/>
            </a:pPr>
            <a:r>
              <a:rPr lang="en-IN" sz="2200" b="1" spc="-18" dirty="0">
                <a:solidFill>
                  <a:srgbClr val="FFFFFF"/>
                </a:solidFill>
                <a:latin typeface="Helvetica-Bold"/>
                <a:ea typeface="ＭＳ Ｐゴシック" charset="0"/>
                <a:cs typeface="Helvetica-Bold"/>
              </a:rPr>
              <a:t>Engineering</a:t>
            </a:r>
            <a:endParaRPr sz="2200" dirty="0">
              <a:latin typeface="Helvetica-Bold"/>
              <a:ea typeface="ＭＳ Ｐゴシック" charset="0"/>
              <a:cs typeface="Helvetica-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0941" y="247405"/>
            <a:ext cx="1548790" cy="468195"/>
          </a:xfrm>
          <a:prstGeom prst="rect">
            <a:avLst/>
          </a:prstGeom>
        </p:spPr>
        <p:txBody>
          <a:bodyPr lIns="0" tIns="6467" rIns="0" bIns="0">
            <a:spAutoFit/>
          </a:bodyPr>
          <a:lstStyle/>
          <a:p>
            <a:pPr marL="6467">
              <a:spcBef>
                <a:spcPts val="51"/>
              </a:spcBef>
              <a:defRPr/>
            </a:pPr>
            <a:r>
              <a:rPr sz="1500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500" i="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500" i="1" spc="-41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500" i="1" spc="-3" dirty="0">
                <a:solidFill>
                  <a:srgbClr val="422C75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endParaRPr sz="1500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406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436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Web Security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Considerations.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Secure Socket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Layer.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Transport Layer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security.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HTTPS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Wireless Network Security: Wireless Security, Mobile Device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Security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IEEE 802.11 Wireless LAN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overview.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IEEE 802.11i Wireless LAN Security – Services, Phases of operation.</a:t>
            </a: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lang="en-US" altLang="en-US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</p:spTree>
    <p:extLst>
      <p:ext uri="{BB962C8B-B14F-4D97-AF65-F5344CB8AC3E}">
        <p14:creationId xmlns:p14="http://schemas.microsoft.com/office/powerpoint/2010/main" xmlns="" val="188956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3122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Web now widely used by business, government,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individuals but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Internet &amp; Web are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vulnerable.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 variety of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threats integrity confidentiality denial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service authentication</a:t>
            </a: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 need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added security mechanisms</a:t>
            </a: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Web Security Considerations</a:t>
            </a:r>
            <a:endParaRPr lang="en-US" altLang="en-US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</p:spTree>
    <p:extLst>
      <p:ext uri="{BB962C8B-B14F-4D97-AF65-F5344CB8AC3E}">
        <p14:creationId xmlns:p14="http://schemas.microsoft.com/office/powerpoint/2010/main" xmlns="" val="109548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Web Traffic Security Approaches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5662" y="2057400"/>
            <a:ext cx="8832676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03458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(Secure Socket Layer)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373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Transport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layer security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service originally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developed by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Netscape  version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 designed with public input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Subsequently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became Internet standard known as TLS (Transport Layer Security)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TCP to provide a reliable end-to-end service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has two layers of protocols</a:t>
            </a:r>
          </a:p>
        </p:txBody>
      </p:sp>
    </p:spTree>
    <p:extLst>
      <p:ext uri="{BB962C8B-B14F-4D97-AF65-F5344CB8AC3E}">
        <p14:creationId xmlns:p14="http://schemas.microsoft.com/office/powerpoint/2010/main" xmlns="" val="416030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Architecture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13" name="Picture 5" descr="Ch17. SSL Protocol Stack.pdf                                   00156198  Mnementh                      BEAE7A2F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1477" t="18529" r="21477" b="37059"/>
          <a:stretch>
            <a:fillRect/>
          </a:stretch>
        </p:blipFill>
        <p:spPr bwMode="auto">
          <a:xfrm>
            <a:off x="1356726" y="1895462"/>
            <a:ext cx="6133099" cy="368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96881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Architecture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462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SSL connection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transient, peer-to-peer, communications link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associated with 1 SSL session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SSL session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association between client &amp; server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created by the Handshake Protocol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define a set of cryptographic parameters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may be shared by multiple SSL connections</a:t>
            </a:r>
          </a:p>
        </p:txBody>
      </p:sp>
    </p:spTree>
    <p:extLst>
      <p:ext uri="{BB962C8B-B14F-4D97-AF65-F5344CB8AC3E}">
        <p14:creationId xmlns:p14="http://schemas.microsoft.com/office/powerpoint/2010/main" xmlns="" val="421517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Record Protocol Services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4345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confidentiality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symmetric encryption with a shared secret key defined by Handshake Protocol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AES, IDEA, RC2-40, DES-40, DES, 3DES,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Fortezza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RC4-40, RC4-128</a:t>
            </a:r>
          </a:p>
          <a:p>
            <a:pPr marL="971550" lvl="1" indent="-5143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message is compressed before encryption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message integrity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using a MAC with shared secret key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similar to HMAC but with different padding</a:t>
            </a:r>
            <a:endParaRPr lang="en-A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4179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Record Protocol Operation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13" name="Picture 6" descr="Ch17. SSL Protocol O#1A558B.pdf                                00156198  Mnementh                      BEAE7A2F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9265" b="18529"/>
          <a:stretch>
            <a:fillRect/>
          </a:stretch>
        </p:blipFill>
        <p:spPr bwMode="auto">
          <a:xfrm>
            <a:off x="202041" y="1684536"/>
            <a:ext cx="8043863" cy="448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71253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Change Cipher Spec Protocol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1759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one of 3 SSL specific protocols which use the SSL Record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protocol a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single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message causes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pending state to become </a:t>
            </a:r>
            <a:r>
              <a:rPr lang="en-US" altLang="en-US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current hence </a:t>
            </a: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updating the cipher suite in use</a:t>
            </a:r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51814" y="3467100"/>
            <a:ext cx="23622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69332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Alert Protocol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271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buFont typeface="Wingdings" pitchFamily="-107" charset="2"/>
              <a:buChar char="Ø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conveys SSL-related alerts to peer entity</a:t>
            </a:r>
          </a:p>
          <a:p>
            <a:pPr>
              <a:buFont typeface="Wingdings" pitchFamily="-107" charset="2"/>
              <a:buChar char="Ø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severity</a:t>
            </a:r>
          </a:p>
          <a:p>
            <a:pPr marL="1200150" lvl="2" indent="-285750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warning or fatal</a:t>
            </a:r>
          </a:p>
          <a:p>
            <a:pPr>
              <a:buFont typeface="Wingdings" pitchFamily="-107" charset="2"/>
              <a:buChar char="Ø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specific alert</a:t>
            </a:r>
          </a:p>
          <a:p>
            <a:pPr marL="1200150" lvl="2" indent="-285750">
              <a:buFont typeface="Arial" pitchFamily="34" charset="0"/>
              <a:buChar char="•"/>
              <a:defRPr/>
            </a:pPr>
            <a:r>
              <a:rPr lang="en-AU" sz="1600" dirty="0">
                <a:latin typeface="Times New Roman" pitchFamily="18" charset="0"/>
                <a:cs typeface="Times New Roman" pitchFamily="18" charset="0"/>
              </a:rPr>
              <a:t>fatal: unexpected message, bad record mac, decompression failure, handshake failure, illegal parameter</a:t>
            </a:r>
          </a:p>
          <a:p>
            <a:pPr marL="1200150" lvl="2" indent="-285750">
              <a:buFont typeface="Arial" pitchFamily="34" charset="0"/>
              <a:buChar char="•"/>
              <a:defRPr/>
            </a:pPr>
            <a:r>
              <a:rPr lang="en-AU" sz="1600" dirty="0">
                <a:latin typeface="Times New Roman" pitchFamily="18" charset="0"/>
                <a:cs typeface="Times New Roman" pitchFamily="18" charset="0"/>
              </a:rPr>
              <a:t>warning: close notify, no certificate, bad certificate, unsupported certificate, certificate revoked, certificate expired, certificate unknown</a:t>
            </a:r>
          </a:p>
          <a:p>
            <a:pPr>
              <a:buFont typeface="Wingdings" pitchFamily="-107" charset="2"/>
              <a:buChar char="Ø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compressed &amp; encrypted like all SSL data</a:t>
            </a:r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572000"/>
            <a:ext cx="1955800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15819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SSL Handshake Protocol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3745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609600" indent="-60960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AU" dirty="0">
                <a:latin typeface="Times New Roman" pitchFamily="18" charset="0"/>
                <a:cs typeface="Times New Roman" pitchFamily="18" charset="0"/>
              </a:rPr>
              <a:t>allows server &amp; client to:</a:t>
            </a:r>
          </a:p>
          <a:p>
            <a:pPr marL="990600" lvl="1" indent="-53340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AU" dirty="0">
                <a:latin typeface="Times New Roman" pitchFamily="18" charset="0"/>
                <a:cs typeface="Times New Roman" pitchFamily="18" charset="0"/>
              </a:rPr>
              <a:t>authenticate each other</a:t>
            </a:r>
          </a:p>
          <a:p>
            <a:pPr marL="990600" lvl="1" indent="-53340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AU" dirty="0">
                <a:latin typeface="Times New Roman" pitchFamily="18" charset="0"/>
                <a:cs typeface="Times New Roman" pitchFamily="18" charset="0"/>
              </a:rPr>
              <a:t>to negotiate encryption &amp; MAC algorithms</a:t>
            </a:r>
          </a:p>
          <a:p>
            <a:pPr marL="990600" lvl="1" indent="-53340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AU" dirty="0">
                <a:latin typeface="Times New Roman" pitchFamily="18" charset="0"/>
                <a:cs typeface="Times New Roman" pitchFamily="18" charset="0"/>
              </a:rPr>
              <a:t>to negotiate cryptographic keys to be used</a:t>
            </a:r>
          </a:p>
          <a:p>
            <a:pPr marL="609600" indent="-60960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comprises a series of messages in phases</a:t>
            </a:r>
          </a:p>
          <a:p>
            <a:pPr marL="990600" lvl="1" indent="-53340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AU" dirty="0">
                <a:latin typeface="Times New Roman" pitchFamily="18" charset="0"/>
                <a:cs typeface="Times New Roman" pitchFamily="18" charset="0"/>
              </a:rPr>
              <a:t>Establish Security Capabilities</a:t>
            </a:r>
          </a:p>
          <a:p>
            <a:pPr marL="990600" lvl="1" indent="-53340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AU" dirty="0">
                <a:latin typeface="Times New Roman" pitchFamily="18" charset="0"/>
                <a:cs typeface="Times New Roman" pitchFamily="18" charset="0"/>
              </a:rPr>
              <a:t>Server Authentication and Key Exchange</a:t>
            </a:r>
          </a:p>
          <a:p>
            <a:pPr marL="990600" lvl="1" indent="-53340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AU" dirty="0">
                <a:latin typeface="Times New Roman" pitchFamily="18" charset="0"/>
                <a:cs typeface="Times New Roman" pitchFamily="18" charset="0"/>
              </a:rPr>
              <a:t>Client Authentication and Key Exchange</a:t>
            </a:r>
          </a:p>
          <a:p>
            <a:pPr marL="990600" lvl="1" indent="-53340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AU" dirty="0">
                <a:latin typeface="Times New Roman" pitchFamily="18" charset="0"/>
                <a:cs typeface="Times New Roman" pitchFamily="18" charset="0"/>
              </a:rPr>
              <a:t>Finish</a:t>
            </a:r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181600"/>
            <a:ext cx="43053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7212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126696" y="3112359"/>
            <a:ext cx="3605901" cy="652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sz="2800" dirty="0"/>
              <a:t>SSL Handshake Protocol</a:t>
            </a:r>
            <a:endParaRPr lang="en-US" altLang="en-US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28787" y="127393"/>
            <a:ext cx="5430453" cy="6622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>
                    <a:alpha val="7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75794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TLS (Transport Layer Security)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41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IETF standard RFC 2246 similar to SSLv3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with minor differences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 record format version number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uses HMAC for MAC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pseudo-random function expands secrets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based on HMAC using SHA-1 or MD5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has additional alert codes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some changes in supported ciphers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changes in certificate types &amp; negotiations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changes in crypto computations &amp; padding</a:t>
            </a:r>
            <a:endParaRPr lang="en-A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9052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HTTPS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41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HTTPS (HTTP over SSL)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combination of HTTP &amp; SSL/TLS to secure communications between browser &amp; server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documented in RFC2818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 fundamental change using either SSL or TLS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 https:// URL rather than http://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port 443 rather than 80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encrypts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URL, document contents, form data, cookies, HTTP headers</a:t>
            </a:r>
          </a:p>
        </p:txBody>
      </p:sp>
    </p:spTree>
    <p:extLst>
      <p:ext uri="{BB962C8B-B14F-4D97-AF65-F5344CB8AC3E}">
        <p14:creationId xmlns:p14="http://schemas.microsoft.com/office/powerpoint/2010/main" xmlns="" val="260270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HTTPS Use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4371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connection initiation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TLS handshake then HTTP request(s)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connection closure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have “Connection: close” in HTTP record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TLS level exchange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close_notify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alerts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can then close TCP connection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must handle TCP close before alert exchange sent or completed</a:t>
            </a:r>
          </a:p>
        </p:txBody>
      </p:sp>
    </p:spTree>
    <p:extLst>
      <p:ext uri="{BB962C8B-B14F-4D97-AF65-F5344CB8AC3E}">
        <p14:creationId xmlns:p14="http://schemas.microsoft.com/office/powerpoint/2010/main" xmlns="" val="59075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Wireless Security, Mobile Device Security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531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Key factors contributing to higher security risk of wireless networks compared to wired networks include: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Channel</a:t>
            </a:r>
          </a:p>
          <a:p>
            <a:pPr defTabSz="232795" fontAlgn="base"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Wireless networking typically involves broadcast communications, which is far more susceptible to eavesdropping and jamming than wired networks</a:t>
            </a:r>
          </a:p>
          <a:p>
            <a:pPr defTabSz="232795" fontAlgn="base"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Wireless networks are also more vulnerable to active attacks that exploit vulnerabilities in communications protocols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Mobility</a:t>
            </a:r>
          </a:p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Wireless devices are far more portable and mobile, thus resulting in a number of risks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263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22535" y="1184909"/>
            <a:ext cx="7974284" cy="450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Resources</a:t>
            </a:r>
          </a:p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Some wireless devices, such as smartphones and tablets, have sophisticated operating systems but limited memory and processing resources with which to counter threats, including denial of service and malware</a:t>
            </a:r>
          </a:p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Accessibility </a:t>
            </a:r>
          </a:p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Some wireless devices, such as sensors and robots, may be left unattended in remote and/or hostile locations, thus greatly increasing their vulnerability to physical attacks</a:t>
            </a:r>
          </a:p>
        </p:txBody>
      </p:sp>
    </p:spTree>
    <p:extLst>
      <p:ext uri="{BB962C8B-B14F-4D97-AF65-F5344CB8AC3E}">
        <p14:creationId xmlns:p14="http://schemas.microsoft.com/office/powerpoint/2010/main" xmlns="" val="249294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802.11 Wireless </a:t>
            </a: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LAN Security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462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Wired Equivalent Privacy (WEP) algorithm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802.11 privacy</a:t>
            </a:r>
          </a:p>
          <a:p>
            <a:pPr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Wi-Fi Protected Access (WPA)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Set of security mechanisms that eliminates most 802.11 security issues and was based on the current state of the 802.11i standard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Robust Security Network (RSN)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Final form of the 802.11i standard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Wi-Fi Alliance certifies vendors in compliance with the full 802.11i specification under the WPA2 program</a:t>
            </a:r>
          </a:p>
        </p:txBody>
      </p:sp>
    </p:spTree>
    <p:extLst>
      <p:ext uri="{BB962C8B-B14F-4D97-AF65-F5344CB8AC3E}">
        <p14:creationId xmlns:p14="http://schemas.microsoft.com/office/powerpoint/2010/main" xmlns="" val="183401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898445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IEEE 802.11 Terminology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17500" y="3284984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452" y="1473523"/>
            <a:ext cx="8035690" cy="5373047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5635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Wi-Fi Alliance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4992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802.11b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First 802.11 standard to gain broad industry acceptance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Wireless Ethernet Compatibility Alliance (WECA)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Industry consortium formed in 1999 to address the concern of products from different vendors successfully interoperating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Later renamed the Wi-Fi Alliance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Term used for certified 802.11b products is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Wi-Fi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Has been extended to 802.11g products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Wi-Fi Protected Access (WPA)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Wi-Fi Alliance certification procedures for IEEE802.11 security standards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WPA2 incorporates all of the features of the IEEE802.11i WLAN security specification</a:t>
            </a:r>
          </a:p>
        </p:txBody>
      </p:sp>
    </p:spTree>
    <p:extLst>
      <p:ext uri="{BB962C8B-B14F-4D97-AF65-F5344CB8AC3E}">
        <p14:creationId xmlns:p14="http://schemas.microsoft.com/office/powerpoint/2010/main" xmlns="" val="378367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IEEE 802 Protocol Architecture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6876" y="1959941"/>
            <a:ext cx="5897563" cy="406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75092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55580" y="1933271"/>
            <a:ext cx="8192699" cy="1924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63701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8267436" cy="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IEEE 802.11 Network 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Components and </a:t>
            </a:r>
            <a:r>
              <a:rPr lang="en-US" alt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Architectural Model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73262" y="1473828"/>
            <a:ext cx="5197475" cy="507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24479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IEEE 802.11 Services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13" name="Picture 24"/>
          <p:cNvPicPr>
            <a:picLocks noChangeAspect="1" noChangeArrowheads="1"/>
          </p:cNvPicPr>
          <p:nvPr/>
        </p:nvPicPr>
        <p:blipFill rotWithShape="1">
          <a:blip r:embed="rId4"/>
          <a:srcRect l="7136" r="7281" b="2145"/>
          <a:stretch/>
        </p:blipFill>
        <p:spPr bwMode="auto">
          <a:xfrm>
            <a:off x="620953" y="1701180"/>
            <a:ext cx="7488832" cy="45484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52535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Distribution of 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Messages Within </a:t>
            </a: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 DS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1252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two services involved with the distribution of messages within a  DS are:</a:t>
            </a:r>
          </a:p>
          <a:p>
            <a:pPr lvl="1">
              <a:lnSpc>
                <a:spcPct val="150000"/>
              </a:lnSpc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Distribution</a:t>
            </a:r>
          </a:p>
          <a:p>
            <a:pPr lvl="1">
              <a:lnSpc>
                <a:spcPct val="150000"/>
              </a:lnSpc>
              <a:buSzPct val="140000"/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Integration</a:t>
            </a: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xmlns="" val="1318580803"/>
              </p:ext>
            </p:extLst>
          </p:nvPr>
        </p:nvGraphicFramePr>
        <p:xfrm>
          <a:off x="179512" y="3200400"/>
          <a:ext cx="8784976" cy="3096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xmlns="" val="200468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Association-Related Services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4376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buSzPct val="140000"/>
              <a:buFont typeface="Arial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Transition types, based on mobility:</a:t>
            </a:r>
          </a:p>
          <a:p>
            <a:pPr lvl="1">
              <a:buSzPct val="140000"/>
              <a:buFont typeface="Arial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 transition</a:t>
            </a:r>
          </a:p>
          <a:p>
            <a:pPr lvl="2"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station of this type is either stationary or moves only within the direct communication range of the communicating stations of a single BSS</a:t>
            </a:r>
          </a:p>
          <a:p>
            <a:pPr lvl="1">
              <a:buSzPct val="140000"/>
              <a:buFont typeface="Arial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BSS transition</a:t>
            </a:r>
          </a:p>
          <a:p>
            <a:pPr lvl="2"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Station movement from one BSS to another BSS within the same ESS; delivery of data to the station requires that the addressing capability be able to recognize the new location of the station</a:t>
            </a:r>
          </a:p>
          <a:p>
            <a:pPr lvl="1">
              <a:buSzPct val="140000"/>
              <a:buFont typeface="Arial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ESS transition</a:t>
            </a:r>
          </a:p>
          <a:p>
            <a:pPr lvl="2"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Station movement from a BSS in one ESS to a BSS within another ESS; maintenance of upper-layer connections supported by 802.11 cannot be guaranteed</a:t>
            </a:r>
          </a:p>
        </p:txBody>
      </p:sp>
    </p:spTree>
    <p:extLst>
      <p:ext uri="{BB962C8B-B14F-4D97-AF65-F5344CB8AC3E}">
        <p14:creationId xmlns:p14="http://schemas.microsoft.com/office/powerpoint/2010/main" xmlns="" val="83694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Services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233993841"/>
              </p:ext>
            </p:extLst>
          </p:nvPr>
        </p:nvGraphicFramePr>
        <p:xfrm>
          <a:off x="457057" y="1740562"/>
          <a:ext cx="8229600" cy="4401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290910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Wireless LAN Security</a:t>
            </a: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sp>
        <p:nvSpPr>
          <p:cNvPr id="12" name="object 2"/>
          <p:cNvSpPr txBox="1">
            <a:spLocks noChangeArrowheads="1"/>
          </p:cNvSpPr>
          <p:nvPr/>
        </p:nvSpPr>
        <p:spPr bwMode="auto">
          <a:xfrm>
            <a:off x="236831" y="1673106"/>
            <a:ext cx="7974284" cy="5161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Wired Equivalent Privacy (WEP) algorithm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802.11 privacy</a:t>
            </a:r>
          </a:p>
          <a:p>
            <a:pPr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Wi-Fi Protected Access (WPA)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Set of security mechanisms that eliminates most 802.11 security issues and was based on the current state of the 802.11i standard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Robust Security Network (RSN)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Final form of the 802.11i standard</a:t>
            </a:r>
          </a:p>
          <a:p>
            <a:pPr marL="342900" lvl="1" indent="-342900">
              <a:lnSpc>
                <a:spcPct val="150000"/>
              </a:lnSpc>
              <a:spcAft>
                <a:spcPts val="600"/>
              </a:spcAft>
              <a:buSzPct val="140000"/>
              <a:buFont typeface="Arial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Wi-Fi Alliance certifies vendors in compliance with the full 802.11i specification under the WPA2 program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220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 rot="16200000">
            <a:off x="-2420958" y="2780795"/>
            <a:ext cx="7211803" cy="58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algn="ctr"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IN" sz="2800" dirty="0"/>
              <a:t>Elements of IEEE 802.11i </a:t>
            </a:r>
            <a:endParaRPr lang="en-US" altLang="en-US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23228"/>
            <a:ext cx="5297487" cy="640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789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979990"/>
            <a:ext cx="7211803" cy="57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altLang="en-US" sz="28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Phases of operation</a:t>
            </a:r>
            <a:endParaRPr lang="en-US" altLang="en-US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76299" y="1673106"/>
            <a:ext cx="6069013" cy="496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8567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27"/>
            <a:ext cx="9144000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46559" tIns="23279" rIns="46559" bIns="23279" anchor="ctr"/>
          <a:lstStyle/>
          <a:p>
            <a:pPr algn="ctr" defTabSz="23279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IN" dirty="0">
              <a:solidFill>
                <a:srgbClr val="681748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584858" y="1673106"/>
            <a:ext cx="7974284" cy="52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144" rIns="0" bIns="0">
            <a:spAutoFit/>
          </a:bodyPr>
          <a:lstStyle>
            <a:lvl1pPr marL="584200" indent="-5715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200000"/>
              </a:lnSpc>
              <a:spcBef>
                <a:spcPts val="51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6" name="object 4"/>
          <p:cNvSpPr>
            <a:spLocks/>
          </p:cNvSpPr>
          <p:nvPr/>
        </p:nvSpPr>
        <p:spPr bwMode="auto">
          <a:xfrm>
            <a:off x="458501" y="722959"/>
            <a:ext cx="8427007" cy="0"/>
          </a:xfrm>
          <a:custGeom>
            <a:avLst/>
            <a:gdLst>
              <a:gd name="T0" fmla="*/ 0 w 18527395"/>
              <a:gd name="T1" fmla="*/ 18537320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7" name="object 5"/>
          <p:cNvSpPr>
            <a:spLocks noChangeArrowheads="1"/>
          </p:cNvSpPr>
          <p:nvPr/>
        </p:nvSpPr>
        <p:spPr bwMode="auto">
          <a:xfrm>
            <a:off x="457057" y="182907"/>
            <a:ext cx="322033" cy="43031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fontAlgn="base">
              <a:spcBef>
                <a:spcPct val="0"/>
              </a:spcBef>
              <a:spcAft>
                <a:spcPct val="0"/>
              </a:spcAft>
            </a:pPr>
            <a:endParaRPr lang="en-US" altLang="en-US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8" name="object 6"/>
          <p:cNvSpPr>
            <a:spLocks/>
          </p:cNvSpPr>
          <p:nvPr/>
        </p:nvSpPr>
        <p:spPr bwMode="auto">
          <a:xfrm>
            <a:off x="1356726" y="432235"/>
            <a:ext cx="25994" cy="34656"/>
          </a:xfrm>
          <a:custGeom>
            <a:avLst/>
            <a:gdLst>
              <a:gd name="T0" fmla="*/ 40716 w 56514"/>
              <a:gd name="T1" fmla="*/ 0 h 56515"/>
              <a:gd name="T2" fmla="*/ 24886 w 56514"/>
              <a:gd name="T3" fmla="*/ 3191 h 56515"/>
              <a:gd name="T4" fmla="*/ 11938 w 56514"/>
              <a:gd name="T5" fmla="*/ 11897 h 56515"/>
              <a:gd name="T6" fmla="*/ 3204 w 56514"/>
              <a:gd name="T7" fmla="*/ 24809 h 56515"/>
              <a:gd name="T8" fmla="*/ 0 w 56514"/>
              <a:gd name="T9" fmla="*/ 40618 h 56515"/>
              <a:gd name="T10" fmla="*/ 3204 w 56514"/>
              <a:gd name="T11" fmla="*/ 56446 h 56515"/>
              <a:gd name="T12" fmla="*/ 11938 w 56514"/>
              <a:gd name="T13" fmla="*/ 69381 h 56515"/>
              <a:gd name="T14" fmla="*/ 24886 w 56514"/>
              <a:gd name="T15" fmla="*/ 78114 h 56515"/>
              <a:gd name="T16" fmla="*/ 40716 w 56514"/>
              <a:gd name="T17" fmla="*/ 81317 h 56515"/>
              <a:gd name="T18" fmla="*/ 56526 w 56514"/>
              <a:gd name="T19" fmla="*/ 78114 h 56515"/>
              <a:gd name="T20" fmla="*/ 60477 w 56514"/>
              <a:gd name="T21" fmla="*/ 75442 h 56515"/>
              <a:gd name="T22" fmla="*/ 40716 w 56514"/>
              <a:gd name="T23" fmla="*/ 75442 h 56515"/>
              <a:gd name="T24" fmla="*/ 27144 w 56514"/>
              <a:gd name="T25" fmla="*/ 72699 h 56515"/>
              <a:gd name="T26" fmla="*/ 16072 w 56514"/>
              <a:gd name="T27" fmla="*/ 65229 h 56515"/>
              <a:gd name="T28" fmla="*/ 8615 w 56514"/>
              <a:gd name="T29" fmla="*/ 54156 h 56515"/>
              <a:gd name="T30" fmla="*/ 5876 w 56514"/>
              <a:gd name="T31" fmla="*/ 40618 h 56515"/>
              <a:gd name="T32" fmla="*/ 8615 w 56514"/>
              <a:gd name="T33" fmla="*/ 27069 h 56515"/>
              <a:gd name="T34" fmla="*/ 16072 w 56514"/>
              <a:gd name="T35" fmla="*/ 15981 h 56515"/>
              <a:gd name="T36" fmla="*/ 27144 w 56514"/>
              <a:gd name="T37" fmla="*/ 8485 h 56515"/>
              <a:gd name="T38" fmla="*/ 40716 w 56514"/>
              <a:gd name="T39" fmla="*/ 5739 h 56515"/>
              <a:gd name="T40" fmla="*/ 60309 w 56514"/>
              <a:gd name="T41" fmla="*/ 5739 h 56515"/>
              <a:gd name="T42" fmla="*/ 56526 w 56514"/>
              <a:gd name="T43" fmla="*/ 3191 h 56515"/>
              <a:gd name="T44" fmla="*/ 40716 w 56514"/>
              <a:gd name="T45" fmla="*/ 0 h 56515"/>
              <a:gd name="T46" fmla="*/ 60309 w 56514"/>
              <a:gd name="T47" fmla="*/ 5739 h 56515"/>
              <a:gd name="T48" fmla="*/ 40716 w 56514"/>
              <a:gd name="T49" fmla="*/ 5739 h 56515"/>
              <a:gd name="T50" fmla="*/ 54291 w 56514"/>
              <a:gd name="T51" fmla="*/ 8485 h 56515"/>
              <a:gd name="T52" fmla="*/ 65364 w 56514"/>
              <a:gd name="T53" fmla="*/ 15981 h 56515"/>
              <a:gd name="T54" fmla="*/ 72828 w 56514"/>
              <a:gd name="T55" fmla="*/ 27069 h 56515"/>
              <a:gd name="T56" fmla="*/ 75560 w 56514"/>
              <a:gd name="T57" fmla="*/ 40618 h 56515"/>
              <a:gd name="T58" fmla="*/ 72828 w 56514"/>
              <a:gd name="T59" fmla="*/ 54156 h 56515"/>
              <a:gd name="T60" fmla="*/ 65364 w 56514"/>
              <a:gd name="T61" fmla="*/ 65229 h 56515"/>
              <a:gd name="T62" fmla="*/ 54291 w 56514"/>
              <a:gd name="T63" fmla="*/ 72699 h 56515"/>
              <a:gd name="T64" fmla="*/ 40716 w 56514"/>
              <a:gd name="T65" fmla="*/ 75442 h 56515"/>
              <a:gd name="T66" fmla="*/ 60477 w 56514"/>
              <a:gd name="T67" fmla="*/ 75442 h 56515"/>
              <a:gd name="T68" fmla="*/ 69449 w 56514"/>
              <a:gd name="T69" fmla="*/ 69381 h 56515"/>
              <a:gd name="T70" fmla="*/ 78175 w 56514"/>
              <a:gd name="T71" fmla="*/ 56446 h 56515"/>
              <a:gd name="T72" fmla="*/ 81378 w 56514"/>
              <a:gd name="T73" fmla="*/ 40618 h 56515"/>
              <a:gd name="T74" fmla="*/ 78175 w 56514"/>
              <a:gd name="T75" fmla="*/ 24809 h 56515"/>
              <a:gd name="T76" fmla="*/ 69449 w 56514"/>
              <a:gd name="T77" fmla="*/ 11897 h 56515"/>
              <a:gd name="T78" fmla="*/ 60309 w 56514"/>
              <a:gd name="T79" fmla="*/ 5739 h 5651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199" name="object 7"/>
          <p:cNvSpPr>
            <a:spLocks/>
          </p:cNvSpPr>
          <p:nvPr/>
        </p:nvSpPr>
        <p:spPr bwMode="auto">
          <a:xfrm>
            <a:off x="1363947" y="439937"/>
            <a:ext cx="11553" cy="19253"/>
          </a:xfrm>
          <a:custGeom>
            <a:avLst/>
            <a:gdLst>
              <a:gd name="T0" fmla="*/ 11999 w 25400"/>
              <a:gd name="T1" fmla="*/ 0 h 31750"/>
              <a:gd name="T2" fmla="*/ 0 w 25400"/>
              <a:gd name="T3" fmla="*/ 0 h 31750"/>
              <a:gd name="T4" fmla="*/ 0 w 25400"/>
              <a:gd name="T5" fmla="*/ 31423 h 31750"/>
              <a:gd name="T6" fmla="*/ 5675 w 25400"/>
              <a:gd name="T7" fmla="*/ 31423 h 31750"/>
              <a:gd name="T8" fmla="*/ 5675 w 25400"/>
              <a:gd name="T9" fmla="*/ 18292 h 31750"/>
              <a:gd name="T10" fmla="*/ 16472 w 25400"/>
              <a:gd name="T11" fmla="*/ 18292 h 31750"/>
              <a:gd name="T12" fmla="*/ 15633 w 25400"/>
              <a:gd name="T13" fmla="*/ 17570 h 31750"/>
              <a:gd name="T14" fmla="*/ 21266 w 25400"/>
              <a:gd name="T15" fmla="*/ 14669 h 31750"/>
              <a:gd name="T16" fmla="*/ 21701 w 25400"/>
              <a:gd name="T17" fmla="*/ 13277 h 31750"/>
              <a:gd name="T18" fmla="*/ 5675 w 25400"/>
              <a:gd name="T19" fmla="*/ 13277 h 31750"/>
              <a:gd name="T20" fmla="*/ 5675 w 25400"/>
              <a:gd name="T21" fmla="*/ 5329 h 31750"/>
              <a:gd name="T22" fmla="*/ 22239 w 25400"/>
              <a:gd name="T23" fmla="*/ 5329 h 31750"/>
              <a:gd name="T24" fmla="*/ 21884 w 25400"/>
              <a:gd name="T25" fmla="*/ 3863 h 31750"/>
              <a:gd name="T26" fmla="*/ 18564 w 25400"/>
              <a:gd name="T27" fmla="*/ 848 h 31750"/>
              <a:gd name="T28" fmla="*/ 11999 w 25400"/>
              <a:gd name="T29" fmla="*/ 0 h 31750"/>
              <a:gd name="T30" fmla="*/ 16472 w 25400"/>
              <a:gd name="T31" fmla="*/ 18292 h 31750"/>
              <a:gd name="T32" fmla="*/ 6837 w 25400"/>
              <a:gd name="T33" fmla="*/ 18292 h 31750"/>
              <a:gd name="T34" fmla="*/ 9727 w 25400"/>
              <a:gd name="T35" fmla="*/ 18680 h 31750"/>
              <a:gd name="T36" fmla="*/ 11465 w 25400"/>
              <a:gd name="T37" fmla="*/ 19999 h 31750"/>
              <a:gd name="T38" fmla="*/ 14470 w 25400"/>
              <a:gd name="T39" fmla="*/ 24596 h 31750"/>
              <a:gd name="T40" fmla="*/ 18564 w 25400"/>
              <a:gd name="T41" fmla="*/ 31423 h 31750"/>
              <a:gd name="T42" fmla="*/ 25402 w 25400"/>
              <a:gd name="T43" fmla="*/ 31423 h 31750"/>
              <a:gd name="T44" fmla="*/ 21967 w 25400"/>
              <a:gd name="T45" fmla="*/ 25318 h 31750"/>
              <a:gd name="T46" fmla="*/ 18721 w 25400"/>
              <a:gd name="T47" fmla="*/ 20229 h 31750"/>
              <a:gd name="T48" fmla="*/ 16472 w 25400"/>
              <a:gd name="T49" fmla="*/ 18292 h 31750"/>
              <a:gd name="T50" fmla="*/ 22239 w 25400"/>
              <a:gd name="T51" fmla="*/ 5329 h 31750"/>
              <a:gd name="T52" fmla="*/ 10156 w 25400"/>
              <a:gd name="T53" fmla="*/ 5329 h 31750"/>
              <a:gd name="T54" fmla="*/ 14324 w 25400"/>
              <a:gd name="T55" fmla="*/ 5444 h 31750"/>
              <a:gd name="T56" fmla="*/ 16449 w 25400"/>
              <a:gd name="T57" fmla="*/ 6638 h 31750"/>
              <a:gd name="T58" fmla="*/ 17224 w 25400"/>
              <a:gd name="T59" fmla="*/ 9224 h 31750"/>
              <a:gd name="T60" fmla="*/ 16638 w 25400"/>
              <a:gd name="T61" fmla="*/ 11580 h 31750"/>
              <a:gd name="T62" fmla="*/ 15057 w 25400"/>
              <a:gd name="T63" fmla="*/ 12889 h 31750"/>
              <a:gd name="T64" fmla="*/ 9926 w 25400"/>
              <a:gd name="T65" fmla="*/ 13277 h 31750"/>
              <a:gd name="T66" fmla="*/ 21701 w 25400"/>
              <a:gd name="T67" fmla="*/ 13277 h 31750"/>
              <a:gd name="T68" fmla="*/ 23088 w 25400"/>
              <a:gd name="T69" fmla="*/ 8837 h 31750"/>
              <a:gd name="T70" fmla="*/ 22239 w 25400"/>
              <a:gd name="T71" fmla="*/ 5329 h 3175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232795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mtClean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8910" y="265696"/>
            <a:ext cx="623848" cy="367888"/>
          </a:xfrm>
          <a:prstGeom prst="rect">
            <a:avLst/>
          </a:prstGeom>
        </p:spPr>
        <p:txBody>
          <a:bodyPr lIns="0" tIns="8730" rIns="0" bIns="0">
            <a:spAutoFit/>
          </a:bodyPr>
          <a:lstStyle/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RV College of</a:t>
            </a:r>
          </a:p>
          <a:p>
            <a:pPr marL="6467" defTabSz="232795">
              <a:lnSpc>
                <a:spcPts val="909"/>
              </a:lnSpc>
              <a:spcBef>
                <a:spcPts val="69"/>
              </a:spcBef>
              <a:defRPr/>
            </a:pPr>
            <a:r>
              <a:rPr lang="en-IN" sz="800" b="1" spc="3" dirty="0">
                <a:solidFill>
                  <a:srgbClr val="231F20"/>
                </a:solidFill>
                <a:latin typeface="Helvetica-Bold"/>
                <a:ea typeface="ＭＳ Ｐゴシック" pitchFamily="34" charset="-128"/>
                <a:cs typeface="Helvetica-Bold"/>
              </a:rPr>
              <a:t>Engineering </a:t>
            </a:r>
            <a:endParaRPr sz="800" dirty="0">
              <a:solidFill>
                <a:prstClr val="black"/>
              </a:solidFill>
              <a:latin typeface="Helvetica-Bold"/>
              <a:ea typeface="ＭＳ Ｐゴシック" pitchFamily="34" charset="-128"/>
              <a:cs typeface="Helvetica-Bold"/>
            </a:endParaRPr>
          </a:p>
        </p:txBody>
      </p:sp>
      <p:sp>
        <p:nvSpPr>
          <p:cNvPr id="8201" name="object 9"/>
          <p:cNvSpPr txBox="1">
            <a:spLocks noChangeArrowheads="1"/>
          </p:cNvSpPr>
          <p:nvPr/>
        </p:nvSpPr>
        <p:spPr bwMode="auto">
          <a:xfrm>
            <a:off x="618072" y="722959"/>
            <a:ext cx="8267436" cy="929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6144" rIns="0" bIns="0">
            <a:spAutoFit/>
          </a:bodyPr>
          <a:lstStyle>
            <a:lvl1pPr marL="127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defTabSz="232795" fontAlgn="base">
              <a:lnSpc>
                <a:spcPct val="150000"/>
              </a:lnSpc>
              <a:spcBef>
                <a:spcPts val="51"/>
              </a:spcBef>
              <a:spcAft>
                <a:spcPct val="0"/>
              </a:spcAft>
            </a:pPr>
            <a:r>
              <a:rPr lang="en-US" sz="2000" dirty="0"/>
              <a:t>IEEE 802.11i Phases of Operation: Capability Discovery, Authentication, and Association </a:t>
            </a:r>
            <a:endParaRPr lang="en-US" altLang="en-US" sz="2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02" name="Title 10"/>
          <p:cNvSpPr>
            <a:spLocks noGrp="1"/>
          </p:cNvSpPr>
          <p:nvPr>
            <p:ph type="title"/>
          </p:nvPr>
        </p:nvSpPr>
        <p:spPr>
          <a:xfrm>
            <a:off x="7206027" y="247404"/>
            <a:ext cx="1673704" cy="461665"/>
          </a:xfrm>
        </p:spPr>
        <p:txBody>
          <a:bodyPr/>
          <a:lstStyle/>
          <a:p>
            <a:pPr algn="r" eaLnBrk="1" hangingPunct="1"/>
            <a:r>
              <a:rPr lang="en-US" altLang="en-US" smtClean="0">
                <a:latin typeface="Playfair Display" charset="0"/>
                <a:ea typeface="ＭＳ Ｐゴシック" pitchFamily="34" charset="-128"/>
              </a:rPr>
              <a:t>Go, change the world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31937"/>
            <a:ext cx="4217987" cy="532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3913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lt1">
            <a:alpha val="99000"/>
          </a:schemeClr>
        </a:solidFill>
        <a:ln w="76200">
          <a:solidFill>
            <a:srgbClr val="5E6DB3"/>
          </a:solidFill>
        </a:ln>
      </a:spPr>
      <a:bodyPr rtlCol="0" anchor="ctr"/>
      <a:lstStyle>
        <a:defPPr algn="ctr">
          <a:defRPr dirty="0">
            <a:solidFill>
              <a:srgbClr val="FFFFFF"/>
            </a:solidFill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3907</Words>
  <Application>Microsoft Office PowerPoint</Application>
  <PresentationFormat>On-screen Show (4:3)</PresentationFormat>
  <Paragraphs>484</Paragraphs>
  <Slides>32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Office Theme</vt:lpstr>
      <vt:lpstr>1_Office Theme</vt:lpstr>
      <vt:lpstr>Slide 1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  <vt:lpstr>Go, change the world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Veena Gadad</dc:creator>
  <cp:lastModifiedBy>Sneha</cp:lastModifiedBy>
  <cp:revision>8</cp:revision>
  <dcterms:created xsi:type="dcterms:W3CDTF">2006-08-16T00:00:00Z</dcterms:created>
  <dcterms:modified xsi:type="dcterms:W3CDTF">2020-10-20T06:05:18Z</dcterms:modified>
</cp:coreProperties>
</file>