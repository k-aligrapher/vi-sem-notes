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7" r:id="rId3"/>
    <p:sldId id="261" r:id="rId4"/>
    <p:sldId id="258" r:id="rId5"/>
    <p:sldId id="260" r:id="rId6"/>
    <p:sldId id="259" r:id="rId7"/>
    <p:sldId id="265" r:id="rId8"/>
    <p:sldId id="264" r:id="rId9"/>
    <p:sldId id="263" r:id="rId10"/>
    <p:sldId id="262" r:id="rId11"/>
    <p:sldId id="266" r:id="rId12"/>
    <p:sldId id="270" r:id="rId13"/>
    <p:sldId id="271" r:id="rId14"/>
    <p:sldId id="274" r:id="rId15"/>
    <p:sldId id="273" r:id="rId16"/>
    <p:sldId id="272" r:id="rId17"/>
    <p:sldId id="267" r:id="rId18"/>
    <p:sldId id="268" r:id="rId19"/>
    <p:sldId id="269" r:id="rId20"/>
    <p:sldId id="275" r:id="rId21"/>
    <p:sldId id="276" r:id="rId22"/>
    <p:sldId id="277" r:id="rId23"/>
    <p:sldId id="278" r:id="rId24"/>
    <p:sldId id="279" r:id="rId25"/>
    <p:sldId id="280" r:id="rId26"/>
    <p:sldId id="282" r:id="rId27"/>
    <p:sldId id="281" r:id="rId28"/>
    <p:sldId id="283" r:id="rId29"/>
    <p:sldId id="284" r:id="rId30"/>
    <p:sldId id="285"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286" r:id="rId46"/>
    <p:sldId id="288" r:id="rId47"/>
  </p:sldIdLst>
  <p:sldSz cx="9144000" cy="6858000" type="screen4x3"/>
  <p:notesSz cx="6858000" cy="9144000"/>
  <p:defaultTextStyle>
    <a:defPPr>
      <a:defRPr lang="en-US"/>
    </a:defPPr>
    <a:lvl1pPr marL="0" algn="l" defTabSz="914177" rtl="0" eaLnBrk="1" latinLnBrk="0" hangingPunct="1">
      <a:defRPr sz="1800" kern="1200">
        <a:solidFill>
          <a:schemeClr val="tx1"/>
        </a:solidFill>
        <a:latin typeface="+mn-lt"/>
        <a:ea typeface="+mn-ea"/>
        <a:cs typeface="+mn-cs"/>
      </a:defRPr>
    </a:lvl1pPr>
    <a:lvl2pPr marL="457089" algn="l" defTabSz="914177" rtl="0" eaLnBrk="1" latinLnBrk="0" hangingPunct="1">
      <a:defRPr sz="1800" kern="1200">
        <a:solidFill>
          <a:schemeClr val="tx1"/>
        </a:solidFill>
        <a:latin typeface="+mn-lt"/>
        <a:ea typeface="+mn-ea"/>
        <a:cs typeface="+mn-cs"/>
      </a:defRPr>
    </a:lvl2pPr>
    <a:lvl3pPr marL="914177" algn="l" defTabSz="914177" rtl="0" eaLnBrk="1" latinLnBrk="0" hangingPunct="1">
      <a:defRPr sz="1800" kern="1200">
        <a:solidFill>
          <a:schemeClr val="tx1"/>
        </a:solidFill>
        <a:latin typeface="+mn-lt"/>
        <a:ea typeface="+mn-ea"/>
        <a:cs typeface="+mn-cs"/>
      </a:defRPr>
    </a:lvl3pPr>
    <a:lvl4pPr marL="1371265" algn="l" defTabSz="914177" rtl="0" eaLnBrk="1" latinLnBrk="0" hangingPunct="1">
      <a:defRPr sz="1800" kern="1200">
        <a:solidFill>
          <a:schemeClr val="tx1"/>
        </a:solidFill>
        <a:latin typeface="+mn-lt"/>
        <a:ea typeface="+mn-ea"/>
        <a:cs typeface="+mn-cs"/>
      </a:defRPr>
    </a:lvl4pPr>
    <a:lvl5pPr marL="1828353" algn="l" defTabSz="914177" rtl="0" eaLnBrk="1" latinLnBrk="0" hangingPunct="1">
      <a:defRPr sz="1800" kern="1200">
        <a:solidFill>
          <a:schemeClr val="tx1"/>
        </a:solidFill>
        <a:latin typeface="+mn-lt"/>
        <a:ea typeface="+mn-ea"/>
        <a:cs typeface="+mn-cs"/>
      </a:defRPr>
    </a:lvl5pPr>
    <a:lvl6pPr marL="2285442" algn="l" defTabSz="914177" rtl="0" eaLnBrk="1" latinLnBrk="0" hangingPunct="1">
      <a:defRPr sz="1800" kern="1200">
        <a:solidFill>
          <a:schemeClr val="tx1"/>
        </a:solidFill>
        <a:latin typeface="+mn-lt"/>
        <a:ea typeface="+mn-ea"/>
        <a:cs typeface="+mn-cs"/>
      </a:defRPr>
    </a:lvl6pPr>
    <a:lvl7pPr marL="2742531" algn="l" defTabSz="914177" rtl="0" eaLnBrk="1" latinLnBrk="0" hangingPunct="1">
      <a:defRPr sz="1800" kern="1200">
        <a:solidFill>
          <a:schemeClr val="tx1"/>
        </a:solidFill>
        <a:latin typeface="+mn-lt"/>
        <a:ea typeface="+mn-ea"/>
        <a:cs typeface="+mn-cs"/>
      </a:defRPr>
    </a:lvl7pPr>
    <a:lvl8pPr marL="3199619" algn="l" defTabSz="914177" rtl="0" eaLnBrk="1" latinLnBrk="0" hangingPunct="1">
      <a:defRPr sz="1800" kern="1200">
        <a:solidFill>
          <a:schemeClr val="tx1"/>
        </a:solidFill>
        <a:latin typeface="+mn-lt"/>
        <a:ea typeface="+mn-ea"/>
        <a:cs typeface="+mn-cs"/>
      </a:defRPr>
    </a:lvl8pPr>
    <a:lvl9pPr marL="3656707" algn="l" defTabSz="914177"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089" indent="0" algn="ctr">
              <a:buNone/>
              <a:defRPr>
                <a:solidFill>
                  <a:schemeClr val="tx1">
                    <a:tint val="75000"/>
                  </a:schemeClr>
                </a:solidFill>
              </a:defRPr>
            </a:lvl2pPr>
            <a:lvl3pPr marL="914177" indent="0" algn="ctr">
              <a:buNone/>
              <a:defRPr>
                <a:solidFill>
                  <a:schemeClr val="tx1">
                    <a:tint val="75000"/>
                  </a:schemeClr>
                </a:solidFill>
              </a:defRPr>
            </a:lvl3pPr>
            <a:lvl4pPr marL="1371265" indent="0" algn="ctr">
              <a:buNone/>
              <a:defRPr>
                <a:solidFill>
                  <a:schemeClr val="tx1">
                    <a:tint val="75000"/>
                  </a:schemeClr>
                </a:solidFill>
              </a:defRPr>
            </a:lvl4pPr>
            <a:lvl5pPr marL="1828353" indent="0" algn="ctr">
              <a:buNone/>
              <a:defRPr>
                <a:solidFill>
                  <a:schemeClr val="tx1">
                    <a:tint val="75000"/>
                  </a:schemeClr>
                </a:solidFill>
              </a:defRPr>
            </a:lvl5pPr>
            <a:lvl6pPr marL="2285442" indent="0" algn="ctr">
              <a:buNone/>
              <a:defRPr>
                <a:solidFill>
                  <a:schemeClr val="tx1">
                    <a:tint val="75000"/>
                  </a:schemeClr>
                </a:solidFill>
              </a:defRPr>
            </a:lvl6pPr>
            <a:lvl7pPr marL="2742531" indent="0" algn="ctr">
              <a:buNone/>
              <a:defRPr>
                <a:solidFill>
                  <a:schemeClr val="tx1">
                    <a:tint val="75000"/>
                  </a:schemeClr>
                </a:solidFill>
              </a:defRPr>
            </a:lvl7pPr>
            <a:lvl8pPr marL="3199619" indent="0" algn="ctr">
              <a:buNone/>
              <a:defRPr>
                <a:solidFill>
                  <a:schemeClr val="tx1">
                    <a:tint val="75000"/>
                  </a:schemeClr>
                </a:solidFill>
              </a:defRPr>
            </a:lvl8pPr>
            <a:lvl9pPr marL="3656707"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377255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2549965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089" indent="0">
              <a:buNone/>
              <a:defRPr sz="1800">
                <a:solidFill>
                  <a:schemeClr val="tx1">
                    <a:tint val="75000"/>
                  </a:schemeClr>
                </a:solidFill>
              </a:defRPr>
            </a:lvl2pPr>
            <a:lvl3pPr marL="914177" indent="0">
              <a:buNone/>
              <a:defRPr sz="1600">
                <a:solidFill>
                  <a:schemeClr val="tx1">
                    <a:tint val="75000"/>
                  </a:schemeClr>
                </a:solidFill>
              </a:defRPr>
            </a:lvl3pPr>
            <a:lvl4pPr marL="1371265" indent="0">
              <a:buNone/>
              <a:defRPr sz="1400">
                <a:solidFill>
                  <a:schemeClr val="tx1">
                    <a:tint val="75000"/>
                  </a:schemeClr>
                </a:solidFill>
              </a:defRPr>
            </a:lvl4pPr>
            <a:lvl5pPr marL="1828353" indent="0">
              <a:buNone/>
              <a:defRPr sz="1400">
                <a:solidFill>
                  <a:schemeClr val="tx1">
                    <a:tint val="75000"/>
                  </a:schemeClr>
                </a:solidFill>
              </a:defRPr>
            </a:lvl5pPr>
            <a:lvl6pPr marL="2285442" indent="0">
              <a:buNone/>
              <a:defRPr sz="1400">
                <a:solidFill>
                  <a:schemeClr val="tx1">
                    <a:tint val="75000"/>
                  </a:schemeClr>
                </a:solidFill>
              </a:defRPr>
            </a:lvl6pPr>
            <a:lvl7pPr marL="2742531" indent="0">
              <a:buNone/>
              <a:defRPr sz="1400">
                <a:solidFill>
                  <a:schemeClr val="tx1">
                    <a:tint val="75000"/>
                  </a:schemeClr>
                </a:solidFill>
              </a:defRPr>
            </a:lvl7pPr>
            <a:lvl8pPr marL="3199619" indent="0">
              <a:buNone/>
              <a:defRPr sz="1400">
                <a:solidFill>
                  <a:schemeClr val="tx1">
                    <a:tint val="75000"/>
                  </a:schemeClr>
                </a:solidFill>
              </a:defRPr>
            </a:lvl8pPr>
            <a:lvl9pPr marL="3656707"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1114189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2895647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089" indent="0">
              <a:buNone/>
              <a:defRPr sz="2000" b="1"/>
            </a:lvl2pPr>
            <a:lvl3pPr marL="914177" indent="0">
              <a:buNone/>
              <a:defRPr sz="1800" b="1"/>
            </a:lvl3pPr>
            <a:lvl4pPr marL="1371265" indent="0">
              <a:buNone/>
              <a:defRPr sz="1600" b="1"/>
            </a:lvl4pPr>
            <a:lvl5pPr marL="1828353" indent="0">
              <a:buNone/>
              <a:defRPr sz="1600" b="1"/>
            </a:lvl5pPr>
            <a:lvl6pPr marL="2285442" indent="0">
              <a:buNone/>
              <a:defRPr sz="1600" b="1"/>
            </a:lvl6pPr>
            <a:lvl7pPr marL="2742531" indent="0">
              <a:buNone/>
              <a:defRPr sz="1600" b="1"/>
            </a:lvl7pPr>
            <a:lvl8pPr marL="3199619" indent="0">
              <a:buNone/>
              <a:defRPr sz="1600" b="1"/>
            </a:lvl8pPr>
            <a:lvl9pPr marL="3656707"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089" indent="0">
              <a:buNone/>
              <a:defRPr sz="2000" b="1"/>
            </a:lvl2pPr>
            <a:lvl3pPr marL="914177" indent="0">
              <a:buNone/>
              <a:defRPr sz="1800" b="1"/>
            </a:lvl3pPr>
            <a:lvl4pPr marL="1371265" indent="0">
              <a:buNone/>
              <a:defRPr sz="1600" b="1"/>
            </a:lvl4pPr>
            <a:lvl5pPr marL="1828353" indent="0">
              <a:buNone/>
              <a:defRPr sz="1600" b="1"/>
            </a:lvl5pPr>
            <a:lvl6pPr marL="2285442" indent="0">
              <a:buNone/>
              <a:defRPr sz="1600" b="1"/>
            </a:lvl6pPr>
            <a:lvl7pPr marL="2742531" indent="0">
              <a:buNone/>
              <a:defRPr sz="1600" b="1"/>
            </a:lvl7pPr>
            <a:lvl8pPr marL="3199619" indent="0">
              <a:buNone/>
              <a:defRPr sz="1600" b="1"/>
            </a:lvl8pPr>
            <a:lvl9pPr marL="3656707"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3949367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4264651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1766831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089" indent="0">
              <a:buNone/>
              <a:defRPr sz="1200"/>
            </a:lvl2pPr>
            <a:lvl3pPr marL="914177" indent="0">
              <a:buNone/>
              <a:defRPr sz="1000"/>
            </a:lvl3pPr>
            <a:lvl4pPr marL="1371265" indent="0">
              <a:buNone/>
              <a:defRPr sz="900"/>
            </a:lvl4pPr>
            <a:lvl5pPr marL="1828353" indent="0">
              <a:buNone/>
              <a:defRPr sz="900"/>
            </a:lvl5pPr>
            <a:lvl6pPr marL="2285442" indent="0">
              <a:buNone/>
              <a:defRPr sz="900"/>
            </a:lvl6pPr>
            <a:lvl7pPr marL="2742531" indent="0">
              <a:buNone/>
              <a:defRPr sz="900"/>
            </a:lvl7pPr>
            <a:lvl8pPr marL="3199619" indent="0">
              <a:buNone/>
              <a:defRPr sz="900"/>
            </a:lvl8pPr>
            <a:lvl9pPr marL="3656707"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1225693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089" indent="0">
              <a:buNone/>
              <a:defRPr sz="2800"/>
            </a:lvl2pPr>
            <a:lvl3pPr marL="914177" indent="0">
              <a:buNone/>
              <a:defRPr sz="2400"/>
            </a:lvl3pPr>
            <a:lvl4pPr marL="1371265" indent="0">
              <a:buNone/>
              <a:defRPr sz="2000"/>
            </a:lvl4pPr>
            <a:lvl5pPr marL="1828353" indent="0">
              <a:buNone/>
              <a:defRPr sz="2000"/>
            </a:lvl5pPr>
            <a:lvl6pPr marL="2285442" indent="0">
              <a:buNone/>
              <a:defRPr sz="2000"/>
            </a:lvl6pPr>
            <a:lvl7pPr marL="2742531" indent="0">
              <a:buNone/>
              <a:defRPr sz="2000"/>
            </a:lvl7pPr>
            <a:lvl8pPr marL="3199619" indent="0">
              <a:buNone/>
              <a:defRPr sz="2000"/>
            </a:lvl8pPr>
            <a:lvl9pPr marL="3656707"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089" indent="0">
              <a:buNone/>
              <a:defRPr sz="1200"/>
            </a:lvl2pPr>
            <a:lvl3pPr marL="914177" indent="0">
              <a:buNone/>
              <a:defRPr sz="1000"/>
            </a:lvl3pPr>
            <a:lvl4pPr marL="1371265" indent="0">
              <a:buNone/>
              <a:defRPr sz="900"/>
            </a:lvl4pPr>
            <a:lvl5pPr marL="1828353" indent="0">
              <a:buNone/>
              <a:defRPr sz="900"/>
            </a:lvl5pPr>
            <a:lvl6pPr marL="2285442" indent="0">
              <a:buNone/>
              <a:defRPr sz="900"/>
            </a:lvl6pPr>
            <a:lvl7pPr marL="2742531" indent="0">
              <a:buNone/>
              <a:defRPr sz="900"/>
            </a:lvl7pPr>
            <a:lvl8pPr marL="3199619" indent="0">
              <a:buNone/>
              <a:defRPr sz="900"/>
            </a:lvl8pPr>
            <a:lvl9pPr marL="3656707"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424241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3971919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76425" y="452438"/>
            <a:ext cx="4522788" cy="9650412"/>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004889" y="452438"/>
            <a:ext cx="13419137" cy="96504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983ADDD-A6A3-40DC-9095-96140215E205}" type="datetimeFigureOut">
              <a:rPr lang="en-IN" smtClean="0"/>
              <a:pPr/>
              <a:t>20-10-2020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1843248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276999"/>
          </a:xfrm>
          <a:prstGeom prst="rect">
            <a:avLst/>
          </a:prstGeom>
        </p:spPr>
        <p:txBody>
          <a:bodyPr/>
          <a:lstStyle>
            <a:lvl1pPr>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F07C7213-8077-40D5-AFE1-9ADFB0C31C3A}" type="datetimeFigureOut">
              <a:rPr lang="en-US" altLang="en-US"/>
              <a:pPr>
                <a:defRPr/>
              </a:pPr>
              <a:t>10/20/2020</a:t>
            </a:fld>
            <a:endParaRPr lang="en-US" altLang="en-US"/>
          </a:p>
        </p:txBody>
      </p:sp>
      <p:sp>
        <p:nvSpPr>
          <p:cNvPr id="6" name="Holder 6"/>
          <p:cNvSpPr>
            <a:spLocks noGrp="1"/>
          </p:cNvSpPr>
          <p:nvPr>
            <p:ph type="sldNum" sz="quarter" idx="12"/>
          </p:nvPr>
        </p:nvSpPr>
        <p:spPr/>
        <p:txBody>
          <a:bodyPr/>
          <a:lstStyle>
            <a:lvl1pPr>
              <a:defRPr/>
            </a:lvl1pPr>
          </a:lstStyle>
          <a:p>
            <a:fld id="{EDCF5638-9E0F-478A-9FFE-C6138F6F710E}" type="slidenum">
              <a:rPr lang="en-US" altLang="en-US"/>
              <a:pPr/>
              <a:t>‹#›</a:t>
            </a:fld>
            <a:endParaRPr lang="en-US" altLang="en-US"/>
          </a:p>
        </p:txBody>
      </p:sp>
    </p:spTree>
    <p:extLst>
      <p:ext uri="{BB962C8B-B14F-4D97-AF65-F5344CB8AC3E}">
        <p14:creationId xmlns:p14="http://schemas.microsoft.com/office/powerpoint/2010/main" xmlns="" val="2427433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269" y="247405"/>
            <a:ext cx="8615462" cy="230832"/>
          </a:xfrm>
        </p:spPr>
        <p:txBody>
          <a:bodyPr/>
          <a:lstStyle>
            <a:lvl1pPr>
              <a:defRPr sz="1500" b="0" i="1">
                <a:solidFill>
                  <a:srgbClr val="422C75"/>
                </a:solidFill>
                <a:latin typeface="Playfair Display"/>
                <a:cs typeface="Playfair Display"/>
              </a:defRPr>
            </a:lvl1pPr>
          </a:lstStyle>
          <a:p>
            <a:endParaRPr/>
          </a:p>
        </p:txBody>
      </p:sp>
      <p:sp>
        <p:nvSpPr>
          <p:cNvPr id="3" name="Holder 3"/>
          <p:cNvSpPr>
            <a:spLocks noGrp="1"/>
          </p:cNvSpPr>
          <p:nvPr>
            <p:ph type="body" idx="1"/>
          </p:nvPr>
        </p:nvSpPr>
        <p:spPr/>
        <p:txBody>
          <a:bodyPr/>
          <a:lstStyle>
            <a:lvl1pPr>
              <a:defRPr b="0" i="0">
                <a:solidFill>
                  <a:schemeClr val="tx1"/>
                </a:solidFill>
              </a:defRPr>
            </a:lvl1pPr>
          </a:lstStyle>
          <a:p>
            <a:endParaRPr/>
          </a:p>
        </p:txBody>
      </p:sp>
      <p:sp>
        <p:nvSpPr>
          <p:cNvPr id="4"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5" name="Holder 5"/>
          <p:cNvSpPr>
            <a:spLocks noGrp="1"/>
          </p:cNvSpPr>
          <p:nvPr>
            <p:ph type="dt" sz="half" idx="11"/>
          </p:nvPr>
        </p:nvSpPr>
        <p:spPr/>
        <p:txBody>
          <a:bodyPr/>
          <a:lstStyle>
            <a:lvl1pPr>
              <a:defRPr/>
            </a:lvl1pPr>
          </a:lstStyle>
          <a:p>
            <a:pPr>
              <a:defRPr/>
            </a:pPr>
            <a:fld id="{5D2A425D-DF51-4E63-8F04-784188AD4D67}" type="datetimeFigureOut">
              <a:rPr lang="en-US" altLang="en-US"/>
              <a:pPr>
                <a:defRPr/>
              </a:pPr>
              <a:t>10/20/2020</a:t>
            </a:fld>
            <a:endParaRPr lang="en-US" altLang="en-US"/>
          </a:p>
        </p:txBody>
      </p:sp>
      <p:sp>
        <p:nvSpPr>
          <p:cNvPr id="6" name="Holder 6"/>
          <p:cNvSpPr>
            <a:spLocks noGrp="1"/>
          </p:cNvSpPr>
          <p:nvPr>
            <p:ph type="sldNum" sz="quarter" idx="12"/>
          </p:nvPr>
        </p:nvSpPr>
        <p:spPr/>
        <p:txBody>
          <a:bodyPr/>
          <a:lstStyle>
            <a:lvl1pPr>
              <a:defRPr/>
            </a:lvl1pPr>
          </a:lstStyle>
          <a:p>
            <a:fld id="{7CF42BF9-309F-401D-9755-C3351469BE80}" type="slidenum">
              <a:rPr lang="en-US" altLang="en-US"/>
              <a:pPr/>
              <a:t>‹#›</a:t>
            </a:fld>
            <a:endParaRPr lang="en-US" altLang="en-US"/>
          </a:p>
        </p:txBody>
      </p:sp>
    </p:spTree>
    <p:extLst>
      <p:ext uri="{BB962C8B-B14F-4D97-AF65-F5344CB8AC3E}">
        <p14:creationId xmlns:p14="http://schemas.microsoft.com/office/powerpoint/2010/main" xmlns="" val="1862594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269" y="247405"/>
            <a:ext cx="8615462" cy="230832"/>
          </a:xfrm>
        </p:spPr>
        <p:txBody>
          <a:bodyPr/>
          <a:lstStyle>
            <a:lvl1pPr>
              <a:defRPr sz="1500" b="0" i="1">
                <a:solidFill>
                  <a:srgbClr val="422C75"/>
                </a:solidFill>
                <a:latin typeface="Playfair Display"/>
                <a:cs typeface="Playfair Display"/>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6" name="Holder 5"/>
          <p:cNvSpPr>
            <a:spLocks noGrp="1"/>
          </p:cNvSpPr>
          <p:nvPr>
            <p:ph type="dt" sz="half" idx="11"/>
          </p:nvPr>
        </p:nvSpPr>
        <p:spPr/>
        <p:txBody>
          <a:bodyPr/>
          <a:lstStyle>
            <a:lvl1pPr>
              <a:defRPr/>
            </a:lvl1pPr>
          </a:lstStyle>
          <a:p>
            <a:pPr>
              <a:defRPr/>
            </a:pPr>
            <a:fld id="{C714A9BB-81FA-4C52-A1D0-8BF9BD600A99}" type="datetimeFigureOut">
              <a:rPr lang="en-US" altLang="en-US"/>
              <a:pPr>
                <a:defRPr/>
              </a:pPr>
              <a:t>10/20/2020</a:t>
            </a:fld>
            <a:endParaRPr lang="en-US" altLang="en-US"/>
          </a:p>
        </p:txBody>
      </p:sp>
      <p:sp>
        <p:nvSpPr>
          <p:cNvPr id="7" name="Holder 6"/>
          <p:cNvSpPr>
            <a:spLocks noGrp="1"/>
          </p:cNvSpPr>
          <p:nvPr>
            <p:ph type="sldNum" sz="quarter" idx="12"/>
          </p:nvPr>
        </p:nvSpPr>
        <p:spPr/>
        <p:txBody>
          <a:bodyPr/>
          <a:lstStyle>
            <a:lvl1pPr>
              <a:defRPr/>
            </a:lvl1pPr>
          </a:lstStyle>
          <a:p>
            <a:fld id="{21302F26-2C84-4121-ABDB-047D225C88EC}" type="slidenum">
              <a:rPr lang="en-US" altLang="en-US"/>
              <a:pPr/>
              <a:t>‹#›</a:t>
            </a:fld>
            <a:endParaRPr lang="en-US" altLang="en-US"/>
          </a:p>
        </p:txBody>
      </p:sp>
    </p:spTree>
    <p:extLst>
      <p:ext uri="{BB962C8B-B14F-4D97-AF65-F5344CB8AC3E}">
        <p14:creationId xmlns:p14="http://schemas.microsoft.com/office/powerpoint/2010/main" xmlns="" val="243287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64269" y="247405"/>
            <a:ext cx="8615462" cy="230832"/>
          </a:xfrm>
        </p:spPr>
        <p:txBody>
          <a:bodyPr/>
          <a:lstStyle>
            <a:lvl1pPr>
              <a:defRPr sz="1500" b="0" i="1">
                <a:solidFill>
                  <a:srgbClr val="422C75"/>
                </a:solidFill>
                <a:latin typeface="Playfair Display"/>
                <a:cs typeface="Playfair Display"/>
              </a:defRPr>
            </a:lvl1pPr>
          </a:lstStyle>
          <a:p>
            <a:endParaRPr/>
          </a:p>
        </p:txBody>
      </p:sp>
      <p:sp>
        <p:nvSpPr>
          <p:cNvPr id="3"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4" name="Holder 5"/>
          <p:cNvSpPr>
            <a:spLocks noGrp="1"/>
          </p:cNvSpPr>
          <p:nvPr>
            <p:ph type="dt" sz="half" idx="11"/>
          </p:nvPr>
        </p:nvSpPr>
        <p:spPr/>
        <p:txBody>
          <a:bodyPr/>
          <a:lstStyle>
            <a:lvl1pPr>
              <a:defRPr/>
            </a:lvl1pPr>
          </a:lstStyle>
          <a:p>
            <a:pPr>
              <a:defRPr/>
            </a:pPr>
            <a:fld id="{2EE64A14-B812-4991-BC72-908172FA0C70}" type="datetimeFigureOut">
              <a:rPr lang="en-US" altLang="en-US"/>
              <a:pPr>
                <a:defRPr/>
              </a:pPr>
              <a:t>10/20/2020</a:t>
            </a:fld>
            <a:endParaRPr lang="en-US" altLang="en-US"/>
          </a:p>
        </p:txBody>
      </p:sp>
      <p:sp>
        <p:nvSpPr>
          <p:cNvPr id="5" name="Holder 6"/>
          <p:cNvSpPr>
            <a:spLocks noGrp="1"/>
          </p:cNvSpPr>
          <p:nvPr>
            <p:ph type="sldNum" sz="quarter" idx="12"/>
          </p:nvPr>
        </p:nvSpPr>
        <p:spPr/>
        <p:txBody>
          <a:bodyPr/>
          <a:lstStyle>
            <a:lvl1pPr>
              <a:defRPr/>
            </a:lvl1pPr>
          </a:lstStyle>
          <a:p>
            <a:fld id="{125A6F83-6AF6-4ABA-91A2-2B60E18F2F9B}" type="slidenum">
              <a:rPr lang="en-US" altLang="en-US"/>
              <a:pPr/>
              <a:t>‹#›</a:t>
            </a:fld>
            <a:endParaRPr lang="en-US" altLang="en-US"/>
          </a:p>
        </p:txBody>
      </p:sp>
    </p:spTree>
    <p:extLst>
      <p:ext uri="{BB962C8B-B14F-4D97-AF65-F5344CB8AC3E}">
        <p14:creationId xmlns:p14="http://schemas.microsoft.com/office/powerpoint/2010/main" xmlns="" val="3292756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endParaRPr>
              <a:solidFill>
                <a:prstClr val="black">
                  <a:tint val="75000"/>
                </a:prstClr>
              </a:solidFill>
            </a:endParaRPr>
          </a:p>
        </p:txBody>
      </p:sp>
      <p:sp>
        <p:nvSpPr>
          <p:cNvPr id="3" name="Holder 5"/>
          <p:cNvSpPr>
            <a:spLocks noGrp="1"/>
          </p:cNvSpPr>
          <p:nvPr>
            <p:ph type="dt" sz="half" idx="11"/>
          </p:nvPr>
        </p:nvSpPr>
        <p:spPr/>
        <p:txBody>
          <a:bodyPr/>
          <a:lstStyle>
            <a:lvl1pPr>
              <a:defRPr/>
            </a:lvl1pPr>
          </a:lstStyle>
          <a:p>
            <a:pPr>
              <a:defRPr/>
            </a:pPr>
            <a:fld id="{FEFBE485-FD10-4598-ADDF-AACA444E66D7}" type="datetimeFigureOut">
              <a:rPr lang="en-US" altLang="en-US"/>
              <a:pPr>
                <a:defRPr/>
              </a:pPr>
              <a:t>10/20/2020</a:t>
            </a:fld>
            <a:endParaRPr lang="en-US" altLang="en-US"/>
          </a:p>
        </p:txBody>
      </p:sp>
      <p:sp>
        <p:nvSpPr>
          <p:cNvPr id="4" name="Holder 6"/>
          <p:cNvSpPr>
            <a:spLocks noGrp="1"/>
          </p:cNvSpPr>
          <p:nvPr>
            <p:ph type="sldNum" sz="quarter" idx="12"/>
          </p:nvPr>
        </p:nvSpPr>
        <p:spPr/>
        <p:txBody>
          <a:bodyPr/>
          <a:lstStyle>
            <a:lvl1pPr>
              <a:defRPr/>
            </a:lvl1pPr>
          </a:lstStyle>
          <a:p>
            <a:fld id="{18C61847-C167-465A-965B-C84287BF1067}" type="slidenum">
              <a:rPr lang="en-US" altLang="en-US"/>
              <a:pPr/>
              <a:t>‹#›</a:t>
            </a:fld>
            <a:endParaRPr lang="en-US" altLang="en-US"/>
          </a:p>
        </p:txBody>
      </p:sp>
    </p:spTree>
    <p:extLst>
      <p:ext uri="{BB962C8B-B14F-4D97-AF65-F5344CB8AC3E}">
        <p14:creationId xmlns:p14="http://schemas.microsoft.com/office/powerpoint/2010/main" xmlns="" val="166141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18" tIns="45709" rIns="91418" bIns="45709"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18" tIns="45709" rIns="91418" bIns="4570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1"/>
            <a:ext cx="2133600" cy="365125"/>
          </a:xfrm>
          <a:prstGeom prst="rect">
            <a:avLst/>
          </a:prstGeom>
        </p:spPr>
        <p:txBody>
          <a:bodyPr vert="horz" lIns="91418" tIns="45709" rIns="91418" bIns="45709" rtlCol="0" anchor="ctr"/>
          <a:lstStyle>
            <a:lvl1pPr algn="l">
              <a:defRPr sz="1200">
                <a:solidFill>
                  <a:schemeClr val="tx1">
                    <a:tint val="75000"/>
                  </a:schemeClr>
                </a:solidFill>
              </a:defRPr>
            </a:lvl1pPr>
          </a:lstStyle>
          <a:p>
            <a:fld id="{9983ADDD-A6A3-40DC-9095-96140215E205}" type="datetimeFigureOut">
              <a:rPr lang="en-IN" smtClean="0"/>
              <a:pPr/>
              <a:t>20-10-2020</a:t>
            </a:fld>
            <a:endParaRPr lang="en-IN"/>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18" tIns="45709" rIns="91418" bIns="45709"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18" tIns="45709" rIns="91418" bIns="45709" rtlCol="0" anchor="ctr"/>
          <a:lstStyle>
            <a:lvl1pPr algn="r">
              <a:defRPr sz="1200">
                <a:solidFill>
                  <a:schemeClr val="tx1">
                    <a:tint val="75000"/>
                  </a:schemeClr>
                </a:solidFill>
              </a:defRPr>
            </a:lvl1pPr>
          </a:lstStyle>
          <a:p>
            <a:fld id="{DC5047B9-42BA-465B-A1E2-FB686E548406}" type="slidenum">
              <a:rPr lang="en-IN" smtClean="0"/>
              <a:pPr/>
              <a:t>‹#›</a:t>
            </a:fld>
            <a:endParaRPr lang="en-IN"/>
          </a:p>
        </p:txBody>
      </p:sp>
    </p:spTree>
    <p:extLst>
      <p:ext uri="{BB962C8B-B14F-4D97-AF65-F5344CB8AC3E}">
        <p14:creationId xmlns:p14="http://schemas.microsoft.com/office/powerpoint/2010/main" xmlns="" val="3313974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177" rtl="0" eaLnBrk="1" latinLnBrk="0" hangingPunct="1">
        <a:spcBef>
          <a:spcPct val="0"/>
        </a:spcBef>
        <a:buNone/>
        <a:defRPr sz="4400" kern="1200">
          <a:solidFill>
            <a:schemeClr val="tx1"/>
          </a:solidFill>
          <a:latin typeface="+mj-lt"/>
          <a:ea typeface="+mj-ea"/>
          <a:cs typeface="+mj-cs"/>
        </a:defRPr>
      </a:lvl1pPr>
    </p:titleStyle>
    <p:bodyStyle>
      <a:lvl1pPr marL="342816" indent="-342816" algn="l" defTabSz="9141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769" indent="-285680" algn="l" defTabSz="9141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721" indent="-228544" algn="l" defTabSz="9141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810" indent="-228544" algn="l" defTabSz="9141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6898" indent="-228544" algn="l" defTabSz="9141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3986" indent="-228544" algn="l" defTabSz="9141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074" indent="-228544" algn="l" defTabSz="9141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163" indent="-228544" algn="l" defTabSz="9141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52" indent="-228544" algn="l" defTabSz="9141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77" rtl="0" eaLnBrk="1" latinLnBrk="0" hangingPunct="1">
        <a:defRPr sz="1800" kern="1200">
          <a:solidFill>
            <a:schemeClr val="tx1"/>
          </a:solidFill>
          <a:latin typeface="+mn-lt"/>
          <a:ea typeface="+mn-ea"/>
          <a:cs typeface="+mn-cs"/>
        </a:defRPr>
      </a:lvl1pPr>
      <a:lvl2pPr marL="457089" algn="l" defTabSz="914177" rtl="0" eaLnBrk="1" latinLnBrk="0" hangingPunct="1">
        <a:defRPr sz="1800" kern="1200">
          <a:solidFill>
            <a:schemeClr val="tx1"/>
          </a:solidFill>
          <a:latin typeface="+mn-lt"/>
          <a:ea typeface="+mn-ea"/>
          <a:cs typeface="+mn-cs"/>
        </a:defRPr>
      </a:lvl2pPr>
      <a:lvl3pPr marL="914177" algn="l" defTabSz="914177" rtl="0" eaLnBrk="1" latinLnBrk="0" hangingPunct="1">
        <a:defRPr sz="1800" kern="1200">
          <a:solidFill>
            <a:schemeClr val="tx1"/>
          </a:solidFill>
          <a:latin typeface="+mn-lt"/>
          <a:ea typeface="+mn-ea"/>
          <a:cs typeface="+mn-cs"/>
        </a:defRPr>
      </a:lvl3pPr>
      <a:lvl4pPr marL="1371265" algn="l" defTabSz="914177" rtl="0" eaLnBrk="1" latinLnBrk="0" hangingPunct="1">
        <a:defRPr sz="1800" kern="1200">
          <a:solidFill>
            <a:schemeClr val="tx1"/>
          </a:solidFill>
          <a:latin typeface="+mn-lt"/>
          <a:ea typeface="+mn-ea"/>
          <a:cs typeface="+mn-cs"/>
        </a:defRPr>
      </a:lvl4pPr>
      <a:lvl5pPr marL="1828353" algn="l" defTabSz="914177" rtl="0" eaLnBrk="1" latinLnBrk="0" hangingPunct="1">
        <a:defRPr sz="1800" kern="1200">
          <a:solidFill>
            <a:schemeClr val="tx1"/>
          </a:solidFill>
          <a:latin typeface="+mn-lt"/>
          <a:ea typeface="+mn-ea"/>
          <a:cs typeface="+mn-cs"/>
        </a:defRPr>
      </a:lvl5pPr>
      <a:lvl6pPr marL="2285442" algn="l" defTabSz="914177" rtl="0" eaLnBrk="1" latinLnBrk="0" hangingPunct="1">
        <a:defRPr sz="1800" kern="1200">
          <a:solidFill>
            <a:schemeClr val="tx1"/>
          </a:solidFill>
          <a:latin typeface="+mn-lt"/>
          <a:ea typeface="+mn-ea"/>
          <a:cs typeface="+mn-cs"/>
        </a:defRPr>
      </a:lvl6pPr>
      <a:lvl7pPr marL="2742531" algn="l" defTabSz="914177" rtl="0" eaLnBrk="1" latinLnBrk="0" hangingPunct="1">
        <a:defRPr sz="1800" kern="1200">
          <a:solidFill>
            <a:schemeClr val="tx1"/>
          </a:solidFill>
          <a:latin typeface="+mn-lt"/>
          <a:ea typeface="+mn-ea"/>
          <a:cs typeface="+mn-cs"/>
        </a:defRPr>
      </a:lvl7pPr>
      <a:lvl8pPr marL="3199619" algn="l" defTabSz="914177" rtl="0" eaLnBrk="1" latinLnBrk="0" hangingPunct="1">
        <a:defRPr sz="1800" kern="1200">
          <a:solidFill>
            <a:schemeClr val="tx1"/>
          </a:solidFill>
          <a:latin typeface="+mn-lt"/>
          <a:ea typeface="+mn-ea"/>
          <a:cs typeface="+mn-cs"/>
        </a:defRPr>
      </a:lvl8pPr>
      <a:lvl9pPr marL="3656707" algn="l" defTabSz="9141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k object 16"/>
          <p:cNvSpPr>
            <a:spLocks/>
          </p:cNvSpPr>
          <p:nvPr/>
        </p:nvSpPr>
        <p:spPr bwMode="auto">
          <a:xfrm>
            <a:off x="0" y="6850299"/>
            <a:ext cx="91440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22859">
            <a:solidFill>
              <a:srgbClr val="E76A8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852" eaLnBrk="0" fontAlgn="base" hangingPunct="0">
              <a:spcBef>
                <a:spcPct val="0"/>
              </a:spcBef>
              <a:spcAft>
                <a:spcPct val="0"/>
              </a:spcAft>
            </a:pPr>
            <a:endParaRPr lang="en-IN">
              <a:solidFill>
                <a:prstClr val="black"/>
              </a:solidFill>
              <a:ea typeface="ＭＳ Ｐゴシック" pitchFamily="34" charset="-128"/>
            </a:endParaRPr>
          </a:p>
        </p:txBody>
      </p:sp>
      <p:sp>
        <p:nvSpPr>
          <p:cNvPr id="1027" name="bk object 17"/>
          <p:cNvSpPr>
            <a:spLocks/>
          </p:cNvSpPr>
          <p:nvPr/>
        </p:nvSpPr>
        <p:spPr bwMode="auto">
          <a:xfrm>
            <a:off x="0" y="6836821"/>
            <a:ext cx="9131003" cy="0"/>
          </a:xfrm>
          <a:custGeom>
            <a:avLst/>
            <a:gdLst>
              <a:gd name="T0" fmla="*/ 0 w 20076160"/>
              <a:gd name="T1" fmla="*/ 20054456 w 20076160"/>
              <a:gd name="T2" fmla="*/ 0 60000 65536"/>
              <a:gd name="T3" fmla="*/ 0 60000 65536"/>
            </a:gdLst>
            <a:ahLst/>
            <a:cxnLst>
              <a:cxn ang="T2">
                <a:pos x="T0" y="0"/>
              </a:cxn>
              <a:cxn ang="T3">
                <a:pos x="T1" y="0"/>
              </a:cxn>
            </a:cxnLst>
            <a:rect l="0" t="0" r="r" b="b"/>
            <a:pathLst>
              <a:path w="20076160">
                <a:moveTo>
                  <a:pt x="0" y="0"/>
                </a:moveTo>
                <a:lnTo>
                  <a:pt x="20076037" y="0"/>
                </a:lnTo>
              </a:path>
            </a:pathLst>
          </a:custGeom>
          <a:noFill/>
          <a:ln w="22859">
            <a:solidFill>
              <a:srgbClr val="E76A8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852" eaLnBrk="0" fontAlgn="base" hangingPunct="0">
              <a:spcBef>
                <a:spcPct val="0"/>
              </a:spcBef>
              <a:spcAft>
                <a:spcPct val="0"/>
              </a:spcAft>
            </a:pPr>
            <a:endParaRPr lang="en-IN">
              <a:solidFill>
                <a:prstClr val="black"/>
              </a:solidFill>
              <a:ea typeface="ＭＳ Ｐゴシック" pitchFamily="34" charset="-128"/>
            </a:endParaRPr>
          </a:p>
        </p:txBody>
      </p:sp>
      <p:sp>
        <p:nvSpPr>
          <p:cNvPr id="1028" name="bk object 18"/>
          <p:cNvSpPr>
            <a:spLocks/>
          </p:cNvSpPr>
          <p:nvPr/>
        </p:nvSpPr>
        <p:spPr bwMode="auto">
          <a:xfrm>
            <a:off x="12997" y="28880"/>
            <a:ext cx="0" cy="6800240"/>
          </a:xfrm>
          <a:custGeom>
            <a:avLst/>
            <a:gdLst>
              <a:gd name="T0" fmla="*/ 0 h 11215370"/>
              <a:gd name="T1" fmla="*/ 11172270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218">
            <a:solidFill>
              <a:srgbClr val="E76A8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852" eaLnBrk="0" fontAlgn="base" hangingPunct="0">
              <a:spcBef>
                <a:spcPct val="0"/>
              </a:spcBef>
              <a:spcAft>
                <a:spcPct val="0"/>
              </a:spcAft>
            </a:pPr>
            <a:endParaRPr lang="en-IN">
              <a:solidFill>
                <a:prstClr val="black"/>
              </a:solidFill>
              <a:ea typeface="ＭＳ Ｐゴシック" pitchFamily="34" charset="-128"/>
            </a:endParaRPr>
          </a:p>
        </p:txBody>
      </p:sp>
      <p:sp>
        <p:nvSpPr>
          <p:cNvPr id="1029" name="bk object 19"/>
          <p:cNvSpPr>
            <a:spLocks/>
          </p:cNvSpPr>
          <p:nvPr/>
        </p:nvSpPr>
        <p:spPr bwMode="auto">
          <a:xfrm>
            <a:off x="0" y="14440"/>
            <a:ext cx="91440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46990">
            <a:solidFill>
              <a:srgbClr val="E76A8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852" eaLnBrk="0" fontAlgn="base" hangingPunct="0">
              <a:spcBef>
                <a:spcPct val="0"/>
              </a:spcBef>
              <a:spcAft>
                <a:spcPct val="0"/>
              </a:spcAft>
            </a:pPr>
            <a:endParaRPr lang="en-IN">
              <a:solidFill>
                <a:prstClr val="black"/>
              </a:solidFill>
              <a:ea typeface="ＭＳ Ｐゴシック" pitchFamily="34" charset="-128"/>
            </a:endParaRPr>
          </a:p>
        </p:txBody>
      </p:sp>
      <p:sp>
        <p:nvSpPr>
          <p:cNvPr id="1030" name="bk object 20"/>
          <p:cNvSpPr>
            <a:spLocks/>
          </p:cNvSpPr>
          <p:nvPr/>
        </p:nvSpPr>
        <p:spPr bwMode="auto">
          <a:xfrm>
            <a:off x="9131003" y="6829121"/>
            <a:ext cx="12997" cy="14440"/>
          </a:xfrm>
          <a:custGeom>
            <a:avLst/>
            <a:gdLst>
              <a:gd name="T0" fmla="*/ 0 w 28575"/>
              <a:gd name="T1" fmla="*/ 91776 h 22859"/>
              <a:gd name="T2" fmla="*/ 28061 w 28575"/>
              <a:gd name="T3" fmla="*/ 91776 h 22859"/>
              <a:gd name="T4" fmla="*/ 28061 w 28575"/>
              <a:gd name="T5" fmla="*/ 0 h 22859"/>
              <a:gd name="T6" fmla="*/ 0 w 28575"/>
              <a:gd name="T7" fmla="*/ 0 h 22859"/>
              <a:gd name="T8" fmla="*/ 0 w 28575"/>
              <a:gd name="T9" fmla="*/ 91776 h 228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75" h="22859">
                <a:moveTo>
                  <a:pt x="0" y="22856"/>
                </a:moveTo>
                <a:lnTo>
                  <a:pt x="28061" y="22856"/>
                </a:lnTo>
                <a:lnTo>
                  <a:pt x="28061" y="0"/>
                </a:lnTo>
                <a:lnTo>
                  <a:pt x="0" y="0"/>
                </a:lnTo>
                <a:lnTo>
                  <a:pt x="0" y="22856"/>
                </a:lnTo>
                <a:close/>
              </a:path>
            </a:pathLst>
          </a:custGeom>
          <a:solidFill>
            <a:srgbClr val="E76A81"/>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852" eaLnBrk="0" fontAlgn="base" hangingPunct="0">
              <a:spcBef>
                <a:spcPct val="0"/>
              </a:spcBef>
              <a:spcAft>
                <a:spcPct val="0"/>
              </a:spcAft>
            </a:pPr>
            <a:endParaRPr lang="en-IN">
              <a:solidFill>
                <a:prstClr val="black"/>
              </a:solidFill>
              <a:ea typeface="ＭＳ Ｐゴシック" pitchFamily="34" charset="-128"/>
            </a:endParaRPr>
          </a:p>
        </p:txBody>
      </p:sp>
      <p:sp>
        <p:nvSpPr>
          <p:cNvPr id="1031" name="bk object 21"/>
          <p:cNvSpPr>
            <a:spLocks/>
          </p:cNvSpPr>
          <p:nvPr/>
        </p:nvSpPr>
        <p:spPr bwMode="auto">
          <a:xfrm>
            <a:off x="9131003" y="28880"/>
            <a:ext cx="0" cy="6800240"/>
          </a:xfrm>
          <a:custGeom>
            <a:avLst/>
            <a:gdLst>
              <a:gd name="T0" fmla="*/ 0 h 11215370"/>
              <a:gd name="T1" fmla="*/ 11172270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176">
            <a:solidFill>
              <a:srgbClr val="E76A8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852" eaLnBrk="0" fontAlgn="base" hangingPunct="0">
              <a:spcBef>
                <a:spcPct val="0"/>
              </a:spcBef>
              <a:spcAft>
                <a:spcPct val="0"/>
              </a:spcAft>
            </a:pPr>
            <a:endParaRPr lang="en-IN">
              <a:solidFill>
                <a:prstClr val="black"/>
              </a:solidFill>
              <a:ea typeface="ＭＳ Ｐゴシック" pitchFamily="34" charset="-128"/>
            </a:endParaRPr>
          </a:p>
        </p:txBody>
      </p:sp>
      <p:sp>
        <p:nvSpPr>
          <p:cNvPr id="1032" name="Holder 2"/>
          <p:cNvSpPr>
            <a:spLocks noGrp="1"/>
          </p:cNvSpPr>
          <p:nvPr>
            <p:ph type="title"/>
          </p:nvPr>
        </p:nvSpPr>
        <p:spPr bwMode="auto">
          <a:xfrm>
            <a:off x="264269" y="247405"/>
            <a:ext cx="8615462"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smtClean="0"/>
          </a:p>
        </p:txBody>
      </p:sp>
      <p:sp>
        <p:nvSpPr>
          <p:cNvPr id="1033" name="Holder 3"/>
          <p:cNvSpPr>
            <a:spLocks noGrp="1"/>
          </p:cNvSpPr>
          <p:nvPr>
            <p:ph type="body" idx="1"/>
          </p:nvPr>
        </p:nvSpPr>
        <p:spPr bwMode="auto">
          <a:xfrm>
            <a:off x="1249141" y="1584541"/>
            <a:ext cx="664571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smtClean="0"/>
          </a:p>
        </p:txBody>
      </p:sp>
      <p:sp>
        <p:nvSpPr>
          <p:cNvPr id="4" name="Holder 4"/>
          <p:cNvSpPr>
            <a:spLocks noGrp="1"/>
          </p:cNvSpPr>
          <p:nvPr>
            <p:ph type="ftr" sz="quarter" idx="5"/>
          </p:nvPr>
        </p:nvSpPr>
        <p:spPr>
          <a:xfrm>
            <a:off x="3109134" y="6377632"/>
            <a:ext cx="2925733" cy="276999"/>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ea typeface="+mn-ea"/>
                <a:cs typeface="+mn-cs"/>
              </a:defRPr>
            </a:lvl1pPr>
          </a:lstStyle>
          <a:p>
            <a:pPr defTabSz="232852">
              <a:defRPr/>
            </a:pPr>
            <a:endParaRPr>
              <a:solidFill>
                <a:prstClr val="black">
                  <a:tint val="75000"/>
                </a:prstClr>
              </a:solidFill>
            </a:endParaRPr>
          </a:p>
        </p:txBody>
      </p:sp>
      <p:sp>
        <p:nvSpPr>
          <p:cNvPr id="5" name="Holder 5"/>
          <p:cNvSpPr>
            <a:spLocks noGrp="1"/>
          </p:cNvSpPr>
          <p:nvPr>
            <p:ph type="dt" sz="half" idx="6"/>
          </p:nvPr>
        </p:nvSpPr>
        <p:spPr>
          <a:xfrm>
            <a:off x="457056" y="6377632"/>
            <a:ext cx="2103322" cy="276999"/>
          </a:xfrm>
          <a:prstGeom prst="rect">
            <a:avLst/>
          </a:prstGeom>
        </p:spPr>
        <p:txBody>
          <a:bodyPr vert="horz" wrap="square" lIns="0" tIns="0" rIns="0" bIns="0" numCol="1" anchor="t" anchorCtr="0" compatLnSpc="1">
            <a:prstTxWarp prst="textNoShape">
              <a:avLst/>
            </a:prstTxWarp>
            <a:spAutoFit/>
          </a:bodyPr>
          <a:lstStyle>
            <a:lvl1pPr eaLnBrk="1" hangingPunct="1">
              <a:defRPr>
                <a:solidFill>
                  <a:srgbClr val="898989"/>
                </a:solidFill>
              </a:defRPr>
            </a:lvl1pPr>
          </a:lstStyle>
          <a:p>
            <a:pPr defTabSz="232852" fontAlgn="base">
              <a:spcBef>
                <a:spcPct val="0"/>
              </a:spcBef>
              <a:spcAft>
                <a:spcPct val="0"/>
              </a:spcAft>
              <a:defRPr/>
            </a:pPr>
            <a:fld id="{FA2DC633-AEC9-4E5B-8076-FAB06F2B4E97}" type="datetimeFigureOut">
              <a:rPr lang="en-US" altLang="en-US">
                <a:ea typeface="ＭＳ Ｐゴシック" pitchFamily="34" charset="-128"/>
              </a:rPr>
              <a:pPr defTabSz="232852" fontAlgn="base">
                <a:spcBef>
                  <a:spcPct val="0"/>
                </a:spcBef>
                <a:spcAft>
                  <a:spcPct val="0"/>
                </a:spcAft>
                <a:defRPr/>
              </a:pPr>
              <a:t>10/20/2020</a:t>
            </a:fld>
            <a:endParaRPr lang="en-US" altLang="en-US">
              <a:ea typeface="ＭＳ Ｐゴシック" pitchFamily="34" charset="-128"/>
            </a:endParaRPr>
          </a:p>
        </p:txBody>
      </p:sp>
      <p:sp>
        <p:nvSpPr>
          <p:cNvPr id="6" name="Holder 6"/>
          <p:cNvSpPr>
            <a:spLocks noGrp="1"/>
          </p:cNvSpPr>
          <p:nvPr>
            <p:ph type="sldNum" sz="quarter" idx="7"/>
          </p:nvPr>
        </p:nvSpPr>
        <p:spPr>
          <a:xfrm>
            <a:off x="6583622" y="6377632"/>
            <a:ext cx="2103322" cy="276999"/>
          </a:xfrm>
          <a:prstGeom prst="rect">
            <a:avLst/>
          </a:prstGeom>
        </p:spPr>
        <p:txBody>
          <a:bodyPr vert="horz" wrap="square" lIns="0" tIns="0" rIns="0" bIns="0" numCol="1" anchor="t" anchorCtr="0" compatLnSpc="1">
            <a:prstTxWarp prst="textNoShape">
              <a:avLst/>
            </a:prstTxWarp>
            <a:spAutoFit/>
          </a:bodyPr>
          <a:lstStyle>
            <a:lvl1pPr algn="r" eaLnBrk="1" hangingPunct="1">
              <a:defRPr>
                <a:solidFill>
                  <a:srgbClr val="898989"/>
                </a:solidFill>
              </a:defRPr>
            </a:lvl1pPr>
          </a:lstStyle>
          <a:p>
            <a:pPr defTabSz="232852" fontAlgn="base">
              <a:spcBef>
                <a:spcPct val="0"/>
              </a:spcBef>
              <a:spcAft>
                <a:spcPct val="0"/>
              </a:spcAft>
            </a:pPr>
            <a:fld id="{956F7155-1643-4394-A400-81A7AACE0EC6}" type="slidenum">
              <a:rPr lang="en-US" altLang="en-US">
                <a:ea typeface="ＭＳ Ｐゴシック" pitchFamily="34" charset="-128"/>
              </a:rPr>
              <a:pPr defTabSz="232852" fontAlgn="base">
                <a:spcBef>
                  <a:spcPct val="0"/>
                </a:spcBef>
                <a:spcAft>
                  <a:spcPct val="0"/>
                </a:spcAft>
              </a:pPr>
              <a:t>‹#›</a:t>
            </a:fld>
            <a:endParaRPr lang="en-US" altLang="en-US">
              <a:ea typeface="ＭＳ Ｐゴシック" pitchFamily="34" charset="-128"/>
            </a:endParaRPr>
          </a:p>
        </p:txBody>
      </p:sp>
    </p:spTree>
    <p:extLst>
      <p:ext uri="{BB962C8B-B14F-4D97-AF65-F5344CB8AC3E}">
        <p14:creationId xmlns:p14="http://schemas.microsoft.com/office/powerpoint/2010/main" xmlns="" val="32625936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ctr" rtl="0" eaLnBrk="0" fontAlgn="base" hangingPunct="0">
        <a:spcBef>
          <a:spcPct val="0"/>
        </a:spcBef>
        <a:spcAft>
          <a:spcPct val="0"/>
        </a:spcAft>
        <a:defRPr>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2pPr>
      <a:lvl3pPr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3pPr>
      <a:lvl4pPr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4pPr>
      <a:lvl5pPr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5pPr>
      <a:lvl6pPr marL="232852"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6pPr>
      <a:lvl7pPr marL="465704"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7pPr>
      <a:lvl8pPr marL="698556"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8pPr>
      <a:lvl9pPr marL="931408" algn="ctr" rtl="0" eaLnBrk="0" fontAlgn="base" hangingPunct="0">
        <a:spcBef>
          <a:spcPct val="0"/>
        </a:spcBef>
        <a:spcAft>
          <a:spcPct val="0"/>
        </a:spcAft>
        <a:defRPr>
          <a:solidFill>
            <a:schemeClr val="tx2"/>
          </a:solidFill>
          <a:latin typeface="Calibri" charset="0"/>
          <a:ea typeface="ＭＳ Ｐゴシック" charset="0"/>
          <a:cs typeface="ＭＳ Ｐゴシック" charset="0"/>
        </a:defRPr>
      </a:lvl9pPr>
    </p:titleStyle>
    <p:bodyStyle>
      <a:lvl1pPr marL="174639" indent="-174639" algn="l" rtl="0" eaLnBrk="0" fontAlgn="base" hangingPunct="0">
        <a:spcBef>
          <a:spcPct val="20000"/>
        </a:spcBef>
        <a:spcAft>
          <a:spcPct val="0"/>
        </a:spcAft>
        <a:defRPr>
          <a:solidFill>
            <a:schemeClr val="tx1"/>
          </a:solidFill>
          <a:latin typeface="+mn-lt"/>
          <a:ea typeface="ＭＳ Ｐゴシック" charset="0"/>
          <a:cs typeface="ＭＳ Ｐゴシック" charset="0"/>
        </a:defRPr>
      </a:lvl1pPr>
      <a:lvl2pPr marL="232852" algn="l" rtl="0" eaLnBrk="0" fontAlgn="base" hangingPunct="0">
        <a:spcBef>
          <a:spcPct val="20000"/>
        </a:spcBef>
        <a:spcAft>
          <a:spcPct val="0"/>
        </a:spcAft>
        <a:defRPr>
          <a:solidFill>
            <a:schemeClr val="tx1"/>
          </a:solidFill>
          <a:latin typeface="+mn-lt"/>
          <a:ea typeface="ＭＳ Ｐゴシック" charset="0"/>
          <a:cs typeface="+mn-cs"/>
        </a:defRPr>
      </a:lvl2pPr>
      <a:lvl3pPr marL="465704" algn="l" rtl="0" eaLnBrk="0" fontAlgn="base" hangingPunct="0">
        <a:spcBef>
          <a:spcPct val="20000"/>
        </a:spcBef>
        <a:spcAft>
          <a:spcPct val="0"/>
        </a:spcAft>
        <a:defRPr>
          <a:solidFill>
            <a:schemeClr val="tx1"/>
          </a:solidFill>
          <a:latin typeface="+mn-lt"/>
          <a:ea typeface="ＭＳ Ｐゴシック" charset="0"/>
          <a:cs typeface="+mn-cs"/>
        </a:defRPr>
      </a:lvl3pPr>
      <a:lvl4pPr marL="698556" algn="l" rtl="0" eaLnBrk="0" fontAlgn="base" hangingPunct="0">
        <a:spcBef>
          <a:spcPct val="20000"/>
        </a:spcBef>
        <a:spcAft>
          <a:spcPct val="0"/>
        </a:spcAft>
        <a:defRPr>
          <a:solidFill>
            <a:schemeClr val="tx1"/>
          </a:solidFill>
          <a:latin typeface="+mn-lt"/>
          <a:ea typeface="ＭＳ Ｐゴシック" charset="0"/>
          <a:cs typeface="+mn-cs"/>
        </a:defRPr>
      </a:lvl4pPr>
      <a:lvl5pPr marL="931408" algn="l" rtl="0" eaLnBrk="0" fontAlgn="base" hangingPunct="0">
        <a:spcBef>
          <a:spcPct val="20000"/>
        </a:spcBef>
        <a:spcAft>
          <a:spcPct val="0"/>
        </a:spcAft>
        <a:defRPr>
          <a:solidFill>
            <a:schemeClr val="tx1"/>
          </a:solidFill>
          <a:latin typeface="+mn-lt"/>
          <a:ea typeface="ＭＳ Ｐゴシック" charset="0"/>
          <a:cs typeface="+mn-cs"/>
        </a:defRPr>
      </a:lvl5pPr>
      <a:lvl6pPr marL="1164260">
        <a:defRPr>
          <a:latin typeface="+mn-lt"/>
          <a:ea typeface="+mn-ea"/>
          <a:cs typeface="+mn-cs"/>
        </a:defRPr>
      </a:lvl6pPr>
      <a:lvl7pPr marL="1397112">
        <a:defRPr>
          <a:latin typeface="+mn-lt"/>
          <a:ea typeface="+mn-ea"/>
          <a:cs typeface="+mn-cs"/>
        </a:defRPr>
      </a:lvl7pPr>
      <a:lvl8pPr marL="1629964">
        <a:defRPr>
          <a:latin typeface="+mn-lt"/>
          <a:ea typeface="+mn-ea"/>
          <a:cs typeface="+mn-cs"/>
        </a:defRPr>
      </a:lvl8pPr>
      <a:lvl9pPr marL="1862816">
        <a:defRPr>
          <a:latin typeface="+mn-lt"/>
          <a:ea typeface="+mn-ea"/>
          <a:cs typeface="+mn-cs"/>
        </a:defRPr>
      </a:lvl9pPr>
    </p:bodyStyle>
    <p:otherStyle>
      <a:lvl1pPr marL="0">
        <a:defRPr>
          <a:latin typeface="+mn-lt"/>
          <a:ea typeface="+mn-ea"/>
          <a:cs typeface="+mn-cs"/>
        </a:defRPr>
      </a:lvl1pPr>
      <a:lvl2pPr marL="232852">
        <a:defRPr>
          <a:latin typeface="+mn-lt"/>
          <a:ea typeface="+mn-ea"/>
          <a:cs typeface="+mn-cs"/>
        </a:defRPr>
      </a:lvl2pPr>
      <a:lvl3pPr marL="465704">
        <a:defRPr>
          <a:latin typeface="+mn-lt"/>
          <a:ea typeface="+mn-ea"/>
          <a:cs typeface="+mn-cs"/>
        </a:defRPr>
      </a:lvl3pPr>
      <a:lvl4pPr marL="698556">
        <a:defRPr>
          <a:latin typeface="+mn-lt"/>
          <a:ea typeface="+mn-ea"/>
          <a:cs typeface="+mn-cs"/>
        </a:defRPr>
      </a:lvl4pPr>
      <a:lvl5pPr marL="931408">
        <a:defRPr>
          <a:latin typeface="+mn-lt"/>
          <a:ea typeface="+mn-ea"/>
          <a:cs typeface="+mn-cs"/>
        </a:defRPr>
      </a:lvl5pPr>
      <a:lvl6pPr marL="1164260">
        <a:defRPr>
          <a:latin typeface="+mn-lt"/>
          <a:ea typeface="+mn-ea"/>
          <a:cs typeface="+mn-cs"/>
        </a:defRPr>
      </a:lvl6pPr>
      <a:lvl7pPr marL="1397112">
        <a:defRPr>
          <a:latin typeface="+mn-lt"/>
          <a:ea typeface="+mn-ea"/>
          <a:cs typeface="+mn-cs"/>
        </a:defRPr>
      </a:lvl7pPr>
      <a:lvl8pPr marL="1629964">
        <a:defRPr>
          <a:latin typeface="+mn-lt"/>
          <a:ea typeface="+mn-ea"/>
          <a:cs typeface="+mn-cs"/>
        </a:defRPr>
      </a:lvl8pPr>
      <a:lvl9pPr marL="186281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326" y="-30805"/>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a:defRPr/>
            </a:pPr>
            <a:endParaRPr lang="en-IN" dirty="0">
              <a:solidFill>
                <a:srgbClr val="FFFFFF"/>
              </a:solidFill>
            </a:endParaRPr>
          </a:p>
        </p:txBody>
      </p:sp>
      <p:sp>
        <p:nvSpPr>
          <p:cNvPr id="7171" name="object 2"/>
          <p:cNvSpPr txBox="1">
            <a:spLocks noChangeArrowheads="1"/>
          </p:cNvSpPr>
          <p:nvPr/>
        </p:nvSpPr>
        <p:spPr bwMode="auto">
          <a:xfrm>
            <a:off x="1054188" y="3193148"/>
            <a:ext cx="7538168" cy="13908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5820" rIns="0" bIns="0">
            <a:spAutoFit/>
          </a:bodyPr>
          <a:lstStyle>
            <a:lvl1pPr marL="12700">
              <a:tabLst>
                <a:tab pos="3514725" algn="l"/>
              </a:tabLst>
              <a:defRPr>
                <a:solidFill>
                  <a:schemeClr val="tx1"/>
                </a:solidFill>
                <a:latin typeface="Calibri" pitchFamily="34" charset="0"/>
                <a:ea typeface="ＭＳ Ｐゴシック" pitchFamily="34" charset="-128"/>
              </a:defRPr>
            </a:lvl1pPr>
            <a:lvl2pPr marL="742950" indent="-285750">
              <a:tabLst>
                <a:tab pos="3514725" algn="l"/>
              </a:tabLst>
              <a:defRPr>
                <a:solidFill>
                  <a:schemeClr val="tx1"/>
                </a:solidFill>
                <a:latin typeface="Calibri" pitchFamily="34" charset="0"/>
                <a:ea typeface="ＭＳ Ｐゴシック" pitchFamily="34" charset="-128"/>
              </a:defRPr>
            </a:lvl2pPr>
            <a:lvl3pPr marL="1143000" indent="-228600">
              <a:tabLst>
                <a:tab pos="3514725" algn="l"/>
              </a:tabLst>
              <a:defRPr>
                <a:solidFill>
                  <a:schemeClr val="tx1"/>
                </a:solidFill>
                <a:latin typeface="Calibri" pitchFamily="34" charset="0"/>
                <a:ea typeface="ＭＳ Ｐゴシック" pitchFamily="34" charset="-128"/>
              </a:defRPr>
            </a:lvl3pPr>
            <a:lvl4pPr marL="1600200" indent="-228600">
              <a:tabLst>
                <a:tab pos="3514725" algn="l"/>
              </a:tabLst>
              <a:defRPr>
                <a:solidFill>
                  <a:schemeClr val="tx1"/>
                </a:solidFill>
                <a:latin typeface="Calibri" pitchFamily="34" charset="0"/>
                <a:ea typeface="ＭＳ Ｐゴシック" pitchFamily="34" charset="-128"/>
              </a:defRPr>
            </a:lvl4pPr>
            <a:lvl5pPr marL="2057400" indent="-228600">
              <a:tabLst>
                <a:tab pos="35147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35147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35147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35147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3514725" algn="l"/>
              </a:tabLst>
              <a:defRPr>
                <a:solidFill>
                  <a:schemeClr val="tx1"/>
                </a:solidFill>
                <a:latin typeface="Calibri" pitchFamily="34" charset="0"/>
                <a:ea typeface="ＭＳ Ｐゴシック" pitchFamily="34" charset="-128"/>
              </a:defRPr>
            </a:lvl9pPr>
          </a:lstStyle>
          <a:p>
            <a:pPr algn="ctr">
              <a:spcBef>
                <a:spcPts val="45"/>
              </a:spcBef>
            </a:pPr>
            <a:r>
              <a:rPr lang="en-US" altLang="en-US" sz="3100" dirty="0">
                <a:solidFill>
                  <a:srgbClr val="005893"/>
                </a:solidFill>
                <a:latin typeface="Playfair Display" charset="0"/>
              </a:rPr>
              <a:t>Unit 4- Traditional Block Cipher and Public key Cryptosystem</a:t>
            </a:r>
          </a:p>
          <a:p>
            <a:pPr algn="ctr">
              <a:spcBef>
                <a:spcPts val="45"/>
              </a:spcBef>
            </a:pPr>
            <a:endParaRPr lang="en-US" altLang="en-US" sz="1400" dirty="0">
              <a:solidFill>
                <a:srgbClr val="005893"/>
              </a:solidFill>
              <a:latin typeface="Helvetica-Bold" charset="0"/>
            </a:endParaRPr>
          </a:p>
          <a:p>
            <a:pPr algn="ctr">
              <a:spcBef>
                <a:spcPts val="45"/>
              </a:spcBef>
            </a:pPr>
            <a:endParaRPr lang="en-US" altLang="en-US" sz="1400" dirty="0">
              <a:solidFill>
                <a:srgbClr val="005893"/>
              </a:solidFill>
              <a:latin typeface="Helvetica-Bold" charset="0"/>
            </a:endParaRPr>
          </a:p>
        </p:txBody>
      </p:sp>
      <p:sp>
        <p:nvSpPr>
          <p:cNvPr id="7172" name="object 3"/>
          <p:cNvSpPr>
            <a:spLocks/>
          </p:cNvSpPr>
          <p:nvPr/>
        </p:nvSpPr>
        <p:spPr bwMode="auto">
          <a:xfrm>
            <a:off x="-2888" y="9627"/>
            <a:ext cx="4265130" cy="3927659"/>
          </a:xfrm>
          <a:custGeom>
            <a:avLst/>
            <a:gdLst>
              <a:gd name="T0" fmla="*/ 2147483646 w 7436484"/>
              <a:gd name="T1" fmla="*/ 0 h 5134610"/>
              <a:gd name="T2" fmla="*/ 0 w 7436484"/>
              <a:gd name="T3" fmla="*/ 0 h 5134610"/>
              <a:gd name="T4" fmla="*/ 0 w 7436484"/>
              <a:gd name="T5" fmla="*/ 2147483646 h 5134610"/>
              <a:gd name="T6" fmla="*/ 2147483646 w 7436484"/>
              <a:gd name="T7" fmla="*/ 0 h 51346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36484" h="5134610">
                <a:moveTo>
                  <a:pt x="7435941" y="0"/>
                </a:moveTo>
                <a:lnTo>
                  <a:pt x="0" y="0"/>
                </a:lnTo>
                <a:lnTo>
                  <a:pt x="0" y="5134513"/>
                </a:lnTo>
                <a:lnTo>
                  <a:pt x="7435941" y="0"/>
                </a:lnTo>
                <a:close/>
              </a:path>
            </a:pathLst>
          </a:custGeom>
          <a:solidFill>
            <a:srgbClr val="005893"/>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endParaRPr lang="en-IN"/>
          </a:p>
        </p:txBody>
      </p:sp>
      <p:sp>
        <p:nvSpPr>
          <p:cNvPr id="7173" name="object 4"/>
          <p:cNvSpPr>
            <a:spLocks noChangeArrowheads="1"/>
          </p:cNvSpPr>
          <p:nvPr/>
        </p:nvSpPr>
        <p:spPr bwMode="auto">
          <a:xfrm>
            <a:off x="214448" y="252217"/>
            <a:ext cx="839740" cy="1116687"/>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eaLnBrk="1" hangingPunct="1"/>
            <a:endParaRPr lang="en-US" altLang="en-US"/>
          </a:p>
        </p:txBody>
      </p:sp>
      <p:sp>
        <p:nvSpPr>
          <p:cNvPr id="7174" name="object 5"/>
          <p:cNvSpPr>
            <a:spLocks noChangeArrowheads="1"/>
          </p:cNvSpPr>
          <p:nvPr/>
        </p:nvSpPr>
        <p:spPr bwMode="auto">
          <a:xfrm>
            <a:off x="2548825" y="810561"/>
            <a:ext cx="66428" cy="89528"/>
          </a:xfrm>
          <a:prstGeom prst="rect">
            <a:avLst/>
          </a:prstGeom>
          <a:blipFill dpi="0" rotWithShape="1">
            <a:blip r:embed="rId3"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eaLnBrk="1" hangingPunct="1"/>
            <a:endParaRPr lang="en-US" altLang="en-US"/>
          </a:p>
        </p:txBody>
      </p:sp>
      <p:sp>
        <p:nvSpPr>
          <p:cNvPr id="6" name="object 6"/>
          <p:cNvSpPr txBox="1"/>
          <p:nvPr/>
        </p:nvSpPr>
        <p:spPr>
          <a:xfrm>
            <a:off x="1140834" y="437048"/>
            <a:ext cx="1732912" cy="943010"/>
          </a:xfrm>
          <a:prstGeom prst="rect">
            <a:avLst/>
          </a:prstGeom>
        </p:spPr>
        <p:txBody>
          <a:bodyPr lIns="0" tIns="6790" rIns="0" bIns="0">
            <a:spAutoFit/>
          </a:bodyPr>
          <a:lstStyle/>
          <a:p>
            <a:pPr marL="6467">
              <a:lnSpc>
                <a:spcPts val="2391"/>
              </a:lnSpc>
              <a:spcBef>
                <a:spcPts val="53"/>
              </a:spcBef>
              <a:defRPr/>
            </a:pPr>
            <a:r>
              <a:rPr lang="en-IN" sz="2200" b="1" spc="-18" dirty="0">
                <a:solidFill>
                  <a:srgbClr val="FFFFFF"/>
                </a:solidFill>
                <a:latin typeface="Helvetica-Bold"/>
                <a:ea typeface="ＭＳ Ｐゴシック" charset="0"/>
                <a:cs typeface="Helvetica-Bold"/>
              </a:rPr>
              <a:t>RV College of </a:t>
            </a:r>
          </a:p>
          <a:p>
            <a:pPr marL="6467">
              <a:lnSpc>
                <a:spcPts val="2391"/>
              </a:lnSpc>
              <a:spcBef>
                <a:spcPts val="53"/>
              </a:spcBef>
              <a:defRPr/>
            </a:pPr>
            <a:r>
              <a:rPr lang="en-IN" sz="2200" b="1" spc="-18" dirty="0">
                <a:solidFill>
                  <a:srgbClr val="FFFFFF"/>
                </a:solidFill>
                <a:latin typeface="Helvetica-Bold"/>
                <a:ea typeface="ＭＳ Ｐゴシック" charset="0"/>
                <a:cs typeface="Helvetica-Bold"/>
              </a:rPr>
              <a:t>Engineering</a:t>
            </a:r>
            <a:endParaRPr sz="2200" dirty="0">
              <a:latin typeface="Helvetica-Bold"/>
              <a:ea typeface="ＭＳ Ｐゴシック" charset="0"/>
              <a:cs typeface="Helvetica-Bold"/>
            </a:endParaRPr>
          </a:p>
        </p:txBody>
      </p:sp>
      <p:sp>
        <p:nvSpPr>
          <p:cNvPr id="7" name="object 7"/>
          <p:cNvSpPr txBox="1"/>
          <p:nvPr/>
        </p:nvSpPr>
        <p:spPr>
          <a:xfrm>
            <a:off x="7330941" y="247405"/>
            <a:ext cx="1548790" cy="468195"/>
          </a:xfrm>
          <a:prstGeom prst="rect">
            <a:avLst/>
          </a:prstGeom>
        </p:spPr>
        <p:txBody>
          <a:bodyPr lIns="0" tIns="6467" rIns="0" bIns="0">
            <a:spAutoFit/>
          </a:bodyPr>
          <a:lstStyle/>
          <a:p>
            <a:pPr marL="6467">
              <a:spcBef>
                <a:spcPts val="51"/>
              </a:spcBef>
              <a:defRPr/>
            </a:pPr>
            <a:r>
              <a:rPr sz="1500" i="1" spc="-3" dirty="0">
                <a:solidFill>
                  <a:srgbClr val="422C75"/>
                </a:solidFill>
                <a:latin typeface="Playfair Display"/>
                <a:ea typeface="ＭＳ Ｐゴシック" charset="0"/>
                <a:cs typeface="Playfair Display"/>
              </a:rPr>
              <a:t>Go, change </a:t>
            </a:r>
            <a:r>
              <a:rPr sz="1500" i="1" dirty="0">
                <a:solidFill>
                  <a:srgbClr val="422C75"/>
                </a:solidFill>
                <a:latin typeface="Playfair Display"/>
                <a:ea typeface="ＭＳ Ｐゴシック" charset="0"/>
                <a:cs typeface="Playfair Display"/>
              </a:rPr>
              <a:t>the</a:t>
            </a:r>
            <a:r>
              <a:rPr sz="1500" i="1" spc="-41" dirty="0">
                <a:solidFill>
                  <a:srgbClr val="422C75"/>
                </a:solidFill>
                <a:latin typeface="Playfair Display"/>
                <a:ea typeface="ＭＳ Ｐゴシック" charset="0"/>
                <a:cs typeface="Playfair Display"/>
              </a:rPr>
              <a:t> </a:t>
            </a:r>
            <a:r>
              <a:rPr sz="1500" i="1" spc="-3" dirty="0">
                <a:solidFill>
                  <a:srgbClr val="422C75"/>
                </a:solidFill>
                <a:latin typeface="Playfair Display"/>
                <a:ea typeface="ＭＳ Ｐゴシック" charset="0"/>
                <a:cs typeface="Playfair Display"/>
              </a:rPr>
              <a:t>world</a:t>
            </a:r>
            <a:endParaRPr sz="1500" dirty="0">
              <a:latin typeface="Playfair Display"/>
              <a:ea typeface="ＭＳ Ｐゴシック" charset="0"/>
              <a:cs typeface="Playfair Display"/>
            </a:endParaRPr>
          </a:p>
        </p:txBody>
      </p:sp>
    </p:spTree>
    <p:extLst>
      <p:ext uri="{BB962C8B-B14F-4D97-AF65-F5344CB8AC3E}">
        <p14:creationId xmlns:p14="http://schemas.microsoft.com/office/powerpoint/2010/main" xmlns="" val="13043301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50819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altLang="en-US" dirty="0">
                <a:solidFill>
                  <a:prstClr val="black"/>
                </a:solidFill>
                <a:latin typeface="Times New Roman" pitchFamily="18" charset="0"/>
                <a:cs typeface="Times New Roman" pitchFamily="18" charset="0"/>
              </a:rPr>
              <a:t>Stream Ciphers and Block Ciphers, </a:t>
            </a:r>
            <a:r>
              <a:rPr lang="en-US" altLang="en-US" dirty="0" err="1">
                <a:solidFill>
                  <a:prstClr val="black"/>
                </a:solidFill>
                <a:latin typeface="Times New Roman" pitchFamily="18" charset="0"/>
                <a:cs typeface="Times New Roman" pitchFamily="18" charset="0"/>
              </a:rPr>
              <a:t>Feistel</a:t>
            </a:r>
            <a:r>
              <a:rPr lang="en-US" altLang="en-US" dirty="0">
                <a:solidFill>
                  <a:prstClr val="black"/>
                </a:solidFill>
                <a:latin typeface="Times New Roman" pitchFamily="18" charset="0"/>
                <a:cs typeface="Times New Roman" pitchFamily="18" charset="0"/>
              </a:rPr>
              <a:t> Cipher Structure. </a:t>
            </a:r>
            <a:endParaRPr lang="en-US" altLang="en-US" dirty="0" smtClean="0">
              <a:solidFill>
                <a:prstClr val="black"/>
              </a:solidFill>
              <a:latin typeface="Times New Roman" pitchFamily="18" charset="0"/>
              <a:cs typeface="Times New Roman" pitchFamily="18" charset="0"/>
            </a:endParaRPr>
          </a:p>
          <a:p>
            <a:pPr marL="263525" indent="-250825" defTabSz="232795" fontAlgn="base">
              <a:lnSpc>
                <a:spcPct val="200000"/>
              </a:lnSpc>
              <a:spcBef>
                <a:spcPts val="51"/>
              </a:spcBef>
              <a:spcAft>
                <a:spcPct val="0"/>
              </a:spcAft>
              <a:buFont typeface="Arial" pitchFamily="34" charset="0"/>
              <a:buChar char="•"/>
            </a:pPr>
            <a:r>
              <a:rPr lang="en-US" altLang="en-US" dirty="0" smtClean="0">
                <a:solidFill>
                  <a:prstClr val="black"/>
                </a:solidFill>
                <a:latin typeface="Times New Roman" pitchFamily="18" charset="0"/>
                <a:cs typeface="Times New Roman" pitchFamily="18" charset="0"/>
              </a:rPr>
              <a:t> </a:t>
            </a:r>
            <a:r>
              <a:rPr lang="en-US" altLang="en-US" dirty="0">
                <a:solidFill>
                  <a:prstClr val="black"/>
                </a:solidFill>
                <a:latin typeface="Times New Roman" pitchFamily="18" charset="0"/>
                <a:cs typeface="Times New Roman" pitchFamily="18" charset="0"/>
              </a:rPr>
              <a:t>The Data Encryption Standard-Encryption and Decryption</a:t>
            </a:r>
            <a:r>
              <a:rPr lang="en-US" altLang="en-US" dirty="0" smtClean="0">
                <a:solidFill>
                  <a:prstClr val="black"/>
                </a:solidFill>
                <a:latin typeface="Times New Roman" pitchFamily="18" charset="0"/>
                <a:cs typeface="Times New Roman" pitchFamily="18" charset="0"/>
              </a:rPr>
              <a:t>.</a:t>
            </a:r>
          </a:p>
          <a:p>
            <a:pPr marL="263525" indent="-250825" defTabSz="232795" fontAlgn="base">
              <a:lnSpc>
                <a:spcPct val="200000"/>
              </a:lnSpc>
              <a:spcBef>
                <a:spcPts val="51"/>
              </a:spcBef>
              <a:spcAft>
                <a:spcPct val="0"/>
              </a:spcAft>
              <a:buFont typeface="Arial" pitchFamily="34" charset="0"/>
              <a:buChar char="•"/>
            </a:pPr>
            <a:r>
              <a:rPr lang="en-US" altLang="en-US" dirty="0" smtClean="0">
                <a:solidFill>
                  <a:prstClr val="black"/>
                </a:solidFill>
                <a:latin typeface="Times New Roman" pitchFamily="18" charset="0"/>
                <a:cs typeface="Times New Roman" pitchFamily="18" charset="0"/>
              </a:rPr>
              <a:t> </a:t>
            </a:r>
            <a:r>
              <a:rPr lang="en-US" altLang="en-US" dirty="0">
                <a:solidFill>
                  <a:prstClr val="black"/>
                </a:solidFill>
                <a:latin typeface="Times New Roman" pitchFamily="18" charset="0"/>
                <a:cs typeface="Times New Roman" pitchFamily="18" charset="0"/>
              </a:rPr>
              <a:t>Principles of Public Cryptosystems- Public-Key </a:t>
            </a:r>
            <a:r>
              <a:rPr lang="en-US" altLang="en-US" dirty="0" smtClean="0">
                <a:solidFill>
                  <a:prstClr val="black"/>
                </a:solidFill>
                <a:latin typeface="Times New Roman" pitchFamily="18" charset="0"/>
                <a:cs typeface="Times New Roman" pitchFamily="18" charset="0"/>
              </a:rPr>
              <a:t>Cryptosystems.</a:t>
            </a:r>
          </a:p>
          <a:p>
            <a:pPr marL="263525" indent="-250825" defTabSz="232795" fontAlgn="base">
              <a:lnSpc>
                <a:spcPct val="200000"/>
              </a:lnSpc>
              <a:spcBef>
                <a:spcPts val="51"/>
              </a:spcBef>
              <a:spcAft>
                <a:spcPct val="0"/>
              </a:spcAft>
              <a:buFont typeface="Arial" pitchFamily="34" charset="0"/>
              <a:buChar char="•"/>
            </a:pPr>
            <a:r>
              <a:rPr lang="en-US" altLang="en-US" dirty="0" smtClean="0">
                <a:solidFill>
                  <a:prstClr val="black"/>
                </a:solidFill>
                <a:latin typeface="Times New Roman" pitchFamily="18" charset="0"/>
                <a:cs typeface="Times New Roman" pitchFamily="18" charset="0"/>
              </a:rPr>
              <a:t> </a:t>
            </a:r>
            <a:r>
              <a:rPr lang="en-US" altLang="en-US" dirty="0">
                <a:solidFill>
                  <a:prstClr val="black"/>
                </a:solidFill>
                <a:latin typeface="Times New Roman" pitchFamily="18" charset="0"/>
                <a:cs typeface="Times New Roman" pitchFamily="18" charset="0"/>
              </a:rPr>
              <a:t>Applications for Public-Key </a:t>
            </a:r>
            <a:r>
              <a:rPr lang="en-US" altLang="en-US" dirty="0" smtClean="0">
                <a:solidFill>
                  <a:prstClr val="black"/>
                </a:solidFill>
                <a:latin typeface="Times New Roman" pitchFamily="18" charset="0"/>
                <a:cs typeface="Times New Roman" pitchFamily="18" charset="0"/>
              </a:rPr>
              <a:t>Cryptosystems.</a:t>
            </a:r>
          </a:p>
          <a:p>
            <a:pPr marL="263525" indent="-250825" defTabSz="232795" fontAlgn="base">
              <a:lnSpc>
                <a:spcPct val="200000"/>
              </a:lnSpc>
              <a:spcBef>
                <a:spcPts val="51"/>
              </a:spcBef>
              <a:spcAft>
                <a:spcPct val="0"/>
              </a:spcAft>
              <a:buFont typeface="Arial" pitchFamily="34" charset="0"/>
              <a:buChar char="•"/>
            </a:pPr>
            <a:r>
              <a:rPr lang="en-US" altLang="en-US" dirty="0" smtClean="0">
                <a:solidFill>
                  <a:prstClr val="black"/>
                </a:solidFill>
                <a:latin typeface="Times New Roman" pitchFamily="18" charset="0"/>
                <a:cs typeface="Times New Roman" pitchFamily="18" charset="0"/>
              </a:rPr>
              <a:t> </a:t>
            </a:r>
            <a:r>
              <a:rPr lang="en-US" altLang="en-US" dirty="0">
                <a:solidFill>
                  <a:prstClr val="black"/>
                </a:solidFill>
                <a:latin typeface="Times New Roman" pitchFamily="18" charset="0"/>
                <a:cs typeface="Times New Roman" pitchFamily="18" charset="0"/>
              </a:rPr>
              <a:t>Requirements for Public-Key </a:t>
            </a:r>
            <a:r>
              <a:rPr lang="en-US" altLang="en-US" dirty="0" smtClean="0">
                <a:solidFill>
                  <a:prstClr val="black"/>
                </a:solidFill>
                <a:latin typeface="Times New Roman" pitchFamily="18" charset="0"/>
                <a:cs typeface="Times New Roman" pitchFamily="18" charset="0"/>
              </a:rPr>
              <a:t>Cryptosystems.</a:t>
            </a:r>
          </a:p>
          <a:p>
            <a:pPr marL="263525" indent="-250825" defTabSz="232795" fontAlgn="base">
              <a:lnSpc>
                <a:spcPct val="200000"/>
              </a:lnSpc>
              <a:spcBef>
                <a:spcPts val="51"/>
              </a:spcBef>
              <a:spcAft>
                <a:spcPct val="0"/>
              </a:spcAft>
              <a:buFont typeface="Arial" pitchFamily="34" charset="0"/>
              <a:buChar char="•"/>
            </a:pPr>
            <a:r>
              <a:rPr lang="en-US" altLang="en-US" dirty="0" smtClean="0">
                <a:solidFill>
                  <a:prstClr val="black"/>
                </a:solidFill>
                <a:latin typeface="Times New Roman" pitchFamily="18" charset="0"/>
                <a:cs typeface="Times New Roman" pitchFamily="18" charset="0"/>
              </a:rPr>
              <a:t> </a:t>
            </a:r>
            <a:r>
              <a:rPr lang="en-US" altLang="en-US" dirty="0">
                <a:solidFill>
                  <a:prstClr val="black"/>
                </a:solidFill>
                <a:latin typeface="Times New Roman" pitchFamily="18" charset="0"/>
                <a:cs typeface="Times New Roman" pitchFamily="18" charset="0"/>
              </a:rPr>
              <a:t>Public-Key Cryptanalysis</a:t>
            </a:r>
            <a:r>
              <a:rPr lang="en-US" altLang="en-US" dirty="0" smtClean="0">
                <a:solidFill>
                  <a:prstClr val="black"/>
                </a:solidFill>
                <a:latin typeface="Times New Roman" pitchFamily="18" charset="0"/>
                <a:cs typeface="Times New Roman" pitchFamily="18" charset="0"/>
              </a:rPr>
              <a:t>.</a:t>
            </a:r>
          </a:p>
          <a:p>
            <a:pPr marL="263525" indent="-250825" defTabSz="232795" fontAlgn="base">
              <a:lnSpc>
                <a:spcPct val="200000"/>
              </a:lnSpc>
              <a:spcBef>
                <a:spcPts val="51"/>
              </a:spcBef>
              <a:spcAft>
                <a:spcPct val="0"/>
              </a:spcAft>
              <a:buFont typeface="Arial" pitchFamily="34" charset="0"/>
              <a:buChar char="•"/>
            </a:pPr>
            <a:r>
              <a:rPr lang="en-US" altLang="en-US" dirty="0" smtClean="0">
                <a:solidFill>
                  <a:prstClr val="black"/>
                </a:solidFill>
                <a:latin typeface="Times New Roman" pitchFamily="18" charset="0"/>
                <a:cs typeface="Times New Roman" pitchFamily="18" charset="0"/>
              </a:rPr>
              <a:t> </a:t>
            </a:r>
            <a:r>
              <a:rPr lang="en-US" altLang="en-US" dirty="0">
                <a:solidFill>
                  <a:prstClr val="black"/>
                </a:solidFill>
                <a:latin typeface="Times New Roman" pitchFamily="18" charset="0"/>
                <a:cs typeface="Times New Roman" pitchFamily="18" charset="0"/>
              </a:rPr>
              <a:t>The RSA </a:t>
            </a:r>
            <a:r>
              <a:rPr lang="en-US" altLang="en-US" dirty="0" smtClean="0">
                <a:solidFill>
                  <a:prstClr val="black"/>
                </a:solidFill>
                <a:latin typeface="Times New Roman" pitchFamily="18" charset="0"/>
                <a:cs typeface="Times New Roman" pitchFamily="18" charset="0"/>
              </a:rPr>
              <a:t>algorithm-Algorithm and </a:t>
            </a:r>
            <a:r>
              <a:rPr lang="en-US" altLang="en-US" dirty="0">
                <a:solidFill>
                  <a:prstClr val="black"/>
                </a:solidFill>
                <a:latin typeface="Times New Roman" pitchFamily="18" charset="0"/>
                <a:cs typeface="Times New Roman" pitchFamily="18" charset="0"/>
              </a:rPr>
              <a:t>Computational </a:t>
            </a:r>
            <a:r>
              <a:rPr lang="en-US" altLang="en-US" dirty="0" smtClean="0">
                <a:solidFill>
                  <a:prstClr val="black"/>
                </a:solidFill>
                <a:latin typeface="Times New Roman" pitchFamily="18" charset="0"/>
                <a:cs typeface="Times New Roman" pitchFamily="18" charset="0"/>
              </a:rPr>
              <a:t>Aspects</a:t>
            </a:r>
            <a:r>
              <a:rPr lang="en-US" altLang="en-US" dirty="0">
                <a:solidFill>
                  <a:prstClr val="black"/>
                </a:solidFill>
                <a:latin typeface="Times New Roman" pitchFamily="18" charset="0"/>
                <a:cs typeface="Times New Roman" pitchFamily="18" charset="0"/>
              </a:rPr>
              <a:t> </a:t>
            </a:r>
            <a:r>
              <a:rPr lang="en-US" altLang="en-US" dirty="0" smtClean="0">
                <a:solidFill>
                  <a:prstClr val="black"/>
                </a:solidFill>
                <a:latin typeface="Times New Roman" pitchFamily="18" charset="0"/>
                <a:cs typeface="Times New Roman" pitchFamily="18" charset="0"/>
              </a:rPr>
              <a:t>and the </a:t>
            </a:r>
            <a:r>
              <a:rPr lang="en-US" altLang="en-US" dirty="0">
                <a:solidFill>
                  <a:prstClr val="black"/>
                </a:solidFill>
                <a:latin typeface="Times New Roman" pitchFamily="18" charset="0"/>
                <a:cs typeface="Times New Roman" pitchFamily="18" charset="0"/>
              </a:rPr>
              <a:t>security of </a:t>
            </a:r>
            <a:r>
              <a:rPr lang="en-US" altLang="en-US" dirty="0" smtClean="0">
                <a:solidFill>
                  <a:prstClr val="black"/>
                </a:solidFill>
                <a:latin typeface="Times New Roman" pitchFamily="18" charset="0"/>
                <a:cs typeface="Times New Roman" pitchFamily="18" charset="0"/>
              </a:rPr>
              <a:t>RSA.</a:t>
            </a:r>
          </a:p>
          <a:p>
            <a:pPr marL="263525" indent="-250825" defTabSz="232795" fontAlgn="base">
              <a:lnSpc>
                <a:spcPct val="200000"/>
              </a:lnSpc>
              <a:spcBef>
                <a:spcPts val="51"/>
              </a:spcBef>
              <a:spcAft>
                <a:spcPct val="0"/>
              </a:spcAft>
              <a:buFont typeface="Arial" pitchFamily="34" charset="0"/>
              <a:buChar char="•"/>
            </a:pPr>
            <a:r>
              <a:rPr lang="en-US" altLang="en-US" dirty="0" smtClean="0">
                <a:solidFill>
                  <a:prstClr val="black"/>
                </a:solidFill>
                <a:latin typeface="Times New Roman" pitchFamily="18" charset="0"/>
                <a:cs typeface="Times New Roman" pitchFamily="18" charset="0"/>
              </a:rPr>
              <a:t> </a:t>
            </a:r>
            <a:r>
              <a:rPr lang="en-US" altLang="en-US" dirty="0">
                <a:solidFill>
                  <a:prstClr val="black"/>
                </a:solidFill>
                <a:latin typeface="Times New Roman" pitchFamily="18" charset="0"/>
                <a:cs typeface="Times New Roman" pitchFamily="18" charset="0"/>
              </a:rPr>
              <a:t>Other Public key Cryptosystems: </a:t>
            </a:r>
            <a:r>
              <a:rPr lang="en-US" altLang="en-US" dirty="0" err="1">
                <a:solidFill>
                  <a:prstClr val="black"/>
                </a:solidFill>
                <a:latin typeface="Times New Roman" pitchFamily="18" charset="0"/>
                <a:cs typeface="Times New Roman" pitchFamily="18" charset="0"/>
              </a:rPr>
              <a:t>Diffie</a:t>
            </a:r>
            <a:r>
              <a:rPr lang="en-US" altLang="en-US" dirty="0">
                <a:solidFill>
                  <a:prstClr val="black"/>
                </a:solidFill>
                <a:latin typeface="Times New Roman" pitchFamily="18" charset="0"/>
                <a:cs typeface="Times New Roman" pitchFamily="18" charset="0"/>
              </a:rPr>
              <a:t>-Hellman Key Exchange.</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smtClean="0">
                <a:solidFill>
                  <a:prstClr val="black"/>
                </a:solidFill>
                <a:latin typeface="Times New Roman" pitchFamily="18" charset="0"/>
                <a:cs typeface="Times New Roman" pitchFamily="18" charset="0"/>
              </a:rPr>
              <a:t>Contents</a:t>
            </a:r>
            <a:endParaRPr lang="en-US" altLang="en-US" sz="2800" dirty="0">
              <a:solidFill>
                <a:prstClr val="black"/>
              </a:solidFill>
              <a:latin typeface="Times New Roman" pitchFamily="18" charset="0"/>
              <a:cs typeface="Times New Roman" pitchFamily="18" charset="0"/>
            </a:endParaRP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21433700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17590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altLang="en-US" sz="2000" dirty="0">
                <a:solidFill>
                  <a:prstClr val="black"/>
                </a:solidFill>
                <a:latin typeface="Times New Roman" pitchFamily="18" charset="0"/>
                <a:cs typeface="Times New Roman" pitchFamily="18" charset="0"/>
              </a:rPr>
              <a:t>Encryption Definition</a:t>
            </a:r>
            <a:r>
              <a:rPr lang="en-US" altLang="en-US" sz="2000" dirty="0" smtClean="0">
                <a:solidFill>
                  <a:prstClr val="black"/>
                </a:solidFill>
                <a:latin typeface="Times New Roman" pitchFamily="18" charset="0"/>
                <a:cs typeface="Times New Roman" pitchFamily="18" charset="0"/>
              </a:rPr>
              <a:t>: –</a:t>
            </a:r>
            <a:r>
              <a:rPr lang="en-US" altLang="en-US" sz="2000" dirty="0">
                <a:solidFill>
                  <a:prstClr val="black"/>
                </a:solidFill>
                <a:latin typeface="Times New Roman" pitchFamily="18" charset="0"/>
                <a:cs typeface="Times New Roman" pitchFamily="18" charset="0"/>
              </a:rPr>
              <a:t>The action of disguising </a:t>
            </a:r>
            <a:r>
              <a:rPr lang="en-US" altLang="en-US" sz="2000" dirty="0" smtClean="0">
                <a:solidFill>
                  <a:prstClr val="black"/>
                </a:solidFill>
                <a:latin typeface="Times New Roman" pitchFamily="18" charset="0"/>
                <a:cs typeface="Times New Roman" pitchFamily="18" charset="0"/>
              </a:rPr>
              <a:t>information so </a:t>
            </a:r>
            <a:r>
              <a:rPr lang="en-US" altLang="en-US" sz="2000" dirty="0">
                <a:solidFill>
                  <a:prstClr val="black"/>
                </a:solidFill>
                <a:latin typeface="Times New Roman" pitchFamily="18" charset="0"/>
                <a:cs typeface="Times New Roman" pitchFamily="18" charset="0"/>
              </a:rPr>
              <a:t>that it can be recovered easily </a:t>
            </a:r>
            <a:r>
              <a:rPr lang="en-US" altLang="en-US" sz="2000" dirty="0" smtClean="0">
                <a:solidFill>
                  <a:prstClr val="black"/>
                </a:solidFill>
                <a:latin typeface="Times New Roman" pitchFamily="18" charset="0"/>
                <a:cs typeface="Times New Roman" pitchFamily="18" charset="0"/>
              </a:rPr>
              <a:t>by the </a:t>
            </a:r>
            <a:r>
              <a:rPr lang="en-US" altLang="en-US" sz="2000" dirty="0">
                <a:solidFill>
                  <a:prstClr val="black"/>
                </a:solidFill>
                <a:latin typeface="Times New Roman" pitchFamily="18" charset="0"/>
                <a:cs typeface="Times New Roman" pitchFamily="18" charset="0"/>
              </a:rPr>
              <a:t>persons who have the key, but </a:t>
            </a:r>
            <a:r>
              <a:rPr lang="en-US" altLang="en-US" sz="2000" dirty="0" smtClean="0">
                <a:solidFill>
                  <a:prstClr val="black"/>
                </a:solidFill>
                <a:latin typeface="Times New Roman" pitchFamily="18" charset="0"/>
                <a:cs typeface="Times New Roman" pitchFamily="18" charset="0"/>
              </a:rPr>
              <a:t>is highly </a:t>
            </a:r>
            <a:r>
              <a:rPr lang="en-US" altLang="en-US" sz="2000" dirty="0">
                <a:solidFill>
                  <a:prstClr val="black"/>
                </a:solidFill>
                <a:latin typeface="Times New Roman" pitchFamily="18" charset="0"/>
                <a:cs typeface="Times New Roman" pitchFamily="18" charset="0"/>
              </a:rPr>
              <a:t>resistant </a:t>
            </a:r>
            <a:r>
              <a:rPr lang="en-US" altLang="en-US" sz="2000" dirty="0" smtClean="0">
                <a:solidFill>
                  <a:prstClr val="black"/>
                </a:solidFill>
                <a:latin typeface="Times New Roman" pitchFamily="18" charset="0"/>
                <a:cs typeface="Times New Roman" pitchFamily="18" charset="0"/>
              </a:rPr>
              <a:t>to </a:t>
            </a:r>
            <a:r>
              <a:rPr lang="en-US" altLang="en-US" sz="2000" dirty="0">
                <a:solidFill>
                  <a:prstClr val="black"/>
                </a:solidFill>
                <a:latin typeface="Times New Roman" pitchFamily="18" charset="0"/>
                <a:cs typeface="Times New Roman" pitchFamily="18" charset="0"/>
              </a:rPr>
              <a:t>recovery </a:t>
            </a:r>
            <a:r>
              <a:rPr lang="en-US" altLang="en-US" sz="2000" dirty="0" smtClean="0">
                <a:solidFill>
                  <a:prstClr val="black"/>
                </a:solidFill>
                <a:latin typeface="Times New Roman" pitchFamily="18" charset="0"/>
                <a:cs typeface="Times New Roman" pitchFamily="18" charset="0"/>
              </a:rPr>
              <a:t>by persons </a:t>
            </a:r>
            <a:r>
              <a:rPr lang="en-US" altLang="en-US" sz="2000" dirty="0">
                <a:solidFill>
                  <a:prstClr val="black"/>
                </a:solidFill>
                <a:latin typeface="Times New Roman" pitchFamily="18" charset="0"/>
                <a:cs typeface="Times New Roman" pitchFamily="18" charset="0"/>
              </a:rPr>
              <a:t>who do not have the key.</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941070" cy="6525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400" dirty="0">
                <a:solidFill>
                  <a:prstClr val="black"/>
                </a:solidFill>
                <a:latin typeface="Times New Roman" pitchFamily="18" charset="0"/>
                <a:cs typeface="Times New Roman" pitchFamily="18" charset="0"/>
              </a:rPr>
              <a:t>Stream Ciphers and Block Ciphers, </a:t>
            </a:r>
            <a:r>
              <a:rPr lang="en-US" altLang="en-US" sz="2400" dirty="0" err="1">
                <a:solidFill>
                  <a:prstClr val="black"/>
                </a:solidFill>
                <a:latin typeface="Times New Roman" pitchFamily="18" charset="0"/>
                <a:cs typeface="Times New Roman" pitchFamily="18" charset="0"/>
              </a:rPr>
              <a:t>Feistel</a:t>
            </a:r>
            <a:r>
              <a:rPr lang="en-US" altLang="en-US" sz="2400" dirty="0">
                <a:solidFill>
                  <a:prstClr val="black"/>
                </a:solidFill>
                <a:latin typeface="Times New Roman" pitchFamily="18" charset="0"/>
                <a:cs typeface="Times New Roman" pitchFamily="18" charset="0"/>
              </a:rPr>
              <a:t> Cipher Structure</a:t>
            </a:r>
            <a:r>
              <a:rPr lang="en-US" altLang="en-US" sz="2800" dirty="0">
                <a:solidFill>
                  <a:prstClr val="black"/>
                </a:solidFill>
                <a:latin typeface="Times New Roman" pitchFamily="18" charset="0"/>
                <a:cs typeface="Times New Roman" pitchFamily="18" charset="0"/>
              </a:rPr>
              <a:t>. </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02382" y="3438627"/>
            <a:ext cx="8172450" cy="31321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338048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65456" y="908720"/>
            <a:ext cx="7974284" cy="46741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altLang="en-US" sz="2000" dirty="0">
                <a:solidFill>
                  <a:prstClr val="black"/>
                </a:solidFill>
                <a:latin typeface="Times New Roman" pitchFamily="18" charset="0"/>
                <a:cs typeface="Times New Roman" pitchFamily="18" charset="0"/>
              </a:rPr>
              <a:t>A message is </a:t>
            </a:r>
            <a:r>
              <a:rPr lang="en-US" altLang="en-US" sz="2000" dirty="0" err="1">
                <a:solidFill>
                  <a:prstClr val="black"/>
                </a:solidFill>
                <a:latin typeface="Times New Roman" pitchFamily="18" charset="0"/>
                <a:cs typeface="Times New Roman" pitchFamily="18" charset="0"/>
              </a:rPr>
              <a:t>cleartext</a:t>
            </a:r>
            <a:r>
              <a:rPr lang="en-US" altLang="en-US" sz="2000" dirty="0">
                <a:solidFill>
                  <a:prstClr val="black"/>
                </a:solidFill>
                <a:latin typeface="Times New Roman" pitchFamily="18" charset="0"/>
                <a:cs typeface="Times New Roman" pitchFamily="18" charset="0"/>
              </a:rPr>
              <a:t> (plaintext) </a:t>
            </a:r>
            <a:r>
              <a:rPr lang="en-US" altLang="en-US" sz="2000" dirty="0" smtClean="0">
                <a:solidFill>
                  <a:prstClr val="black"/>
                </a:solidFill>
                <a:latin typeface="Times New Roman" pitchFamily="18" charset="0"/>
                <a:cs typeface="Times New Roman" pitchFamily="18" charset="0"/>
              </a:rPr>
              <a:t>is encrypted </a:t>
            </a:r>
            <a:r>
              <a:rPr lang="en-US" altLang="en-US" sz="2000" dirty="0">
                <a:solidFill>
                  <a:prstClr val="black"/>
                </a:solidFill>
                <a:latin typeface="Times New Roman" pitchFamily="18" charset="0"/>
                <a:cs typeface="Times New Roman" pitchFamily="18" charset="0"/>
              </a:rPr>
              <a:t>(disguised) through the use </a:t>
            </a:r>
            <a:r>
              <a:rPr lang="en-US" altLang="en-US" sz="2000" dirty="0" smtClean="0">
                <a:solidFill>
                  <a:prstClr val="black"/>
                </a:solidFill>
                <a:latin typeface="Times New Roman" pitchFamily="18" charset="0"/>
                <a:cs typeface="Times New Roman" pitchFamily="18" charset="0"/>
              </a:rPr>
              <a:t>of an </a:t>
            </a:r>
            <a:r>
              <a:rPr lang="en-US" altLang="en-US" sz="2000" dirty="0">
                <a:solidFill>
                  <a:prstClr val="black"/>
                </a:solidFill>
                <a:latin typeface="Times New Roman" pitchFamily="18" charset="0"/>
                <a:cs typeface="Times New Roman" pitchFamily="18" charset="0"/>
              </a:rPr>
              <a:t>encryption key to create a </a:t>
            </a:r>
            <a:r>
              <a:rPr lang="en-US" altLang="en-US" sz="2000" dirty="0" err="1">
                <a:solidFill>
                  <a:prstClr val="black"/>
                </a:solidFill>
                <a:latin typeface="Times New Roman" pitchFamily="18" charset="0"/>
                <a:cs typeface="Times New Roman" pitchFamily="18" charset="0"/>
              </a:rPr>
              <a:t>Ciphertext</a:t>
            </a:r>
            <a:r>
              <a:rPr lang="en-US" altLang="en-US" sz="2000" dirty="0" smtClean="0">
                <a:solidFill>
                  <a:prstClr val="black"/>
                </a:solidFill>
                <a:latin typeface="Times New Roman" pitchFamily="18" charset="0"/>
                <a:cs typeface="Times New Roman" pitchFamily="18" charset="0"/>
              </a:rPr>
              <a:t>.</a:t>
            </a:r>
          </a:p>
          <a:p>
            <a:pPr marL="263525" indent="-250825" defTabSz="232795" fontAlgn="base">
              <a:lnSpc>
                <a:spcPct val="150000"/>
              </a:lnSpc>
              <a:spcBef>
                <a:spcPts val="51"/>
              </a:spcBef>
              <a:spcAft>
                <a:spcPct val="0"/>
              </a:spcAft>
              <a:buFont typeface="Arial" pitchFamily="34" charset="0"/>
              <a:buChar char="•"/>
            </a:pPr>
            <a:r>
              <a:rPr lang="en-US" altLang="en-US" sz="2000" dirty="0">
                <a:solidFill>
                  <a:prstClr val="black"/>
                </a:solidFill>
                <a:latin typeface="Times New Roman" pitchFamily="18" charset="0"/>
                <a:cs typeface="Times New Roman" pitchFamily="18" charset="0"/>
              </a:rPr>
              <a:t>The encryption key may be changed from time </a:t>
            </a:r>
            <a:r>
              <a:rPr lang="en-US" altLang="en-US" sz="2000" dirty="0" smtClean="0">
                <a:solidFill>
                  <a:prstClr val="black"/>
                </a:solidFill>
                <a:latin typeface="Times New Roman" pitchFamily="18" charset="0"/>
                <a:cs typeface="Times New Roman" pitchFamily="18" charset="0"/>
              </a:rPr>
              <a:t>to time </a:t>
            </a:r>
            <a:r>
              <a:rPr lang="en-US" altLang="en-US" sz="2000" dirty="0">
                <a:solidFill>
                  <a:prstClr val="black"/>
                </a:solidFill>
                <a:latin typeface="Times New Roman" pitchFamily="18" charset="0"/>
                <a:cs typeface="Times New Roman" pitchFamily="18" charset="0"/>
              </a:rPr>
              <a:t>to make an intruder’s task more difficult.</a:t>
            </a:r>
          </a:p>
          <a:p>
            <a:pPr marL="263525" indent="-250825" defTabSz="232795" fontAlgn="base">
              <a:lnSpc>
                <a:spcPct val="15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 </a:t>
            </a:r>
            <a:r>
              <a:rPr lang="en-US" altLang="en-US" sz="2000" dirty="0">
                <a:solidFill>
                  <a:prstClr val="black"/>
                </a:solidFill>
                <a:latin typeface="Times New Roman" pitchFamily="18" charset="0"/>
                <a:cs typeface="Times New Roman" pitchFamily="18" charset="0"/>
              </a:rPr>
              <a:t>Restoration of a </a:t>
            </a:r>
            <a:r>
              <a:rPr lang="en-US" altLang="en-US" sz="2000" dirty="0" err="1">
                <a:solidFill>
                  <a:prstClr val="black"/>
                </a:solidFill>
                <a:latin typeface="Times New Roman" pitchFamily="18" charset="0"/>
                <a:cs typeface="Times New Roman" pitchFamily="18" charset="0"/>
              </a:rPr>
              <a:t>ciphertext</a:t>
            </a:r>
            <a:r>
              <a:rPr lang="en-US" altLang="en-US" sz="2000" dirty="0">
                <a:solidFill>
                  <a:prstClr val="black"/>
                </a:solidFill>
                <a:latin typeface="Times New Roman" pitchFamily="18" charset="0"/>
                <a:cs typeface="Times New Roman" pitchFamily="18" charset="0"/>
              </a:rPr>
              <a:t> to </a:t>
            </a:r>
            <a:r>
              <a:rPr lang="en-US" altLang="en-US" sz="2000" dirty="0" err="1">
                <a:solidFill>
                  <a:prstClr val="black"/>
                </a:solidFill>
                <a:latin typeface="Times New Roman" pitchFamily="18" charset="0"/>
                <a:cs typeface="Times New Roman" pitchFamily="18" charset="0"/>
              </a:rPr>
              <a:t>cleartext</a:t>
            </a:r>
            <a:r>
              <a:rPr lang="en-US" altLang="en-US" sz="2000" dirty="0">
                <a:solidFill>
                  <a:prstClr val="black"/>
                </a:solidFill>
                <a:latin typeface="Times New Roman" pitchFamily="18" charset="0"/>
                <a:cs typeface="Times New Roman" pitchFamily="18" charset="0"/>
              </a:rPr>
              <a:t> is </a:t>
            </a:r>
            <a:r>
              <a:rPr lang="en-US" altLang="en-US" sz="2000" dirty="0" smtClean="0">
                <a:solidFill>
                  <a:prstClr val="black"/>
                </a:solidFill>
                <a:latin typeface="Times New Roman" pitchFamily="18" charset="0"/>
                <a:cs typeface="Times New Roman" pitchFamily="18" charset="0"/>
              </a:rPr>
              <a:t>achieved by </a:t>
            </a:r>
            <a:r>
              <a:rPr lang="en-US" altLang="en-US" sz="2000" dirty="0">
                <a:solidFill>
                  <a:prstClr val="black"/>
                </a:solidFill>
                <a:latin typeface="Times New Roman" pitchFamily="18" charset="0"/>
                <a:cs typeface="Times New Roman" pitchFamily="18" charset="0"/>
              </a:rPr>
              <a:t>the action of decryption using a </a:t>
            </a:r>
            <a:r>
              <a:rPr lang="en-US" altLang="en-US" sz="2000" dirty="0" smtClean="0">
                <a:solidFill>
                  <a:prstClr val="black"/>
                </a:solidFill>
                <a:latin typeface="Times New Roman" pitchFamily="18" charset="0"/>
                <a:cs typeface="Times New Roman" pitchFamily="18" charset="0"/>
              </a:rPr>
              <a:t>decryption key</a:t>
            </a:r>
            <a:r>
              <a:rPr lang="en-US" altLang="en-US" sz="2000" dirty="0">
                <a:solidFill>
                  <a:prstClr val="black"/>
                </a:solidFill>
                <a:latin typeface="Times New Roman" pitchFamily="18" charset="0"/>
                <a:cs typeface="Times New Roman" pitchFamily="18" charset="0"/>
              </a:rPr>
              <a:t>.</a:t>
            </a:r>
          </a:p>
          <a:p>
            <a:pPr marL="263525" indent="-250825" defTabSz="232795" fontAlgn="base">
              <a:lnSpc>
                <a:spcPct val="15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In </a:t>
            </a:r>
            <a:r>
              <a:rPr lang="en-US" altLang="en-US" sz="2000" dirty="0">
                <a:solidFill>
                  <a:prstClr val="black"/>
                </a:solidFill>
                <a:latin typeface="Times New Roman" pitchFamily="18" charset="0"/>
                <a:cs typeface="Times New Roman" pitchFamily="18" charset="0"/>
              </a:rPr>
              <a:t>symmetric (Single key) - The encryption </a:t>
            </a:r>
            <a:r>
              <a:rPr lang="en-US" altLang="en-US" sz="2000" dirty="0" smtClean="0">
                <a:solidFill>
                  <a:prstClr val="black"/>
                </a:solidFill>
                <a:latin typeface="Times New Roman" pitchFamily="18" charset="0"/>
                <a:cs typeface="Times New Roman" pitchFamily="18" charset="0"/>
              </a:rPr>
              <a:t>and decryption </a:t>
            </a:r>
            <a:r>
              <a:rPr lang="en-US" altLang="en-US" sz="2000" dirty="0">
                <a:solidFill>
                  <a:prstClr val="black"/>
                </a:solidFill>
                <a:latin typeface="Times New Roman" pitchFamily="18" charset="0"/>
                <a:cs typeface="Times New Roman" pitchFamily="18" charset="0"/>
              </a:rPr>
              <a:t>keys are the same.</a:t>
            </a:r>
          </a:p>
          <a:p>
            <a:pPr marL="263525" indent="-250825" defTabSz="232795" fontAlgn="base">
              <a:lnSpc>
                <a:spcPct val="15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 </a:t>
            </a:r>
            <a:r>
              <a:rPr lang="en-US" altLang="en-US" sz="2000" dirty="0">
                <a:solidFill>
                  <a:prstClr val="black"/>
                </a:solidFill>
                <a:latin typeface="Times New Roman" pitchFamily="18" charset="0"/>
                <a:cs typeface="Times New Roman" pitchFamily="18" charset="0"/>
              </a:rPr>
              <a:t>In asymmetric (two keys) - The encryption </a:t>
            </a:r>
            <a:r>
              <a:rPr lang="en-US" altLang="en-US" sz="2000" dirty="0" smtClean="0">
                <a:solidFill>
                  <a:prstClr val="black"/>
                </a:solidFill>
                <a:latin typeface="Times New Roman" pitchFamily="18" charset="0"/>
                <a:cs typeface="Times New Roman" pitchFamily="18" charset="0"/>
              </a:rPr>
              <a:t>and decryption </a:t>
            </a:r>
            <a:r>
              <a:rPr lang="en-US" altLang="en-US" sz="2000" dirty="0">
                <a:solidFill>
                  <a:prstClr val="black"/>
                </a:solidFill>
                <a:latin typeface="Times New Roman" pitchFamily="18" charset="0"/>
                <a:cs typeface="Times New Roman" pitchFamily="18" charset="0"/>
              </a:rPr>
              <a:t>keys are different.</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3622990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3535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altLang="en-US" sz="2000" dirty="0">
                <a:solidFill>
                  <a:prstClr val="black"/>
                </a:solidFill>
                <a:latin typeface="Times New Roman" pitchFamily="18" charset="0"/>
                <a:cs typeface="Times New Roman" pitchFamily="18" charset="0"/>
              </a:rPr>
              <a:t>Encryption Methods - Encryption is </a:t>
            </a:r>
            <a:r>
              <a:rPr lang="en-US" altLang="en-US" sz="2000" dirty="0" smtClean="0">
                <a:solidFill>
                  <a:prstClr val="black"/>
                </a:solidFill>
                <a:latin typeface="Times New Roman" pitchFamily="18" charset="0"/>
                <a:cs typeface="Times New Roman" pitchFamily="18" charset="0"/>
              </a:rPr>
              <a:t>accomplished by </a:t>
            </a:r>
            <a:r>
              <a:rPr lang="en-US" altLang="en-US" sz="2000" dirty="0">
                <a:solidFill>
                  <a:prstClr val="black"/>
                </a:solidFill>
                <a:latin typeface="Times New Roman" pitchFamily="18" charset="0"/>
                <a:cs typeface="Times New Roman" pitchFamily="18" charset="0"/>
              </a:rPr>
              <a:t>scrambling the bits, characters, words, </a:t>
            </a:r>
            <a:r>
              <a:rPr lang="en-US" altLang="en-US" sz="2000" dirty="0" smtClean="0">
                <a:solidFill>
                  <a:prstClr val="black"/>
                </a:solidFill>
                <a:latin typeface="Times New Roman" pitchFamily="18" charset="0"/>
                <a:cs typeface="Times New Roman" pitchFamily="18" charset="0"/>
              </a:rPr>
              <a:t>or phrases </a:t>
            </a:r>
            <a:r>
              <a:rPr lang="en-US" altLang="en-US" sz="2000" dirty="0">
                <a:solidFill>
                  <a:prstClr val="black"/>
                </a:solidFill>
                <a:latin typeface="Times New Roman" pitchFamily="18" charset="0"/>
                <a:cs typeface="Times New Roman" pitchFamily="18" charset="0"/>
              </a:rPr>
              <a:t>in the original message. </a:t>
            </a:r>
            <a:endParaRPr lang="en-US" altLang="en-US" sz="2000" dirty="0" smtClean="0">
              <a:solidFill>
                <a:prstClr val="black"/>
              </a:solidFill>
              <a:latin typeface="Times New Roman" pitchFamily="18" charset="0"/>
              <a:cs typeface="Times New Roman" pitchFamily="18" charset="0"/>
            </a:endParaRP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Scrambling involves </a:t>
            </a:r>
            <a:r>
              <a:rPr lang="en-US" altLang="en-US" sz="2000" dirty="0">
                <a:solidFill>
                  <a:prstClr val="black"/>
                </a:solidFill>
                <a:latin typeface="Times New Roman" pitchFamily="18" charset="0"/>
                <a:cs typeface="Times New Roman" pitchFamily="18" charset="0"/>
              </a:rPr>
              <a:t>two activities:</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Transposition </a:t>
            </a:r>
            <a:r>
              <a:rPr lang="en-US" altLang="en-US" sz="2000" dirty="0">
                <a:solidFill>
                  <a:prstClr val="black"/>
                </a:solidFill>
                <a:latin typeface="Times New Roman" pitchFamily="18" charset="0"/>
                <a:cs typeface="Times New Roman" pitchFamily="18" charset="0"/>
              </a:rPr>
              <a:t>- In which the order of the </a:t>
            </a:r>
            <a:r>
              <a:rPr lang="en-US" altLang="en-US" sz="2000" dirty="0" smtClean="0">
                <a:solidFill>
                  <a:prstClr val="black"/>
                </a:solidFill>
                <a:latin typeface="Times New Roman" pitchFamily="18" charset="0"/>
                <a:cs typeface="Times New Roman" pitchFamily="18" charset="0"/>
              </a:rPr>
              <a:t>bits patterns</a:t>
            </a:r>
            <a:r>
              <a:rPr lang="en-US" altLang="en-US" sz="2000" dirty="0">
                <a:solidFill>
                  <a:prstClr val="black"/>
                </a:solidFill>
                <a:latin typeface="Times New Roman" pitchFamily="18" charset="0"/>
                <a:cs typeface="Times New Roman" pitchFamily="18" charset="0"/>
              </a:rPr>
              <a:t>, characters, words or phrases </a:t>
            </a:r>
            <a:r>
              <a:rPr lang="en-US" altLang="en-US" sz="2000" dirty="0" smtClean="0">
                <a:solidFill>
                  <a:prstClr val="black"/>
                </a:solidFill>
                <a:latin typeface="Times New Roman" pitchFamily="18" charset="0"/>
                <a:cs typeface="Times New Roman" pitchFamily="18" charset="0"/>
              </a:rPr>
              <a:t>is rearranged</a:t>
            </a:r>
            <a:r>
              <a:rPr lang="en-US" altLang="en-US" sz="2000" dirty="0">
                <a:solidFill>
                  <a:prstClr val="black"/>
                </a:solidFill>
                <a:latin typeface="Times New Roman" pitchFamily="18" charset="0"/>
                <a:cs typeface="Times New Roman" pitchFamily="18" charset="0"/>
              </a:rPr>
              <a:t>.</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Substitution </a:t>
            </a:r>
            <a:r>
              <a:rPr lang="en-US" altLang="en-US" sz="2000" dirty="0">
                <a:solidFill>
                  <a:prstClr val="black"/>
                </a:solidFill>
                <a:latin typeface="Times New Roman" pitchFamily="18" charset="0"/>
                <a:cs typeface="Times New Roman" pitchFamily="18" charset="0"/>
              </a:rPr>
              <a:t>- In which new bit patterns</a:t>
            </a:r>
            <a:r>
              <a:rPr lang="en-US" altLang="en-US" sz="2000" dirty="0" smtClean="0">
                <a:solidFill>
                  <a:prstClr val="black"/>
                </a:solidFill>
                <a:latin typeface="Times New Roman" pitchFamily="18" charset="0"/>
                <a:cs typeface="Times New Roman" pitchFamily="18" charset="0"/>
              </a:rPr>
              <a:t>, characters</a:t>
            </a:r>
            <a:r>
              <a:rPr lang="en-US" altLang="en-US" sz="2000" dirty="0">
                <a:solidFill>
                  <a:prstClr val="black"/>
                </a:solidFill>
                <a:latin typeface="Times New Roman" pitchFamily="18" charset="0"/>
                <a:cs typeface="Times New Roman" pitchFamily="18" charset="0"/>
              </a:rPr>
              <a:t>, words, or phrases are </a:t>
            </a:r>
            <a:r>
              <a:rPr lang="en-US" altLang="en-US" sz="2000" dirty="0" smtClean="0">
                <a:solidFill>
                  <a:prstClr val="black"/>
                </a:solidFill>
                <a:latin typeface="Times New Roman" pitchFamily="18" charset="0"/>
                <a:cs typeface="Times New Roman" pitchFamily="18" charset="0"/>
              </a:rPr>
              <a:t>substituted for </a:t>
            </a:r>
            <a:r>
              <a:rPr lang="en-US" altLang="en-US" sz="2000" dirty="0">
                <a:solidFill>
                  <a:prstClr val="black"/>
                </a:solidFill>
                <a:latin typeface="Times New Roman" pitchFamily="18" charset="0"/>
                <a:cs typeface="Times New Roman" pitchFamily="18" charset="0"/>
              </a:rPr>
              <a:t>the originals without changing their order.</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smtClean="0">
                <a:solidFill>
                  <a:prstClr val="black"/>
                </a:solidFill>
                <a:latin typeface="Times New Roman" pitchFamily="18" charset="0"/>
                <a:cs typeface="Times New Roman" pitchFamily="18" charset="0"/>
              </a:rPr>
              <a:t>Encryption Methods</a:t>
            </a:r>
            <a:endParaRPr lang="en-US" altLang="en-US" sz="2800" dirty="0">
              <a:solidFill>
                <a:prstClr val="black"/>
              </a:solidFill>
              <a:latin typeface="Times New Roman" pitchFamily="18" charset="0"/>
              <a:cs typeface="Times New Roman" pitchFamily="18" charset="0"/>
            </a:endParaRP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5901412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2494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Stream </a:t>
            </a:r>
            <a:r>
              <a:rPr lang="en-US" altLang="en-US" sz="2000" dirty="0">
                <a:solidFill>
                  <a:prstClr val="black"/>
                </a:solidFill>
                <a:latin typeface="Times New Roman" pitchFamily="18" charset="0"/>
                <a:cs typeface="Times New Roman" pitchFamily="18" charset="0"/>
              </a:rPr>
              <a:t>ciphers process messages a bit or byte at </a:t>
            </a:r>
            <a:r>
              <a:rPr lang="en-US" altLang="en-US" sz="2000" dirty="0" smtClean="0">
                <a:solidFill>
                  <a:prstClr val="black"/>
                </a:solidFill>
                <a:latin typeface="Times New Roman" pitchFamily="18" charset="0"/>
                <a:cs typeface="Times New Roman" pitchFamily="18" charset="0"/>
              </a:rPr>
              <a:t>a time </a:t>
            </a:r>
            <a:r>
              <a:rPr lang="en-US" altLang="en-US" sz="2000" dirty="0">
                <a:solidFill>
                  <a:prstClr val="black"/>
                </a:solidFill>
                <a:latin typeface="Times New Roman" pitchFamily="18" charset="0"/>
                <a:cs typeface="Times New Roman" pitchFamily="18" charset="0"/>
              </a:rPr>
              <a:t>when </a:t>
            </a:r>
            <a:r>
              <a:rPr lang="en-US" altLang="en-US" sz="2000" dirty="0" smtClean="0">
                <a:solidFill>
                  <a:prstClr val="black"/>
                </a:solidFill>
                <a:latin typeface="Times New Roman" pitchFamily="18" charset="0"/>
                <a:cs typeface="Times New Roman" pitchFamily="18" charset="0"/>
              </a:rPr>
              <a:t>en/decrypting.</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Block </a:t>
            </a:r>
            <a:r>
              <a:rPr lang="en-US" altLang="en-US" sz="2000" dirty="0">
                <a:solidFill>
                  <a:prstClr val="black"/>
                </a:solidFill>
                <a:latin typeface="Times New Roman" pitchFamily="18" charset="0"/>
                <a:cs typeface="Times New Roman" pitchFamily="18" charset="0"/>
              </a:rPr>
              <a:t>ciphers process messages into blocks, each </a:t>
            </a:r>
            <a:r>
              <a:rPr lang="en-US" altLang="en-US" sz="2000" dirty="0" smtClean="0">
                <a:solidFill>
                  <a:prstClr val="black"/>
                </a:solidFill>
                <a:latin typeface="Times New Roman" pitchFamily="18" charset="0"/>
                <a:cs typeface="Times New Roman" pitchFamily="18" charset="0"/>
              </a:rPr>
              <a:t>of which </a:t>
            </a:r>
            <a:r>
              <a:rPr lang="en-US" altLang="en-US" sz="2000" dirty="0">
                <a:solidFill>
                  <a:prstClr val="black"/>
                </a:solidFill>
                <a:latin typeface="Times New Roman" pitchFamily="18" charset="0"/>
                <a:cs typeface="Times New Roman" pitchFamily="18" charset="0"/>
              </a:rPr>
              <a:t>is then </a:t>
            </a:r>
            <a:r>
              <a:rPr lang="en-US" altLang="en-US" sz="2000" dirty="0" smtClean="0">
                <a:solidFill>
                  <a:prstClr val="black"/>
                </a:solidFill>
                <a:latin typeface="Times New Roman" pitchFamily="18" charset="0"/>
                <a:cs typeface="Times New Roman" pitchFamily="18" charset="0"/>
              </a:rPr>
              <a:t>en/decrypted – </a:t>
            </a:r>
            <a:r>
              <a:rPr lang="en-US" altLang="en-US" sz="2000" dirty="0">
                <a:solidFill>
                  <a:prstClr val="black"/>
                </a:solidFill>
                <a:latin typeface="Times New Roman" pitchFamily="18" charset="0"/>
                <a:cs typeface="Times New Roman" pitchFamily="18" charset="0"/>
              </a:rPr>
              <a:t>64-bits or more </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Many </a:t>
            </a:r>
            <a:r>
              <a:rPr lang="en-US" altLang="en-US" sz="2000" dirty="0">
                <a:solidFill>
                  <a:prstClr val="black"/>
                </a:solidFill>
                <a:latin typeface="Times New Roman" pitchFamily="18" charset="0"/>
                <a:cs typeface="Times New Roman" pitchFamily="18" charset="0"/>
              </a:rPr>
              <a:t>current ciphers are block </a:t>
            </a:r>
            <a:r>
              <a:rPr lang="en-US" altLang="en-US" sz="2000" dirty="0" smtClean="0">
                <a:solidFill>
                  <a:prstClr val="black"/>
                </a:solidFill>
                <a:latin typeface="Times New Roman" pitchFamily="18" charset="0"/>
                <a:cs typeface="Times New Roman" pitchFamily="18" charset="0"/>
              </a:rPr>
              <a:t>ciphers  </a:t>
            </a:r>
            <a:r>
              <a:rPr lang="en-US" altLang="en-US" sz="2000" dirty="0">
                <a:solidFill>
                  <a:prstClr val="black"/>
                </a:solidFill>
                <a:latin typeface="Times New Roman" pitchFamily="18" charset="0"/>
                <a:cs typeface="Times New Roman" pitchFamily="18" charset="0"/>
              </a:rPr>
              <a:t>hence are focus of course</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smtClean="0">
                <a:solidFill>
                  <a:prstClr val="black"/>
                </a:solidFill>
                <a:latin typeface="Times New Roman" pitchFamily="18" charset="0"/>
                <a:cs typeface="Times New Roman" pitchFamily="18" charset="0"/>
              </a:rPr>
              <a:t>STREAM CIPHERS and BLOCK CIPHERS</a:t>
            </a:r>
            <a:endParaRPr lang="en-US" altLang="en-US" sz="2800" dirty="0">
              <a:solidFill>
                <a:prstClr val="black"/>
              </a:solidFill>
              <a:latin typeface="Times New Roman" pitchFamily="18" charset="0"/>
              <a:cs typeface="Times New Roman" pitchFamily="18" charset="0"/>
            </a:endParaRP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3072523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3663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altLang="en-US" sz="2000" dirty="0">
                <a:solidFill>
                  <a:prstClr val="black"/>
                </a:solidFill>
                <a:latin typeface="Times New Roman" pitchFamily="18" charset="0"/>
                <a:cs typeface="Times New Roman" pitchFamily="18" charset="0"/>
              </a:rPr>
              <a:t>block ciphers look like an extremely </a:t>
            </a:r>
            <a:r>
              <a:rPr lang="en-US" altLang="en-US" sz="2000" dirty="0" smtClean="0">
                <a:solidFill>
                  <a:prstClr val="black"/>
                </a:solidFill>
                <a:latin typeface="Times New Roman" pitchFamily="18" charset="0"/>
                <a:cs typeface="Times New Roman" pitchFamily="18" charset="0"/>
              </a:rPr>
              <a:t>large substitution would </a:t>
            </a:r>
            <a:r>
              <a:rPr lang="en-US" altLang="en-US" sz="2000" dirty="0">
                <a:solidFill>
                  <a:prstClr val="black"/>
                </a:solidFill>
                <a:latin typeface="Times New Roman" pitchFamily="18" charset="0"/>
                <a:cs typeface="Times New Roman" pitchFamily="18" charset="0"/>
              </a:rPr>
              <a:t>need table of 264 entries for a 64-bit </a:t>
            </a:r>
            <a:r>
              <a:rPr lang="en-US" altLang="en-US" sz="2000" dirty="0" smtClean="0">
                <a:solidFill>
                  <a:prstClr val="black"/>
                </a:solidFill>
                <a:latin typeface="Times New Roman" pitchFamily="18" charset="0"/>
                <a:cs typeface="Times New Roman" pitchFamily="18" charset="0"/>
              </a:rPr>
              <a:t>block,  </a:t>
            </a:r>
            <a:r>
              <a:rPr lang="en-US" altLang="en-US" sz="2000" dirty="0">
                <a:solidFill>
                  <a:prstClr val="black"/>
                </a:solidFill>
                <a:latin typeface="Times New Roman" pitchFamily="18" charset="0"/>
                <a:cs typeface="Times New Roman" pitchFamily="18" charset="0"/>
              </a:rPr>
              <a:t>arbitrary reversible substitution cipher for a </a:t>
            </a:r>
            <a:r>
              <a:rPr lang="en-US" altLang="en-US" sz="2000" dirty="0" smtClean="0">
                <a:solidFill>
                  <a:prstClr val="black"/>
                </a:solidFill>
                <a:latin typeface="Times New Roman" pitchFamily="18" charset="0"/>
                <a:cs typeface="Times New Roman" pitchFamily="18" charset="0"/>
              </a:rPr>
              <a:t>large block </a:t>
            </a:r>
            <a:r>
              <a:rPr lang="en-US" altLang="en-US" sz="2000" dirty="0">
                <a:solidFill>
                  <a:prstClr val="black"/>
                </a:solidFill>
                <a:latin typeface="Times New Roman" pitchFamily="18" charset="0"/>
                <a:cs typeface="Times New Roman" pitchFamily="18" charset="0"/>
              </a:rPr>
              <a:t>size is not practical</a:t>
            </a:r>
          </a:p>
          <a:p>
            <a:pPr marL="263525" indent="-250825" defTabSz="232795" fontAlgn="base">
              <a:lnSpc>
                <a:spcPct val="200000"/>
              </a:lnSpc>
              <a:spcBef>
                <a:spcPts val="51"/>
              </a:spcBef>
              <a:spcAft>
                <a:spcPct val="0"/>
              </a:spcAft>
              <a:buFont typeface="Arial" pitchFamily="34" charset="0"/>
              <a:buChar char="•"/>
            </a:pPr>
            <a:r>
              <a:rPr lang="en-US" altLang="en-US" sz="2000" dirty="0">
                <a:solidFill>
                  <a:prstClr val="black"/>
                </a:solidFill>
                <a:latin typeface="Times New Roman" pitchFamily="18" charset="0"/>
                <a:cs typeface="Times New Roman" pitchFamily="18" charset="0"/>
              </a:rPr>
              <a:t>– 64-bit general substitution block cipher, key </a:t>
            </a:r>
            <a:r>
              <a:rPr lang="en-US" altLang="en-US" sz="2000" dirty="0" smtClean="0">
                <a:solidFill>
                  <a:prstClr val="black"/>
                </a:solidFill>
                <a:latin typeface="Times New Roman" pitchFamily="18" charset="0"/>
                <a:cs typeface="Times New Roman" pitchFamily="18" charset="0"/>
              </a:rPr>
              <a:t>size 2 64</a:t>
            </a:r>
            <a:r>
              <a:rPr lang="en-US" altLang="en-US" sz="2000" dirty="0">
                <a:solidFill>
                  <a:prstClr val="black"/>
                </a:solidFill>
                <a:latin typeface="Times New Roman" pitchFamily="18" charset="0"/>
                <a:cs typeface="Times New Roman" pitchFamily="18" charset="0"/>
              </a:rPr>
              <a:t>!</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Most </a:t>
            </a:r>
            <a:r>
              <a:rPr lang="en-US" altLang="en-US" sz="2000" dirty="0">
                <a:solidFill>
                  <a:prstClr val="black"/>
                </a:solidFill>
                <a:latin typeface="Times New Roman" pitchFamily="18" charset="0"/>
                <a:cs typeface="Times New Roman" pitchFamily="18" charset="0"/>
              </a:rPr>
              <a:t>symmetric block ciphers are based on a </a:t>
            </a:r>
            <a:r>
              <a:rPr lang="en-US" altLang="en-US" sz="2000" dirty="0" err="1" smtClean="0">
                <a:solidFill>
                  <a:prstClr val="black"/>
                </a:solidFill>
                <a:latin typeface="Times New Roman" pitchFamily="18" charset="0"/>
                <a:cs typeface="Times New Roman" pitchFamily="18" charset="0"/>
              </a:rPr>
              <a:t>Feistel</a:t>
            </a:r>
            <a:r>
              <a:rPr lang="en-US" altLang="en-US" sz="2000" dirty="0" smtClean="0">
                <a:solidFill>
                  <a:prstClr val="black"/>
                </a:solidFill>
                <a:latin typeface="Times New Roman" pitchFamily="18" charset="0"/>
                <a:cs typeface="Times New Roman" pitchFamily="18" charset="0"/>
              </a:rPr>
              <a:t> Cipher Structure </a:t>
            </a:r>
            <a:r>
              <a:rPr lang="en-US" altLang="en-US" sz="2000" dirty="0">
                <a:solidFill>
                  <a:prstClr val="black"/>
                </a:solidFill>
                <a:latin typeface="Times New Roman" pitchFamily="18" charset="0"/>
                <a:cs typeface="Times New Roman" pitchFamily="18" charset="0"/>
              </a:rPr>
              <a:t>needed since must be able to decrypt </a:t>
            </a:r>
            <a:r>
              <a:rPr lang="en-US" altLang="en-US" sz="2000" dirty="0" err="1">
                <a:solidFill>
                  <a:prstClr val="black"/>
                </a:solidFill>
                <a:latin typeface="Times New Roman" pitchFamily="18" charset="0"/>
                <a:cs typeface="Times New Roman" pitchFamily="18" charset="0"/>
              </a:rPr>
              <a:t>ciphertext</a:t>
            </a:r>
            <a:r>
              <a:rPr lang="en-US" altLang="en-US" sz="2000" dirty="0">
                <a:solidFill>
                  <a:prstClr val="black"/>
                </a:solidFill>
                <a:latin typeface="Times New Roman" pitchFamily="18" charset="0"/>
                <a:cs typeface="Times New Roman" pitchFamily="18" charset="0"/>
              </a:rPr>
              <a:t> </a:t>
            </a:r>
            <a:r>
              <a:rPr lang="en-US" altLang="en-US" sz="2000" dirty="0" smtClean="0">
                <a:solidFill>
                  <a:prstClr val="black"/>
                </a:solidFill>
                <a:latin typeface="Times New Roman" pitchFamily="18" charset="0"/>
                <a:cs typeface="Times New Roman" pitchFamily="18" charset="0"/>
              </a:rPr>
              <a:t>to recover </a:t>
            </a:r>
            <a:r>
              <a:rPr lang="en-US" altLang="en-US" sz="2000" dirty="0">
                <a:solidFill>
                  <a:prstClr val="black"/>
                </a:solidFill>
                <a:latin typeface="Times New Roman" pitchFamily="18" charset="0"/>
                <a:cs typeface="Times New Roman" pitchFamily="18" charset="0"/>
              </a:rPr>
              <a:t>messages efficiently</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smtClean="0">
                <a:solidFill>
                  <a:prstClr val="black"/>
                </a:solidFill>
                <a:latin typeface="Times New Roman" pitchFamily="18" charset="0"/>
                <a:cs typeface="Times New Roman" pitchFamily="18" charset="0"/>
              </a:rPr>
              <a:t>Block Cipher Principles</a:t>
            </a:r>
            <a:endParaRPr lang="en-US" altLang="en-US" sz="2800" dirty="0">
              <a:solidFill>
                <a:prstClr val="black"/>
              </a:solidFill>
              <a:latin typeface="Times New Roman" pitchFamily="18" charset="0"/>
              <a:cs typeface="Times New Roman" pitchFamily="18" charset="0"/>
            </a:endParaRP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9743703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3791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altLang="en-US" sz="2000" dirty="0">
                <a:solidFill>
                  <a:prstClr val="black"/>
                </a:solidFill>
                <a:latin typeface="Times New Roman" pitchFamily="18" charset="0"/>
                <a:cs typeface="Times New Roman" pitchFamily="18" charset="0"/>
              </a:rPr>
              <a:t>Horst </a:t>
            </a:r>
            <a:r>
              <a:rPr lang="en-US" altLang="en-US" sz="2000" dirty="0" err="1">
                <a:solidFill>
                  <a:prstClr val="black"/>
                </a:solidFill>
                <a:latin typeface="Times New Roman" pitchFamily="18" charset="0"/>
                <a:cs typeface="Times New Roman" pitchFamily="18" charset="0"/>
              </a:rPr>
              <a:t>Feistel</a:t>
            </a:r>
            <a:r>
              <a:rPr lang="en-US" altLang="en-US" sz="2000" dirty="0">
                <a:solidFill>
                  <a:prstClr val="black"/>
                </a:solidFill>
                <a:latin typeface="Times New Roman" pitchFamily="18" charset="0"/>
                <a:cs typeface="Times New Roman" pitchFamily="18" charset="0"/>
              </a:rPr>
              <a:t> devised the </a:t>
            </a:r>
            <a:r>
              <a:rPr lang="en-US" altLang="en-US" sz="2000" dirty="0" err="1">
                <a:solidFill>
                  <a:prstClr val="black"/>
                </a:solidFill>
                <a:latin typeface="Times New Roman" pitchFamily="18" charset="0"/>
                <a:cs typeface="Times New Roman" pitchFamily="18" charset="0"/>
              </a:rPr>
              <a:t>feistel</a:t>
            </a:r>
            <a:r>
              <a:rPr lang="en-US" altLang="en-US" sz="2000" dirty="0">
                <a:solidFill>
                  <a:prstClr val="black"/>
                </a:solidFill>
                <a:latin typeface="Times New Roman" pitchFamily="18" charset="0"/>
                <a:cs typeface="Times New Roman" pitchFamily="18" charset="0"/>
              </a:rPr>
              <a:t> </a:t>
            </a:r>
            <a:r>
              <a:rPr lang="en-US" altLang="en-US" sz="2000" dirty="0" smtClean="0">
                <a:solidFill>
                  <a:prstClr val="black"/>
                </a:solidFill>
                <a:latin typeface="Times New Roman" pitchFamily="18" charset="0"/>
                <a:cs typeface="Times New Roman" pitchFamily="18" charset="0"/>
              </a:rPr>
              <a:t>cipher – </a:t>
            </a:r>
            <a:r>
              <a:rPr lang="en-US" altLang="en-US" sz="2000" dirty="0">
                <a:solidFill>
                  <a:prstClr val="black"/>
                </a:solidFill>
                <a:latin typeface="Times New Roman" pitchFamily="18" charset="0"/>
                <a:cs typeface="Times New Roman" pitchFamily="18" charset="0"/>
              </a:rPr>
              <a:t>implements </a:t>
            </a:r>
            <a:r>
              <a:rPr lang="en-US" altLang="en-US" sz="2000" dirty="0" smtClean="0">
                <a:solidFill>
                  <a:prstClr val="black"/>
                </a:solidFill>
                <a:latin typeface="Times New Roman" pitchFamily="18" charset="0"/>
                <a:cs typeface="Times New Roman" pitchFamily="18" charset="0"/>
              </a:rPr>
              <a:t>Shannon’s substitution-permutation network</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Concept - partitions </a:t>
            </a:r>
            <a:r>
              <a:rPr lang="en-US" altLang="en-US" sz="2000" dirty="0">
                <a:solidFill>
                  <a:prstClr val="black"/>
                </a:solidFill>
                <a:latin typeface="Times New Roman" pitchFamily="18" charset="0"/>
                <a:cs typeface="Times New Roman" pitchFamily="18" charset="0"/>
              </a:rPr>
              <a:t>input block into two halves</a:t>
            </a:r>
          </a:p>
          <a:p>
            <a:pPr marL="12700" indent="0" defTabSz="232795" fontAlgn="base">
              <a:lnSpc>
                <a:spcPct val="200000"/>
              </a:lnSpc>
              <a:spcBef>
                <a:spcPts val="51"/>
              </a:spcBef>
              <a:spcAft>
                <a:spcPct val="0"/>
              </a:spcAft>
            </a:pPr>
            <a:r>
              <a:rPr lang="en-US" altLang="en-US" sz="2000" dirty="0" smtClean="0">
                <a:solidFill>
                  <a:prstClr val="black"/>
                </a:solidFill>
                <a:latin typeface="Times New Roman" pitchFamily="18" charset="0"/>
                <a:cs typeface="Times New Roman" pitchFamily="18" charset="0"/>
              </a:rPr>
              <a:t>              – </a:t>
            </a:r>
            <a:r>
              <a:rPr lang="en-US" altLang="en-US" sz="2000" dirty="0">
                <a:solidFill>
                  <a:prstClr val="black"/>
                </a:solidFill>
                <a:latin typeface="Times New Roman" pitchFamily="18" charset="0"/>
                <a:cs typeface="Times New Roman" pitchFamily="18" charset="0"/>
              </a:rPr>
              <a:t>process through multiple </a:t>
            </a:r>
            <a:r>
              <a:rPr lang="en-US" altLang="en-US" sz="2000" dirty="0" smtClean="0">
                <a:solidFill>
                  <a:prstClr val="black"/>
                </a:solidFill>
                <a:latin typeface="Times New Roman" pitchFamily="18" charset="0"/>
                <a:cs typeface="Times New Roman" pitchFamily="18" charset="0"/>
              </a:rPr>
              <a:t>rounds which</a:t>
            </a:r>
            <a:endParaRPr lang="en-US" altLang="en-US" sz="2000" dirty="0">
              <a:solidFill>
                <a:prstClr val="black"/>
              </a:solidFill>
              <a:latin typeface="Times New Roman" pitchFamily="18" charset="0"/>
              <a:cs typeface="Times New Roman" pitchFamily="18" charset="0"/>
            </a:endParaRPr>
          </a:p>
          <a:p>
            <a:pPr marL="12700" indent="0" defTabSz="232795" fontAlgn="base">
              <a:lnSpc>
                <a:spcPct val="200000"/>
              </a:lnSpc>
              <a:spcBef>
                <a:spcPts val="51"/>
              </a:spcBef>
              <a:spcAft>
                <a:spcPct val="0"/>
              </a:spcAft>
            </a:pPr>
            <a:r>
              <a:rPr lang="en-US" altLang="en-US" sz="2000" dirty="0" smtClean="0">
                <a:solidFill>
                  <a:prstClr val="black"/>
                </a:solidFill>
                <a:latin typeface="Times New Roman" pitchFamily="18" charset="0"/>
                <a:cs typeface="Times New Roman" pitchFamily="18" charset="0"/>
              </a:rPr>
              <a:t>             – </a:t>
            </a:r>
            <a:r>
              <a:rPr lang="en-US" altLang="en-US" sz="2000" dirty="0">
                <a:solidFill>
                  <a:prstClr val="black"/>
                </a:solidFill>
                <a:latin typeface="Times New Roman" pitchFamily="18" charset="0"/>
                <a:cs typeface="Times New Roman" pitchFamily="18" charset="0"/>
              </a:rPr>
              <a:t>perform a substitution on left </a:t>
            </a:r>
            <a:r>
              <a:rPr lang="en-US" altLang="en-US" sz="2000" dirty="0" smtClean="0">
                <a:solidFill>
                  <a:prstClr val="black"/>
                </a:solidFill>
                <a:latin typeface="Times New Roman" pitchFamily="18" charset="0"/>
                <a:cs typeface="Times New Roman" pitchFamily="18" charset="0"/>
              </a:rPr>
              <a:t>data half</a:t>
            </a:r>
            <a:endParaRPr lang="en-US" altLang="en-US" sz="2000" dirty="0">
              <a:solidFill>
                <a:prstClr val="black"/>
              </a:solidFill>
              <a:latin typeface="Times New Roman" pitchFamily="18" charset="0"/>
              <a:cs typeface="Times New Roman" pitchFamily="18" charset="0"/>
            </a:endParaRPr>
          </a:p>
          <a:p>
            <a:pPr marL="12700" indent="0" defTabSz="232795" fontAlgn="base">
              <a:lnSpc>
                <a:spcPct val="200000"/>
              </a:lnSpc>
              <a:spcBef>
                <a:spcPts val="51"/>
              </a:spcBef>
              <a:spcAft>
                <a:spcPct val="0"/>
              </a:spcAft>
            </a:pPr>
            <a:r>
              <a:rPr lang="en-US" altLang="en-US" sz="2000" dirty="0" smtClean="0">
                <a:solidFill>
                  <a:prstClr val="black"/>
                </a:solidFill>
                <a:latin typeface="Times New Roman" pitchFamily="18" charset="0"/>
                <a:cs typeface="Times New Roman" pitchFamily="18" charset="0"/>
              </a:rPr>
              <a:t>             – </a:t>
            </a:r>
            <a:r>
              <a:rPr lang="en-US" altLang="en-US" sz="2000" dirty="0">
                <a:solidFill>
                  <a:prstClr val="black"/>
                </a:solidFill>
                <a:latin typeface="Times New Roman" pitchFamily="18" charset="0"/>
                <a:cs typeface="Times New Roman" pitchFamily="18" charset="0"/>
              </a:rPr>
              <a:t>based on round function of </a:t>
            </a:r>
            <a:r>
              <a:rPr lang="en-US" altLang="en-US" sz="2000" dirty="0" smtClean="0">
                <a:solidFill>
                  <a:prstClr val="black"/>
                </a:solidFill>
                <a:latin typeface="Times New Roman" pitchFamily="18" charset="0"/>
                <a:cs typeface="Times New Roman" pitchFamily="18" charset="0"/>
              </a:rPr>
              <a:t>right half </a:t>
            </a:r>
            <a:r>
              <a:rPr lang="en-US" altLang="en-US" sz="2000" dirty="0">
                <a:solidFill>
                  <a:prstClr val="black"/>
                </a:solidFill>
                <a:latin typeface="Times New Roman" pitchFamily="18" charset="0"/>
                <a:cs typeface="Times New Roman" pitchFamily="18" charset="0"/>
              </a:rPr>
              <a:t>&amp; </a:t>
            </a:r>
            <a:r>
              <a:rPr lang="en-US" altLang="en-US" sz="2000" dirty="0" err="1">
                <a:solidFill>
                  <a:prstClr val="black"/>
                </a:solidFill>
                <a:latin typeface="Times New Roman" pitchFamily="18" charset="0"/>
                <a:cs typeface="Times New Roman" pitchFamily="18" charset="0"/>
              </a:rPr>
              <a:t>subkey</a:t>
            </a:r>
            <a:endParaRPr lang="en-US" altLang="en-US" sz="2000" dirty="0">
              <a:solidFill>
                <a:prstClr val="black"/>
              </a:solidFill>
              <a:latin typeface="Times New Roman" pitchFamily="18" charset="0"/>
              <a:cs typeface="Times New Roman" pitchFamily="18" charset="0"/>
            </a:endParaRPr>
          </a:p>
          <a:p>
            <a:pPr marL="12700" indent="0" defTabSz="232795" fontAlgn="base">
              <a:lnSpc>
                <a:spcPct val="200000"/>
              </a:lnSpc>
              <a:spcBef>
                <a:spcPts val="51"/>
              </a:spcBef>
              <a:spcAft>
                <a:spcPct val="0"/>
              </a:spcAft>
            </a:pPr>
            <a:r>
              <a:rPr lang="en-US" altLang="en-US" sz="2000" dirty="0" smtClean="0">
                <a:solidFill>
                  <a:prstClr val="black"/>
                </a:solidFill>
                <a:latin typeface="Times New Roman" pitchFamily="18" charset="0"/>
                <a:cs typeface="Times New Roman" pitchFamily="18" charset="0"/>
              </a:rPr>
              <a:t>             – </a:t>
            </a:r>
            <a:r>
              <a:rPr lang="en-US" altLang="en-US" sz="2000" dirty="0">
                <a:solidFill>
                  <a:prstClr val="black"/>
                </a:solidFill>
                <a:latin typeface="Times New Roman" pitchFamily="18" charset="0"/>
                <a:cs typeface="Times New Roman" pitchFamily="18" charset="0"/>
              </a:rPr>
              <a:t>then have permutation </a:t>
            </a:r>
            <a:r>
              <a:rPr lang="en-US" altLang="en-US" sz="2000" dirty="0" smtClean="0">
                <a:solidFill>
                  <a:prstClr val="black"/>
                </a:solidFill>
                <a:latin typeface="Times New Roman" pitchFamily="18" charset="0"/>
                <a:cs typeface="Times New Roman" pitchFamily="18" charset="0"/>
              </a:rPr>
              <a:t>swapping halves</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FEISTEL CIPHER STRUCTURE</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522397" y="2276872"/>
            <a:ext cx="2614956" cy="36724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513808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37508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n sequential rounds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A substitution on the left half Li –1.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Apply a round function F to the right half </a:t>
            </a:r>
            <a:r>
              <a:rPr lang="en-US" sz="2000" dirty="0" err="1" smtClean="0">
                <a:latin typeface="Times New Roman" pitchFamily="18" charset="0"/>
                <a:cs typeface="Times New Roman" pitchFamily="18" charset="0"/>
              </a:rPr>
              <a:t>Ri</a:t>
            </a:r>
            <a:r>
              <a:rPr lang="en-US" sz="2000" dirty="0" smtClean="0">
                <a:latin typeface="Times New Roman" pitchFamily="18" charset="0"/>
                <a:cs typeface="Times New Roman" pitchFamily="18" charset="0"/>
              </a:rPr>
              <a:t> and –2.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Take XOR of the output of (1) and Li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The round function is parameterized by the </a:t>
            </a:r>
            <a:r>
              <a:rPr lang="en-US" sz="2000" dirty="0" err="1" smtClean="0">
                <a:latin typeface="Times New Roman" pitchFamily="18" charset="0"/>
                <a:cs typeface="Times New Roman" pitchFamily="18" charset="0"/>
              </a:rPr>
              <a:t>subkey</a:t>
            </a:r>
            <a:r>
              <a:rPr lang="en-US" sz="2000" dirty="0" smtClean="0">
                <a:latin typeface="Times New Roman" pitchFamily="18" charset="0"/>
                <a:cs typeface="Times New Roman" pitchFamily="18" charset="0"/>
              </a:rPr>
              <a:t> Ki –Ki are derived from the overall key K</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FEISTEL CIPHER</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640346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6869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block size - increasing size improves security, but slows cipher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key size - increasing size improves security, makes exhaustive key searching harder, but may slow cipher</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number of rounds - increasing number improves security, but slows cipher</a:t>
            </a:r>
          </a:p>
          <a:p>
            <a:pPr marL="263525" indent="-250825" defTabSz="232795" fontAlgn="base">
              <a:lnSpc>
                <a:spcPct val="150000"/>
              </a:lnSpc>
              <a:spcBef>
                <a:spcPts val="51"/>
              </a:spcBef>
              <a:spcAft>
                <a:spcPct val="0"/>
              </a:spcAft>
              <a:buFont typeface="Arial" pitchFamily="34" charset="0"/>
              <a:buChar char="•"/>
            </a:pPr>
            <a:r>
              <a:rPr lang="en-US" sz="2000" dirty="0" err="1" smtClean="0">
                <a:latin typeface="Times New Roman" pitchFamily="18" charset="0"/>
                <a:cs typeface="Times New Roman" pitchFamily="18" charset="0"/>
              </a:rPr>
              <a:t>subkey</a:t>
            </a:r>
            <a:r>
              <a:rPr lang="en-US" sz="2000" dirty="0" smtClean="0">
                <a:latin typeface="Times New Roman" pitchFamily="18" charset="0"/>
                <a:cs typeface="Times New Roman" pitchFamily="18" charset="0"/>
              </a:rPr>
              <a:t> generation - greater complexity can make analysis harder, but slows cipher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round function - greater complexity can make analysis harder, but slows cipher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fast software en/decryption &amp; ease of analysis - are more recent concerns for practical use and testing</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FEISTEL CIPHER DESIGN PRINCIPLES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31475266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FEISTEL CIPHER DECRYPTION</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79090" y="1628799"/>
            <a:ext cx="6822880" cy="48466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318007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2381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most widely used block cipher in world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adopted in 1977 by NBS (now NIST) - as FIPS PUB 46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encrypts 64-bit data using 56-bit key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has widespread use-  IBM developed Lucifer cipher - by team lead by </a:t>
            </a:r>
            <a:r>
              <a:rPr lang="en-US" sz="2000" dirty="0" err="1" smtClean="0">
                <a:latin typeface="Times New Roman" pitchFamily="18" charset="0"/>
                <a:cs typeface="Times New Roman" pitchFamily="18" charset="0"/>
              </a:rPr>
              <a:t>Feistel</a:t>
            </a:r>
            <a:r>
              <a:rPr lang="en-US" sz="2000" dirty="0" smtClean="0">
                <a:latin typeface="Times New Roman" pitchFamily="18" charset="0"/>
                <a:cs typeface="Times New Roman" pitchFamily="18" charset="0"/>
              </a:rPr>
              <a:t> – used 64-bit data blocks with 128-bit key then redeveloped as a commercial cipher with input from NSA and others</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In 1973 NBS issued request for proposals for a national cipher standard</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IBM submitted their revised Lucifer which was eventually accepted as the DES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DATA ENCRYPTION STANDARD (DES)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6742434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1644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lthough DES standard is public  was considerable controversy over design -in choice of 56-bit key (</a:t>
            </a:r>
            <a:r>
              <a:rPr lang="en-US" dirty="0" err="1" smtClean="0">
                <a:latin typeface="Times New Roman" pitchFamily="18" charset="0"/>
                <a:cs typeface="Times New Roman" pitchFamily="18" charset="0"/>
              </a:rPr>
              <a:t>vs</a:t>
            </a:r>
            <a:r>
              <a:rPr lang="en-US" dirty="0" smtClean="0">
                <a:latin typeface="Times New Roman" pitchFamily="18" charset="0"/>
                <a:cs typeface="Times New Roman" pitchFamily="18" charset="0"/>
              </a:rPr>
              <a:t> Lucifer 128-bit)</a:t>
            </a:r>
          </a:p>
          <a:p>
            <a:pPr marL="263525" indent="-250825" defTabSz="232795" fontAlgn="base">
              <a:lnSpc>
                <a:spcPct val="150000"/>
              </a:lnSpc>
              <a:spcBef>
                <a:spcPts val="51"/>
              </a:spcBef>
              <a:spcAft>
                <a:spcPct val="0"/>
              </a:spcAft>
              <a:buFont typeface="Arial" pitchFamily="34" charset="0"/>
              <a:buChar char="•"/>
            </a:pPr>
            <a:r>
              <a:rPr lang="en-US" dirty="0">
                <a:latin typeface="Times New Roman" pitchFamily="18" charset="0"/>
                <a:cs typeface="Times New Roman" pitchFamily="18" charset="0"/>
              </a:rPr>
              <a:t>S</a:t>
            </a:r>
            <a:r>
              <a:rPr lang="en-US" dirty="0" smtClean="0">
                <a:latin typeface="Times New Roman" pitchFamily="18" charset="0"/>
                <a:cs typeface="Times New Roman" pitchFamily="18" charset="0"/>
              </a:rPr>
              <a:t>ubsequent events and public analysis show in fact design was appropriate </a:t>
            </a:r>
          </a:p>
          <a:p>
            <a:pPr marL="263525" indent="-250825" defTabSz="232795" fontAlgn="base">
              <a:lnSpc>
                <a:spcPct val="150000"/>
              </a:lnSpc>
              <a:spcBef>
                <a:spcPts val="51"/>
              </a:spcBef>
              <a:spcAft>
                <a:spcPct val="0"/>
              </a:spcAft>
              <a:buFont typeface="Arial" pitchFamily="34" charset="0"/>
              <a:buChar char="•"/>
            </a:pPr>
            <a:r>
              <a:rPr lang="en-US" dirty="0" smtClean="0">
                <a:latin typeface="Times New Roman" pitchFamily="18" charset="0"/>
                <a:cs typeface="Times New Roman" pitchFamily="18" charset="0"/>
              </a:rPr>
              <a:t>DES has become widely used, especially in financial applications</a:t>
            </a:r>
            <a:endParaRPr lang="en-US" altLang="en-US"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DES DESIGN CONTROVERSY</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907705" y="3338012"/>
            <a:ext cx="4536503" cy="32775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840066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14040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first step of the data computation IP reorders the input data bits quite regular in structure  example:</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IP(675a6967 5e5a6b5a) = (ffb2194d 004df6fb)</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INITIAL PERMUTATION IP</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3207306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2381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uses two 32-bit L &amp; R halves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as for any </a:t>
            </a:r>
            <a:r>
              <a:rPr lang="en-US" sz="2000" dirty="0" err="1" smtClean="0">
                <a:latin typeface="Times New Roman" pitchFamily="18" charset="0"/>
                <a:cs typeface="Times New Roman" pitchFamily="18" charset="0"/>
              </a:rPr>
              <a:t>Feistel</a:t>
            </a:r>
            <a:r>
              <a:rPr lang="en-US" sz="2000" dirty="0" smtClean="0">
                <a:latin typeface="Times New Roman" pitchFamily="18" charset="0"/>
                <a:cs typeface="Times New Roman" pitchFamily="18" charset="0"/>
              </a:rPr>
              <a:t> cipher can describe as: Li = </a:t>
            </a:r>
            <a:r>
              <a:rPr lang="en-US" sz="2000" dirty="0" err="1" smtClean="0">
                <a:latin typeface="Times New Roman" pitchFamily="18" charset="0"/>
                <a:cs typeface="Times New Roman" pitchFamily="18" charset="0"/>
              </a:rPr>
              <a:t>Ri</a:t>
            </a:r>
            <a:r>
              <a:rPr lang="en-US" sz="2000" dirty="0" smtClean="0">
                <a:latin typeface="Times New Roman" pitchFamily="18" charset="0"/>
                <a:cs typeface="Times New Roman" pitchFamily="18" charset="0"/>
              </a:rPr>
              <a:t>–1 </a:t>
            </a:r>
            <a:r>
              <a:rPr lang="en-US" sz="2000" dirty="0" err="1" smtClean="0">
                <a:latin typeface="Times New Roman" pitchFamily="18" charset="0"/>
                <a:cs typeface="Times New Roman" pitchFamily="18" charset="0"/>
              </a:rPr>
              <a:t>Ri</a:t>
            </a:r>
            <a:r>
              <a:rPr lang="en-US" sz="2000" dirty="0" smtClean="0">
                <a:latin typeface="Times New Roman" pitchFamily="18" charset="0"/>
                <a:cs typeface="Times New Roman" pitchFamily="18" charset="0"/>
              </a:rPr>
              <a:t> = Li–1 </a:t>
            </a:r>
            <a:r>
              <a:rPr lang="en-US" sz="2000" dirty="0" err="1" smtClean="0">
                <a:latin typeface="Times New Roman" pitchFamily="18" charset="0"/>
                <a:cs typeface="Times New Roman" pitchFamily="18" charset="0"/>
              </a:rPr>
              <a:t>xor</a:t>
            </a:r>
            <a:r>
              <a:rPr lang="en-US" sz="2000" dirty="0" smtClean="0">
                <a:latin typeface="Times New Roman" pitchFamily="18" charset="0"/>
                <a:cs typeface="Times New Roman" pitchFamily="18" charset="0"/>
              </a:rPr>
              <a:t> F(</a:t>
            </a:r>
            <a:r>
              <a:rPr lang="en-US" sz="2000" dirty="0" err="1" smtClean="0">
                <a:latin typeface="Times New Roman" pitchFamily="18" charset="0"/>
                <a:cs typeface="Times New Roman" pitchFamily="18" charset="0"/>
              </a:rPr>
              <a:t>Ri</a:t>
            </a:r>
            <a:r>
              <a:rPr lang="en-US" sz="2000" dirty="0" smtClean="0">
                <a:latin typeface="Times New Roman" pitchFamily="18" charset="0"/>
                <a:cs typeface="Times New Roman" pitchFamily="18" charset="0"/>
              </a:rPr>
              <a:t>–1 , Ki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takes 32-bit R half and 48-bit </a:t>
            </a:r>
            <a:r>
              <a:rPr lang="en-US" sz="2000" dirty="0" err="1" smtClean="0">
                <a:latin typeface="Times New Roman" pitchFamily="18" charset="0"/>
                <a:cs typeface="Times New Roman" pitchFamily="18" charset="0"/>
              </a:rPr>
              <a:t>subkey</a:t>
            </a:r>
            <a:r>
              <a:rPr lang="en-US" sz="2000" dirty="0" smtClean="0">
                <a:latin typeface="Times New Roman" pitchFamily="18" charset="0"/>
                <a:cs typeface="Times New Roman" pitchFamily="18" charset="0"/>
              </a:rPr>
              <a:t> and: – expands R to 48-bits using Expansion Permutation E</a:t>
            </a:r>
          </a:p>
          <a:p>
            <a:pPr marL="12700" indent="0" defTabSz="232795" fontAlgn="base">
              <a:lnSpc>
                <a:spcPct val="150000"/>
              </a:lnSpc>
              <a:spcBef>
                <a:spcPts val="51"/>
              </a:spcBef>
              <a:spcAft>
                <a:spcPct val="0"/>
              </a:spcAft>
            </a:pPr>
            <a:r>
              <a:rPr lang="en-US" sz="2000" dirty="0" smtClean="0">
                <a:latin typeface="Times New Roman" pitchFamily="18" charset="0"/>
                <a:cs typeface="Times New Roman" pitchFamily="18" charset="0"/>
              </a:rPr>
              <a:t>– adds to </a:t>
            </a:r>
            <a:r>
              <a:rPr lang="en-US" sz="2000" dirty="0" err="1" smtClean="0">
                <a:latin typeface="Times New Roman" pitchFamily="18" charset="0"/>
                <a:cs typeface="Times New Roman" pitchFamily="18" charset="0"/>
              </a:rPr>
              <a:t>subkey</a:t>
            </a:r>
            <a:r>
              <a:rPr lang="en-US" sz="2000" dirty="0" smtClean="0">
                <a:latin typeface="Times New Roman" pitchFamily="18" charset="0"/>
                <a:cs typeface="Times New Roman" pitchFamily="18" charset="0"/>
              </a:rPr>
              <a:t> </a:t>
            </a:r>
          </a:p>
          <a:p>
            <a:pPr marL="12700" indent="0" defTabSz="232795" fontAlgn="base">
              <a:lnSpc>
                <a:spcPct val="150000"/>
              </a:lnSpc>
              <a:spcBef>
                <a:spcPts val="51"/>
              </a:spcBef>
              <a:spcAft>
                <a:spcPct val="0"/>
              </a:spcAft>
            </a:pPr>
            <a:r>
              <a:rPr lang="en-US" sz="2000" dirty="0" smtClean="0">
                <a:latin typeface="Times New Roman" pitchFamily="18" charset="0"/>
                <a:cs typeface="Times New Roman" pitchFamily="18" charset="0"/>
              </a:rPr>
              <a:t>– passes through 8 </a:t>
            </a:r>
          </a:p>
          <a:p>
            <a:pPr marL="12700" indent="0" defTabSz="232795" fontAlgn="base">
              <a:lnSpc>
                <a:spcPct val="150000"/>
              </a:lnSpc>
              <a:spcBef>
                <a:spcPts val="51"/>
              </a:spcBef>
              <a:spcAft>
                <a:spcPct val="0"/>
              </a:spcAft>
            </a:pPr>
            <a:r>
              <a:rPr lang="en-US" sz="2000" dirty="0" smtClean="0">
                <a:latin typeface="Times New Roman" pitchFamily="18" charset="0"/>
                <a:cs typeface="Times New Roman" pitchFamily="18" charset="0"/>
              </a:rPr>
              <a:t>S-boxes to get 32-bit result</a:t>
            </a:r>
          </a:p>
          <a:p>
            <a:pPr marL="12700" indent="0" defTabSz="232795" fontAlgn="base">
              <a:lnSpc>
                <a:spcPct val="150000"/>
              </a:lnSpc>
              <a:spcBef>
                <a:spcPts val="51"/>
              </a:spcBef>
              <a:spcAft>
                <a:spcPct val="0"/>
              </a:spcAft>
            </a:pPr>
            <a:r>
              <a:rPr lang="en-US" sz="2000" dirty="0" smtClean="0">
                <a:latin typeface="Times New Roman" pitchFamily="18" charset="0"/>
                <a:cs typeface="Times New Roman" pitchFamily="18" charset="0"/>
              </a:rPr>
              <a:t> – finally permutes this using 32-bit Permutation Function P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DES ROUND STRUCTURE</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21199360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THE ROUND FUNCTION F(R,K)</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79090" y="1826308"/>
            <a:ext cx="7119516" cy="38648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071302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2637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8 S-boxes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Each S-Box </a:t>
            </a:r>
            <a:r>
              <a:rPr lang="en-US" sz="2000" dirty="0" err="1" smtClean="0">
                <a:latin typeface="Times New Roman" pitchFamily="18" charset="0"/>
                <a:cs typeface="Times New Roman" pitchFamily="18" charset="0"/>
              </a:rPr>
              <a:t>mapps</a:t>
            </a:r>
            <a:r>
              <a:rPr lang="en-US" sz="2000" dirty="0" smtClean="0">
                <a:latin typeface="Times New Roman" pitchFamily="18" charset="0"/>
                <a:cs typeface="Times New Roman" pitchFamily="18" charset="0"/>
              </a:rPr>
              <a:t> 6 to 4 bits </a:t>
            </a:r>
          </a:p>
          <a:p>
            <a:pPr marL="422275" lvl="1"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outer bits 1 &amp; 6 (row bits) select the row</a:t>
            </a:r>
          </a:p>
          <a:p>
            <a:pPr marL="422275" lvl="1"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 inner bits 2-5 (col bits) select the column </a:t>
            </a:r>
          </a:p>
          <a:p>
            <a:pPr marL="422275" lvl="1"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For example, in S1, for input 011001,</a:t>
            </a:r>
          </a:p>
          <a:p>
            <a:pPr marL="422275" lvl="1"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 the row is 01 (row 1)</a:t>
            </a:r>
          </a:p>
          <a:p>
            <a:pPr marL="422275" lvl="1"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 the column is 1100 (column 12)</a:t>
            </a:r>
          </a:p>
          <a:p>
            <a:pPr marL="422275" lvl="1"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The value in row 1, column 12 is 9 </a:t>
            </a:r>
          </a:p>
          <a:p>
            <a:pPr marL="422275" lvl="1"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 The output is 1001. • result is 8 X 4 bits, or 32 bits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SUBSTITUTION BOXES 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6978241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98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forms </a:t>
            </a:r>
            <a:r>
              <a:rPr lang="en-US" sz="2000" dirty="0" err="1" smtClean="0">
                <a:latin typeface="Times New Roman" pitchFamily="18" charset="0"/>
                <a:cs typeface="Times New Roman" pitchFamily="18" charset="0"/>
              </a:rPr>
              <a:t>subkeys</a:t>
            </a:r>
            <a:r>
              <a:rPr lang="en-US" sz="2000" dirty="0" smtClean="0">
                <a:latin typeface="Times New Roman" pitchFamily="18" charset="0"/>
                <a:cs typeface="Times New Roman" pitchFamily="18" charset="0"/>
              </a:rPr>
              <a:t> used in each round</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1. initial permutation of the key PC1 </a:t>
            </a:r>
          </a:p>
          <a:p>
            <a:pPr marL="263525" indent="-250825" defTabSz="232795" fontAlgn="base">
              <a:lnSpc>
                <a:spcPct val="200000"/>
              </a:lnSpc>
              <a:spcBef>
                <a:spcPts val="51"/>
              </a:spcBef>
              <a:spcAft>
                <a:spcPct val="0"/>
              </a:spcAft>
              <a:buFont typeface="Arial" pitchFamily="34" charset="0"/>
              <a:buChar char="•"/>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2. divide the 56-bits in two 28-bit halves</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3. at each round – 3.1. Left shift each half (28bits) separately either 1 or 2 places based on the left shift schedule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Shifted values will be input for next round – 3.2. Combine two </a:t>
            </a:r>
            <a:r>
              <a:rPr lang="en-US" sz="2000" dirty="0" err="1" smtClean="0">
                <a:latin typeface="Times New Roman" pitchFamily="18" charset="0"/>
                <a:cs typeface="Times New Roman" pitchFamily="18" charset="0"/>
              </a:rPr>
              <a:t>halfs</a:t>
            </a:r>
            <a:r>
              <a:rPr lang="en-US" sz="2000" dirty="0" smtClean="0">
                <a:latin typeface="Times New Roman" pitchFamily="18" charset="0"/>
                <a:cs typeface="Times New Roman" pitchFamily="18" charset="0"/>
              </a:rPr>
              <a:t> to 56 bits, permuting them by PC2 for use in function f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PC2 takes 56-bit input, outputs 48 bits</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DES Key Schedule</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4358066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50075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decrypt must unwind steps of data computation</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with </a:t>
            </a:r>
            <a:r>
              <a:rPr lang="en-US" sz="2000" dirty="0" err="1" smtClean="0">
                <a:latin typeface="Times New Roman" pitchFamily="18" charset="0"/>
                <a:cs typeface="Times New Roman" pitchFamily="18" charset="0"/>
              </a:rPr>
              <a:t>Feistel</a:t>
            </a:r>
            <a:r>
              <a:rPr lang="en-US" sz="2000" dirty="0" smtClean="0">
                <a:latin typeface="Times New Roman" pitchFamily="18" charset="0"/>
                <a:cs typeface="Times New Roman" pitchFamily="18" charset="0"/>
              </a:rPr>
              <a:t> design, do encryption steps again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using </a:t>
            </a:r>
            <a:r>
              <a:rPr lang="en-US" sz="2000" dirty="0" err="1" smtClean="0">
                <a:latin typeface="Times New Roman" pitchFamily="18" charset="0"/>
                <a:cs typeface="Times New Roman" pitchFamily="18" charset="0"/>
              </a:rPr>
              <a:t>subkeys</a:t>
            </a:r>
            <a:r>
              <a:rPr lang="en-US" sz="2000" dirty="0" smtClean="0">
                <a:latin typeface="Times New Roman" pitchFamily="18" charset="0"/>
                <a:cs typeface="Times New Roman" pitchFamily="18" charset="0"/>
              </a:rPr>
              <a:t> in reverse order (SK16 … SK1)</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note that IP undoes final FP step of encryption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1st round with SK16 undoes 16th encrypt round ….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16th round with SK1 undoes 1st encrypt round</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then final FP undoes initial encryption IP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thus recovering original data value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DES DECRYPTION</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2440725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DES Decryption (Reverse encryption)</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73090" y="1916832"/>
            <a:ext cx="7597827" cy="44887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452244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2494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key desirable property of encryption </a:t>
            </a:r>
            <a:r>
              <a:rPr lang="en-US" sz="2000" dirty="0" err="1" smtClean="0">
                <a:latin typeface="Times New Roman" pitchFamily="18" charset="0"/>
                <a:cs typeface="Times New Roman" pitchFamily="18" charset="0"/>
              </a:rPr>
              <a:t>alg</a:t>
            </a:r>
            <a:r>
              <a:rPr lang="en-US" sz="2000" dirty="0" smtClean="0">
                <a:latin typeface="Times New Roman" pitchFamily="18" charset="0"/>
                <a:cs typeface="Times New Roman" pitchFamily="18" charset="0"/>
              </a:rPr>
              <a:t>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DES exhibits strong avalanche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where a change of one input or key bit results in changing </a:t>
            </a:r>
            <a:r>
              <a:rPr lang="en-US" sz="2000" dirty="0" err="1" smtClean="0">
                <a:latin typeface="Times New Roman" pitchFamily="18" charset="0"/>
                <a:cs typeface="Times New Roman" pitchFamily="18" charset="0"/>
              </a:rPr>
              <a:t>approx</a:t>
            </a:r>
            <a:r>
              <a:rPr lang="en-US" sz="2000" dirty="0" smtClean="0">
                <a:latin typeface="Times New Roman" pitchFamily="18" charset="0"/>
                <a:cs typeface="Times New Roman" pitchFamily="18" charset="0"/>
              </a:rPr>
              <a:t> half output bits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AVALANCHE EFFECT </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32930199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98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Traditional </a:t>
            </a:r>
            <a:r>
              <a:rPr lang="en-US" altLang="en-US" sz="2000" dirty="0">
                <a:solidFill>
                  <a:prstClr val="black"/>
                </a:solidFill>
                <a:latin typeface="Times New Roman" pitchFamily="18" charset="0"/>
                <a:cs typeface="Times New Roman" pitchFamily="18" charset="0"/>
              </a:rPr>
              <a:t>private/secret/single-key cryptography </a:t>
            </a:r>
            <a:r>
              <a:rPr lang="en-US" altLang="en-US" sz="2000" dirty="0" smtClean="0">
                <a:solidFill>
                  <a:prstClr val="black"/>
                </a:solidFill>
                <a:latin typeface="Times New Roman" pitchFamily="18" charset="0"/>
                <a:cs typeface="Times New Roman" pitchFamily="18" charset="0"/>
              </a:rPr>
              <a:t>uses one key shared </a:t>
            </a:r>
            <a:r>
              <a:rPr lang="en-US" altLang="en-US" sz="2000" dirty="0">
                <a:solidFill>
                  <a:prstClr val="black"/>
                </a:solidFill>
                <a:latin typeface="Times New Roman" pitchFamily="18" charset="0"/>
                <a:cs typeface="Times New Roman" pitchFamily="18" charset="0"/>
              </a:rPr>
              <a:t>by both sender and </a:t>
            </a:r>
            <a:r>
              <a:rPr lang="en-US" altLang="en-US" sz="2000" dirty="0" smtClean="0">
                <a:solidFill>
                  <a:prstClr val="black"/>
                </a:solidFill>
                <a:latin typeface="Times New Roman" pitchFamily="18" charset="0"/>
                <a:cs typeface="Times New Roman" pitchFamily="18" charset="0"/>
              </a:rPr>
              <a:t>receiver.</a:t>
            </a:r>
            <a:endParaRPr lang="en-US" altLang="en-US" sz="2000" dirty="0">
              <a:solidFill>
                <a:prstClr val="black"/>
              </a:solidFill>
              <a:latin typeface="Times New Roman" pitchFamily="18" charset="0"/>
              <a:cs typeface="Times New Roman" pitchFamily="18" charset="0"/>
            </a:endParaRP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 </a:t>
            </a:r>
            <a:r>
              <a:rPr lang="en-US" altLang="en-US" sz="2000" dirty="0">
                <a:solidFill>
                  <a:prstClr val="black"/>
                </a:solidFill>
                <a:latin typeface="Times New Roman" pitchFamily="18" charset="0"/>
                <a:cs typeface="Times New Roman" pitchFamily="18" charset="0"/>
              </a:rPr>
              <a:t>if this key is disclosed communications are </a:t>
            </a:r>
            <a:r>
              <a:rPr lang="en-US" altLang="en-US" sz="2000" dirty="0" smtClean="0">
                <a:solidFill>
                  <a:prstClr val="black"/>
                </a:solidFill>
                <a:latin typeface="Times New Roman" pitchFamily="18" charset="0"/>
                <a:cs typeface="Times New Roman" pitchFamily="18" charset="0"/>
              </a:rPr>
              <a:t>compromised • </a:t>
            </a:r>
            <a:r>
              <a:rPr lang="en-US" altLang="en-US" sz="2000" dirty="0">
                <a:solidFill>
                  <a:prstClr val="black"/>
                </a:solidFill>
                <a:latin typeface="Times New Roman" pitchFamily="18" charset="0"/>
                <a:cs typeface="Times New Roman" pitchFamily="18" charset="0"/>
              </a:rPr>
              <a:t>also is symmetric, parties are </a:t>
            </a:r>
            <a:r>
              <a:rPr lang="en-US" altLang="en-US" sz="2000" dirty="0" smtClean="0">
                <a:solidFill>
                  <a:prstClr val="black"/>
                </a:solidFill>
                <a:latin typeface="Times New Roman" pitchFamily="18" charset="0"/>
                <a:cs typeface="Times New Roman" pitchFamily="18" charset="0"/>
              </a:rPr>
              <a:t>equal </a:t>
            </a:r>
            <a:r>
              <a:rPr lang="en-US" altLang="en-US" sz="2000" dirty="0">
                <a:solidFill>
                  <a:prstClr val="black"/>
                </a:solidFill>
                <a:latin typeface="Times New Roman" pitchFamily="18" charset="0"/>
                <a:cs typeface="Times New Roman" pitchFamily="18" charset="0"/>
              </a:rPr>
              <a:t>hence does not protect sender from receiver forging </a:t>
            </a:r>
            <a:r>
              <a:rPr lang="en-US" altLang="en-US" sz="2000" dirty="0" smtClean="0">
                <a:solidFill>
                  <a:prstClr val="black"/>
                </a:solidFill>
                <a:latin typeface="Times New Roman" pitchFamily="18" charset="0"/>
                <a:cs typeface="Times New Roman" pitchFamily="18" charset="0"/>
              </a:rPr>
              <a:t>a message </a:t>
            </a:r>
            <a:r>
              <a:rPr lang="en-US" altLang="en-US" sz="2000" dirty="0">
                <a:solidFill>
                  <a:prstClr val="black"/>
                </a:solidFill>
                <a:latin typeface="Times New Roman" pitchFamily="18" charset="0"/>
                <a:cs typeface="Times New Roman" pitchFamily="18" charset="0"/>
              </a:rPr>
              <a:t>&amp; claiming it’s sent by </a:t>
            </a:r>
            <a:r>
              <a:rPr lang="en-US" altLang="en-US" sz="2000" dirty="0" smtClean="0">
                <a:solidFill>
                  <a:prstClr val="black"/>
                </a:solidFill>
                <a:latin typeface="Times New Roman" pitchFamily="18" charset="0"/>
                <a:cs typeface="Times New Roman" pitchFamily="18" charset="0"/>
              </a:rPr>
              <a:t>sender </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 </a:t>
            </a:r>
            <a:r>
              <a:rPr lang="en-US" altLang="en-US" sz="2000" dirty="0">
                <a:solidFill>
                  <a:prstClr val="black"/>
                </a:solidFill>
                <a:latin typeface="Times New Roman" pitchFamily="18" charset="0"/>
                <a:cs typeface="Times New Roman" pitchFamily="18" charset="0"/>
              </a:rPr>
              <a:t>probably most significant advance in the 3000 </a:t>
            </a:r>
            <a:r>
              <a:rPr lang="en-US" altLang="en-US" sz="2000" dirty="0" smtClean="0">
                <a:solidFill>
                  <a:prstClr val="black"/>
                </a:solidFill>
                <a:latin typeface="Times New Roman" pitchFamily="18" charset="0"/>
                <a:cs typeface="Times New Roman" pitchFamily="18" charset="0"/>
              </a:rPr>
              <a:t>year history </a:t>
            </a:r>
            <a:r>
              <a:rPr lang="en-US" altLang="en-US" sz="2000" dirty="0">
                <a:solidFill>
                  <a:prstClr val="black"/>
                </a:solidFill>
                <a:latin typeface="Times New Roman" pitchFamily="18" charset="0"/>
                <a:cs typeface="Times New Roman" pitchFamily="18" charset="0"/>
              </a:rPr>
              <a:t>of </a:t>
            </a:r>
            <a:r>
              <a:rPr lang="en-US" altLang="en-US" sz="2000" dirty="0" smtClean="0">
                <a:solidFill>
                  <a:prstClr val="black"/>
                </a:solidFill>
                <a:latin typeface="Times New Roman" pitchFamily="18" charset="0"/>
                <a:cs typeface="Times New Roman" pitchFamily="18" charset="0"/>
              </a:rPr>
              <a:t>cryptography </a:t>
            </a:r>
            <a:r>
              <a:rPr lang="en-US" altLang="en-US" sz="2000" dirty="0">
                <a:solidFill>
                  <a:prstClr val="black"/>
                </a:solidFill>
                <a:latin typeface="Times New Roman" pitchFamily="18" charset="0"/>
                <a:cs typeface="Times New Roman" pitchFamily="18" charset="0"/>
              </a:rPr>
              <a:t>uses two keys – a public &amp; a private </a:t>
            </a:r>
            <a:r>
              <a:rPr lang="en-US" altLang="en-US" sz="2000" dirty="0" smtClean="0">
                <a:solidFill>
                  <a:prstClr val="black"/>
                </a:solidFill>
                <a:latin typeface="Times New Roman" pitchFamily="18" charset="0"/>
                <a:cs typeface="Times New Roman" pitchFamily="18" charset="0"/>
              </a:rPr>
              <a:t>key </a:t>
            </a:r>
          </a:p>
          <a:p>
            <a:pPr marL="263525" indent="-250825" defTabSz="232795" fontAlgn="base">
              <a:lnSpc>
                <a:spcPct val="200000"/>
              </a:lnSpc>
              <a:spcBef>
                <a:spcPts val="51"/>
              </a:spcBef>
              <a:spcAft>
                <a:spcPct val="0"/>
              </a:spcAft>
              <a:buFont typeface="Arial" pitchFamily="34" charset="0"/>
              <a:buChar char="•"/>
            </a:pPr>
            <a:r>
              <a:rPr lang="en-US" altLang="en-US" sz="2000" dirty="0" smtClean="0">
                <a:solidFill>
                  <a:prstClr val="black"/>
                </a:solidFill>
                <a:latin typeface="Times New Roman" pitchFamily="18" charset="0"/>
                <a:cs typeface="Times New Roman" pitchFamily="18" charset="0"/>
              </a:rPr>
              <a:t> </a:t>
            </a:r>
            <a:r>
              <a:rPr lang="en-US" altLang="en-US" sz="2000" dirty="0">
                <a:solidFill>
                  <a:prstClr val="black"/>
                </a:solidFill>
                <a:latin typeface="Times New Roman" pitchFamily="18" charset="0"/>
                <a:cs typeface="Times New Roman" pitchFamily="18" charset="0"/>
              </a:rPr>
              <a:t>asymmetric since parties are not equal </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Principles of Public Cryptosystems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8971182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2124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a:latin typeface="Times New Roman" pitchFamily="18" charset="0"/>
                <a:cs typeface="Times New Roman" pitchFamily="18" charset="0"/>
              </a:rPr>
              <a:t>U</a:t>
            </a:r>
            <a:r>
              <a:rPr lang="en-US" sz="2000" dirty="0" smtClean="0">
                <a:latin typeface="Times New Roman" pitchFamily="18" charset="0"/>
                <a:cs typeface="Times New Roman" pitchFamily="18" charset="0"/>
              </a:rPr>
              <a:t>ses clever application of number theoretic concepts to function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Complements rather than replaces private key crypto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Public-key/two-key/asymmetric cryptography involves the use of two keys: – a public-key, which may be known by anybody, and can be used to encrypt messages, and verify signatures </a:t>
            </a:r>
          </a:p>
          <a:p>
            <a:pPr marL="12700" indent="0" defTabSz="232795" fontAlgn="base">
              <a:lnSpc>
                <a:spcPct val="150000"/>
              </a:lnSpc>
              <a:spcBef>
                <a:spcPts val="51"/>
              </a:spcBef>
              <a:spcAft>
                <a:spcPct val="0"/>
              </a:spcAft>
            </a:pP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    – a private-key, known only to the recipient, used to decrypt messages,  and sign (create) signatures</a:t>
            </a:r>
          </a:p>
          <a:p>
            <a:pPr marL="12700" indent="0" defTabSz="232795" fontAlgn="base">
              <a:lnSpc>
                <a:spcPct val="150000"/>
              </a:lnSpc>
              <a:spcBef>
                <a:spcPts val="51"/>
              </a:spcBef>
              <a:spcAft>
                <a:spcPct val="0"/>
              </a:spcAft>
            </a:pPr>
            <a:r>
              <a:rPr lang="en-US" sz="2000" dirty="0" smtClean="0">
                <a:latin typeface="Times New Roman" pitchFamily="18" charset="0"/>
                <a:cs typeface="Times New Roman" pitchFamily="18" charset="0"/>
              </a:rPr>
              <a:t> • is asymmetric because – those who encrypt messages or verify signatures cannot decrypt messages or create signatures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Public-Key Cryptosystems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2372596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Public-Key Cryptosystems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59632" y="1772816"/>
            <a:ext cx="7559716" cy="39993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357370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3535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sz="2000" dirty="0">
                <a:latin typeface="Times New Roman" pitchFamily="18" charset="0"/>
                <a:cs typeface="Times New Roman" pitchFamily="18" charset="0"/>
              </a:rPr>
              <a:t>D</a:t>
            </a:r>
            <a:r>
              <a:rPr lang="en-US" sz="2000" dirty="0" smtClean="0">
                <a:latin typeface="Times New Roman" pitchFamily="18" charset="0"/>
                <a:cs typeface="Times New Roman" pitchFamily="18" charset="0"/>
              </a:rPr>
              <a:t>eveloped to address two key issues:</a:t>
            </a:r>
          </a:p>
          <a:p>
            <a:pPr marL="422275" lvl="1"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 key distribution – how to have secure communications in general without having to trust a KDC with your key </a:t>
            </a:r>
          </a:p>
          <a:p>
            <a:pPr marL="422275" lvl="1"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digital signatures – how to verify a message comes intact from the claimed sender </a:t>
            </a:r>
          </a:p>
          <a:p>
            <a:pPr marL="422275" lvl="1" indent="-250825" defTabSz="232795" fontAlgn="base">
              <a:lnSpc>
                <a:spcPct val="200000"/>
              </a:lnSpc>
              <a:spcBef>
                <a:spcPts val="51"/>
              </a:spcBef>
              <a:spcAft>
                <a:spcPct val="0"/>
              </a:spcAft>
              <a:buFont typeface="Arial" pitchFamily="34" charset="0"/>
              <a:buChar char="•"/>
            </a:pPr>
            <a:r>
              <a:rPr lang="en-US" sz="2000" dirty="0">
                <a:latin typeface="Times New Roman" pitchFamily="18" charset="0"/>
                <a:cs typeface="Times New Roman" pitchFamily="18" charset="0"/>
              </a:rPr>
              <a:t>P</a:t>
            </a:r>
            <a:r>
              <a:rPr lang="en-US" sz="2000" dirty="0" smtClean="0">
                <a:latin typeface="Times New Roman" pitchFamily="18" charset="0"/>
                <a:cs typeface="Times New Roman" pitchFamily="18" charset="0"/>
              </a:rPr>
              <a:t>ublic invention due to Whitfield </a:t>
            </a:r>
            <a:r>
              <a:rPr lang="en-US" sz="2000" dirty="0" err="1" smtClean="0">
                <a:latin typeface="Times New Roman" pitchFamily="18" charset="0"/>
                <a:cs typeface="Times New Roman" pitchFamily="18" charset="0"/>
              </a:rPr>
              <a:t>Diffie</a:t>
            </a:r>
            <a:r>
              <a:rPr lang="en-US" sz="2000" dirty="0" smtClean="0">
                <a:latin typeface="Times New Roman" pitchFamily="18" charset="0"/>
                <a:cs typeface="Times New Roman" pitchFamily="18" charset="0"/>
              </a:rPr>
              <a:t> &amp; Martin Hellman at Stanford </a:t>
            </a:r>
            <a:r>
              <a:rPr lang="en-US" sz="2000" dirty="0" err="1" smtClean="0">
                <a:latin typeface="Times New Roman" pitchFamily="18" charset="0"/>
                <a:cs typeface="Times New Roman" pitchFamily="18" charset="0"/>
              </a:rPr>
              <a:t>Uni</a:t>
            </a:r>
            <a:r>
              <a:rPr lang="en-US" sz="2000" dirty="0" smtClean="0">
                <a:latin typeface="Times New Roman" pitchFamily="18" charset="0"/>
                <a:cs typeface="Times New Roman" pitchFamily="18" charset="0"/>
              </a:rPr>
              <a:t> in 1976</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Applications for Public-Key Cryptosystems </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28658242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3535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Public-Key algorithms rely on two keys with the characteristics that it is: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computationally infeasible to find decryption key knowing only algorithm &amp; encryption key</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 computationally easy to en/decrypt messages when the relevant (en/decrypt) key is known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either of the two related keys can be used for encryption, with the other used for decryption (in some schemes)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Requirements for Public-Key Cryptosystems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11481582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Public-Key Cryptanalysis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58517" y="1889569"/>
            <a:ext cx="7371358" cy="39397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4008599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31352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200000"/>
              </a:lnSpc>
              <a:spcBef>
                <a:spcPts val="51"/>
              </a:spcBef>
              <a:spcAft>
                <a:spcPct val="0"/>
              </a:spcAft>
              <a:buFont typeface="Arial" pitchFamily="34" charset="0"/>
              <a:buChar char="•"/>
            </a:pPr>
            <a:r>
              <a:rPr lang="en-US" sz="2000" dirty="0">
                <a:latin typeface="Times New Roman" pitchFamily="18" charset="0"/>
                <a:cs typeface="Times New Roman" pitchFamily="18" charset="0"/>
              </a:rPr>
              <a:t>C</a:t>
            </a:r>
            <a:r>
              <a:rPr lang="en-US" sz="2000" dirty="0" smtClean="0">
                <a:latin typeface="Times New Roman" pitchFamily="18" charset="0"/>
                <a:cs typeface="Times New Roman" pitchFamily="18" charset="0"/>
              </a:rPr>
              <a:t>an classify uses into 3 categories: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–encryption/decryption (provide secrecy) </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–digital signatures (provide authentication)</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–key exchange (of session keys)</a:t>
            </a:r>
          </a:p>
          <a:p>
            <a:pPr marL="263525" indent="-250825" defTabSz="232795" fontAlgn="base">
              <a:lnSpc>
                <a:spcPct val="20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 some algorithms are suitable for all uses, others are specific to one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PUBLIC-KEY APPLICATIONS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24846947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42124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a:latin typeface="Times New Roman" pitchFamily="18" charset="0"/>
                <a:cs typeface="Times New Roman" pitchFamily="18" charset="0"/>
              </a:rPr>
              <a:t>L</a:t>
            </a:r>
            <a:r>
              <a:rPr lang="en-US" sz="2000" dirty="0" smtClean="0">
                <a:latin typeface="Times New Roman" pitchFamily="18" charset="0"/>
                <a:cs typeface="Times New Roman" pitchFamily="18" charset="0"/>
              </a:rPr>
              <a:t>ike private key schemes brute force exhaustive search attack is always theoretically possible</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But keys used are too large (&gt;512bits)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Security relies on a large enough difference in difficulty between easy (en/decrypt) and hard (</a:t>
            </a:r>
            <a:r>
              <a:rPr lang="en-US" sz="2000" dirty="0" err="1" smtClean="0">
                <a:latin typeface="Times New Roman" pitchFamily="18" charset="0"/>
                <a:cs typeface="Times New Roman" pitchFamily="18" charset="0"/>
              </a:rPr>
              <a:t>cryptanalyse</a:t>
            </a:r>
            <a:r>
              <a:rPr lang="en-US" sz="2000" dirty="0" smtClean="0">
                <a:latin typeface="Times New Roman" pitchFamily="18" charset="0"/>
                <a:cs typeface="Times New Roman" pitchFamily="18" charset="0"/>
              </a:rPr>
              <a:t>) problems</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More generally the hard problem is known, its just made too hard to do in </a:t>
            </a:r>
            <a:r>
              <a:rPr lang="en-US" sz="2000" dirty="0" err="1" smtClean="0">
                <a:latin typeface="Times New Roman" pitchFamily="18" charset="0"/>
                <a:cs typeface="Times New Roman" pitchFamily="18" charset="0"/>
              </a:rPr>
              <a:t>practise</a:t>
            </a:r>
            <a:r>
              <a:rPr lang="en-US" sz="2000" dirty="0" smtClean="0">
                <a:latin typeface="Times New Roman" pitchFamily="18" charset="0"/>
                <a:cs typeface="Times New Roman" pitchFamily="18" charset="0"/>
              </a:rPr>
              <a:t> </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Requires the use of very large numbers  hence is slow compared to private key schemes </a:t>
            </a:r>
            <a:endParaRPr lang="en-US" altLang="en-US" sz="2000" dirty="0">
              <a:solidFill>
                <a:prstClr val="black"/>
              </a:solidFill>
              <a:latin typeface="Times New Roman" pitchFamily="18" charset="0"/>
              <a:cs typeface="Times New Roman" pitchFamily="18" charset="0"/>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a:solidFill>
                  <a:prstClr val="black"/>
                </a:solidFill>
                <a:latin typeface="Times New Roman" pitchFamily="18" charset="0"/>
                <a:cs typeface="Times New Roman" pitchFamily="18" charset="0"/>
              </a:rPr>
              <a:t>SECURITY OF PUBLIC KEY SCHEMES</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Tree>
    <p:extLst>
      <p:ext uri="{BB962C8B-B14F-4D97-AF65-F5344CB8AC3E}">
        <p14:creationId xmlns:p14="http://schemas.microsoft.com/office/powerpoint/2010/main" xmlns="" val="6428369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0243"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0244"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0245"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0247" name="object 8"/>
          <p:cNvSpPr txBox="1">
            <a:spLocks noChangeArrowheads="1"/>
          </p:cNvSpPr>
          <p:nvPr/>
        </p:nvSpPr>
        <p:spPr bwMode="auto">
          <a:xfrm>
            <a:off x="2319214" y="795159"/>
            <a:ext cx="4215309" cy="390926"/>
          </a:xfrm>
          <a:prstGeom prst="rect">
            <a:avLst/>
          </a:prstGeom>
          <a:noFill/>
          <a:ln w="9525">
            <a:noFill/>
            <a:miter lim="800000"/>
            <a:headEnd/>
            <a:tailEnd/>
          </a:ln>
        </p:spPr>
        <p:txBody>
          <a:bodyPr lIns="0" tIns="6145" rIns="0" bIns="0">
            <a:spAutoFit/>
          </a:bodyPr>
          <a:lstStyle/>
          <a:p>
            <a:pPr marL="472172" indent="-465704" algn="ctr">
              <a:spcBef>
                <a:spcPts val="51"/>
              </a:spcBef>
              <a:tabLst>
                <a:tab pos="3301970" algn="l"/>
              </a:tabLst>
            </a:pPr>
            <a:r>
              <a:rPr lang="en-IN" altLang="en-US" sz="2500" dirty="0">
                <a:solidFill>
                  <a:srgbClr val="005893"/>
                </a:solidFill>
                <a:latin typeface="Playfair Display" charset="0"/>
              </a:rPr>
              <a:t>Introduction </a:t>
            </a:r>
            <a:r>
              <a:rPr lang="en-IN" altLang="en-US" sz="2500" dirty="0" smtClean="0">
                <a:solidFill>
                  <a:srgbClr val="005893"/>
                </a:solidFill>
                <a:latin typeface="Playfair Display" charset="0"/>
              </a:rPr>
              <a:t>RSA</a:t>
            </a:r>
            <a:endParaRPr lang="en-IN" altLang="en-US" sz="2500" dirty="0">
              <a:solidFill>
                <a:srgbClr val="005893"/>
              </a:solidFill>
              <a:latin typeface="Playfair Display" charset="0"/>
            </a:endParaRPr>
          </a:p>
        </p:txBody>
      </p:sp>
      <p:sp>
        <p:nvSpPr>
          <p:cNvPr id="10248"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0249"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0250" name="TextBox 1"/>
          <p:cNvSpPr txBox="1">
            <a:spLocks noChangeArrowheads="1"/>
          </p:cNvSpPr>
          <p:nvPr/>
        </p:nvSpPr>
        <p:spPr bwMode="auto">
          <a:xfrm>
            <a:off x="457056" y="1349651"/>
            <a:ext cx="8428451" cy="3740344"/>
          </a:xfrm>
          <a:prstGeom prst="rect">
            <a:avLst/>
          </a:prstGeom>
          <a:noFill/>
          <a:ln w="9525">
            <a:noFill/>
            <a:miter lim="800000"/>
            <a:headEnd/>
            <a:tailEnd/>
          </a:ln>
        </p:spPr>
        <p:txBody>
          <a:bodyPr lIns="46570" tIns="23285" rIns="46570" bIns="23285">
            <a:spAutoFit/>
          </a:bodyPr>
          <a:lstStyle/>
          <a:p>
            <a:pPr marL="291065" indent="-291065">
              <a:lnSpc>
                <a:spcPct val="150000"/>
              </a:lnSpc>
              <a:buFont typeface="Arial" pitchFamily="34" charset="0"/>
              <a:buChar char="•"/>
            </a:pPr>
            <a:r>
              <a:rPr lang="en-IN" sz="2000" dirty="0" smtClean="0"/>
              <a:t>by </a:t>
            </a:r>
            <a:r>
              <a:rPr lang="en-IN" sz="2000" dirty="0" err="1" smtClean="0"/>
              <a:t>Rivest</a:t>
            </a:r>
            <a:r>
              <a:rPr lang="en-IN" sz="2000" dirty="0" smtClean="0"/>
              <a:t>, Shamir &amp; </a:t>
            </a:r>
            <a:r>
              <a:rPr lang="en-IN" sz="2000" dirty="0" err="1" smtClean="0"/>
              <a:t>Adleman</a:t>
            </a:r>
            <a:r>
              <a:rPr lang="en-IN" sz="2000" dirty="0" smtClean="0"/>
              <a:t> of MIT in 1977 </a:t>
            </a:r>
          </a:p>
          <a:p>
            <a:pPr marL="291065" indent="-291065">
              <a:lnSpc>
                <a:spcPct val="150000"/>
              </a:lnSpc>
              <a:buFont typeface="Arial" pitchFamily="34" charset="0"/>
              <a:buChar char="•"/>
            </a:pPr>
            <a:r>
              <a:rPr lang="en-IN" sz="2000" dirty="0" smtClean="0"/>
              <a:t>best known &amp; widely used public-key scheme </a:t>
            </a:r>
          </a:p>
          <a:p>
            <a:pPr marL="291065" indent="-291065">
              <a:lnSpc>
                <a:spcPct val="150000"/>
              </a:lnSpc>
              <a:buFont typeface="Arial" pitchFamily="34" charset="0"/>
              <a:buChar char="•"/>
            </a:pPr>
            <a:r>
              <a:rPr lang="en-IN" sz="2000" dirty="0" smtClean="0"/>
              <a:t>based on exponentiation in a finite (Galois) field over integers modulo a prime – </a:t>
            </a:r>
            <a:r>
              <a:rPr lang="en-IN" sz="2000" dirty="0" err="1" smtClean="0"/>
              <a:t>nb</a:t>
            </a:r>
            <a:r>
              <a:rPr lang="en-IN" sz="2000" dirty="0" smtClean="0"/>
              <a:t>. exponentiation takes O((log n)3 ) operations (easy) </a:t>
            </a:r>
          </a:p>
          <a:p>
            <a:pPr marL="291065" indent="-291065">
              <a:lnSpc>
                <a:spcPct val="150000"/>
              </a:lnSpc>
              <a:buFont typeface="Arial" pitchFamily="34" charset="0"/>
              <a:buChar char="•"/>
            </a:pPr>
            <a:r>
              <a:rPr lang="en-IN" sz="2000" dirty="0" smtClean="0"/>
              <a:t> uses large integers (</a:t>
            </a:r>
            <a:r>
              <a:rPr lang="en-IN" sz="2000" dirty="0" err="1" smtClean="0"/>
              <a:t>eg</a:t>
            </a:r>
            <a:r>
              <a:rPr lang="en-IN" sz="2000" dirty="0" smtClean="0"/>
              <a:t>. 1024 bits) </a:t>
            </a:r>
          </a:p>
          <a:p>
            <a:pPr marL="291065" indent="-291065">
              <a:lnSpc>
                <a:spcPct val="150000"/>
              </a:lnSpc>
              <a:buFont typeface="Arial" pitchFamily="34" charset="0"/>
              <a:buChar char="•"/>
            </a:pPr>
            <a:r>
              <a:rPr lang="en-IN" sz="2000" dirty="0" smtClean="0"/>
              <a:t>security due to cost of factoring large numbers – </a:t>
            </a:r>
            <a:r>
              <a:rPr lang="en-IN" sz="2000" dirty="0" err="1" smtClean="0"/>
              <a:t>nb</a:t>
            </a:r>
            <a:r>
              <a:rPr lang="en-IN" sz="2000" dirty="0" smtClean="0"/>
              <a:t>. factorization takes operations       </a:t>
            </a:r>
            <a:endParaRPr lang="en-IN" sz="2000" dirty="0">
              <a:latin typeface="Times New Roman" pitchFamily="18" charset="0"/>
              <a:cs typeface="Times New Roman" pitchFamily="18" charset="0"/>
            </a:endParaRPr>
          </a:p>
          <a:p>
            <a:pPr marL="291065" indent="-291065" algn="ctr">
              <a:lnSpc>
                <a:spcPct val="150000"/>
              </a:lnSpc>
            </a:pPr>
            <a:endParaRPr lang="en-IN" sz="2000" b="1" dirty="0"/>
          </a:p>
        </p:txBody>
      </p:sp>
      <p:pic>
        <p:nvPicPr>
          <p:cNvPr id="10252" name="Picture 12"/>
          <p:cNvPicPr>
            <a:picLocks noChangeAspect="1" noChangeArrowheads="1"/>
          </p:cNvPicPr>
          <p:nvPr/>
        </p:nvPicPr>
        <p:blipFill>
          <a:blip r:embed="rId3"/>
          <a:srcRect/>
          <a:stretch>
            <a:fillRect/>
          </a:stretch>
        </p:blipFill>
        <p:spPr bwMode="auto">
          <a:xfrm>
            <a:off x="794251" y="4722817"/>
            <a:ext cx="1524963" cy="50828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29658"/>
            <a:ext cx="7719402" cy="4971450"/>
          </a:xfrm>
          <a:prstGeom prst="rect">
            <a:avLst/>
          </a:prstGeom>
          <a:noFill/>
          <a:ln w="9525">
            <a:noFill/>
            <a:miter lim="800000"/>
            <a:headEnd/>
            <a:tailEnd/>
          </a:ln>
        </p:spPr>
        <p:txBody>
          <a:bodyPr lIns="46570" tIns="23285" rIns="46570" bIns="23285">
            <a:spAutoFit/>
          </a:bodyPr>
          <a:lstStyle/>
          <a:p>
            <a:r>
              <a:rPr lang="en-IN" sz="2000" dirty="0" smtClean="0"/>
              <a:t>RSA Key Setup:</a:t>
            </a:r>
            <a:endParaRPr lang="en-IN" sz="2000" dirty="0"/>
          </a:p>
          <a:p>
            <a:pPr>
              <a:lnSpc>
                <a:spcPct val="150000"/>
              </a:lnSpc>
              <a:buFont typeface="Arial" pitchFamily="34" charset="0"/>
              <a:buChar char="•"/>
            </a:pPr>
            <a:r>
              <a:rPr lang="en-IN" sz="2000" dirty="0" smtClean="0"/>
              <a:t>each user generates a public/private key pair by: </a:t>
            </a:r>
          </a:p>
          <a:p>
            <a:pPr>
              <a:lnSpc>
                <a:spcPct val="150000"/>
              </a:lnSpc>
              <a:buFont typeface="Arial" pitchFamily="34" charset="0"/>
              <a:buChar char="•"/>
            </a:pPr>
            <a:r>
              <a:rPr lang="en-IN" sz="2000" dirty="0" smtClean="0"/>
              <a:t> selecting two large primes at random - p, q </a:t>
            </a:r>
          </a:p>
          <a:p>
            <a:pPr>
              <a:lnSpc>
                <a:spcPct val="150000"/>
              </a:lnSpc>
              <a:buFont typeface="Arial" pitchFamily="34" charset="0"/>
              <a:buChar char="•"/>
            </a:pPr>
            <a:r>
              <a:rPr lang="en-IN" sz="2000" dirty="0" smtClean="0"/>
              <a:t> computing their system modulus N=</a:t>
            </a:r>
            <a:r>
              <a:rPr lang="en-IN" sz="2000" dirty="0" err="1" smtClean="0"/>
              <a:t>p.q</a:t>
            </a:r>
            <a:r>
              <a:rPr lang="en-IN" sz="2000" dirty="0" smtClean="0"/>
              <a:t> </a:t>
            </a:r>
          </a:p>
          <a:p>
            <a:pPr lvl="4">
              <a:lnSpc>
                <a:spcPct val="150000"/>
              </a:lnSpc>
            </a:pPr>
            <a:r>
              <a:rPr lang="en-IN" sz="2000" dirty="0" smtClean="0"/>
              <a:t>– note ø(N)=(p-1)(q-1) </a:t>
            </a:r>
          </a:p>
          <a:p>
            <a:pPr>
              <a:lnSpc>
                <a:spcPct val="150000"/>
              </a:lnSpc>
              <a:buFont typeface="Arial" pitchFamily="34" charset="0"/>
              <a:buChar char="•"/>
            </a:pPr>
            <a:r>
              <a:rPr lang="en-IN" sz="2000" dirty="0" smtClean="0"/>
              <a:t> selecting at random the encryption key e </a:t>
            </a:r>
          </a:p>
          <a:p>
            <a:pPr lvl="4">
              <a:lnSpc>
                <a:spcPct val="150000"/>
              </a:lnSpc>
            </a:pPr>
            <a:r>
              <a:rPr lang="en-IN" sz="2000" dirty="0" smtClean="0"/>
              <a:t>– where 1&lt;e, </a:t>
            </a:r>
            <a:r>
              <a:rPr lang="en-IN" sz="2000" dirty="0" err="1" smtClean="0"/>
              <a:t>gcd</a:t>
            </a:r>
            <a:r>
              <a:rPr lang="en-IN" sz="2000" dirty="0" smtClean="0"/>
              <a:t>(</a:t>
            </a:r>
            <a:r>
              <a:rPr lang="en-IN" sz="2000" dirty="0" err="1" smtClean="0"/>
              <a:t>e,ø</a:t>
            </a:r>
            <a:r>
              <a:rPr lang="en-IN" sz="2000" dirty="0" smtClean="0"/>
              <a:t>(N))=1 </a:t>
            </a:r>
          </a:p>
          <a:p>
            <a:pPr>
              <a:lnSpc>
                <a:spcPct val="150000"/>
              </a:lnSpc>
              <a:buFont typeface="Arial" pitchFamily="34" charset="0"/>
              <a:buChar char="•"/>
            </a:pPr>
            <a:r>
              <a:rPr lang="en-IN" sz="2000" dirty="0" smtClean="0"/>
              <a:t>solve following equation to find decryption key d </a:t>
            </a:r>
          </a:p>
          <a:p>
            <a:pPr lvl="4">
              <a:lnSpc>
                <a:spcPct val="150000"/>
              </a:lnSpc>
            </a:pPr>
            <a:r>
              <a:rPr lang="en-IN" sz="2000" dirty="0" smtClean="0"/>
              <a:t>– </a:t>
            </a:r>
            <a:r>
              <a:rPr lang="en-IN" sz="2000" dirty="0" err="1" smtClean="0"/>
              <a:t>e.d</a:t>
            </a:r>
            <a:r>
              <a:rPr lang="en-IN" sz="2000" dirty="0" smtClean="0"/>
              <a:t>=1 mod ø(N) and 0≤d≤N</a:t>
            </a:r>
          </a:p>
          <a:p>
            <a:pPr>
              <a:lnSpc>
                <a:spcPct val="150000"/>
              </a:lnSpc>
              <a:buFont typeface="Arial" pitchFamily="34" charset="0"/>
              <a:buChar char="•"/>
            </a:pPr>
            <a:r>
              <a:rPr lang="en-IN" sz="2000" dirty="0" smtClean="0"/>
              <a:t>publish their public encryption key: KU={</a:t>
            </a:r>
            <a:r>
              <a:rPr lang="en-IN" sz="2000" dirty="0" err="1" smtClean="0"/>
              <a:t>e,N</a:t>
            </a:r>
            <a:r>
              <a:rPr lang="en-IN" sz="2000" dirty="0" smtClean="0"/>
              <a:t>} </a:t>
            </a:r>
          </a:p>
          <a:p>
            <a:pPr>
              <a:lnSpc>
                <a:spcPct val="150000"/>
              </a:lnSpc>
              <a:buFont typeface="Arial" pitchFamily="34" charset="0"/>
              <a:buChar char="•"/>
            </a:pPr>
            <a:r>
              <a:rPr lang="en-IN" sz="2000" dirty="0" smtClean="0"/>
              <a:t>keep secret private decryption key: KR={</a:t>
            </a:r>
            <a:r>
              <a:rPr lang="en-IN" sz="2000" dirty="0" err="1" smtClean="0"/>
              <a:t>d,p,q</a:t>
            </a:r>
            <a:r>
              <a:rPr lang="en-IN" sz="2000" dirty="0" smtClean="0"/>
              <a:t>}</a:t>
            </a:r>
            <a:endParaRPr lang="en-IN" sz="20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29658"/>
            <a:ext cx="7719402" cy="4048120"/>
          </a:xfrm>
          <a:prstGeom prst="rect">
            <a:avLst/>
          </a:prstGeom>
          <a:noFill/>
          <a:ln w="9525">
            <a:noFill/>
            <a:miter lim="800000"/>
            <a:headEnd/>
            <a:tailEnd/>
          </a:ln>
        </p:spPr>
        <p:txBody>
          <a:bodyPr lIns="46570" tIns="23285" rIns="46570" bIns="23285">
            <a:spAutoFit/>
          </a:bodyPr>
          <a:lstStyle/>
          <a:p>
            <a:r>
              <a:rPr lang="en-IN" sz="2000" dirty="0" smtClean="0"/>
              <a:t>RSA Use :</a:t>
            </a:r>
          </a:p>
          <a:p>
            <a:pPr>
              <a:lnSpc>
                <a:spcPct val="150000"/>
              </a:lnSpc>
              <a:buFont typeface="Arial" pitchFamily="34" charset="0"/>
              <a:buChar char="•"/>
            </a:pPr>
            <a:r>
              <a:rPr lang="en-IN" sz="2000" dirty="0" smtClean="0"/>
              <a:t>to encrypt a message M the sender: </a:t>
            </a:r>
          </a:p>
          <a:p>
            <a:pPr lvl="2">
              <a:lnSpc>
                <a:spcPct val="150000"/>
              </a:lnSpc>
            </a:pPr>
            <a:r>
              <a:rPr lang="en-IN" sz="2000" dirty="0" smtClean="0"/>
              <a:t>– obtains public key of recipient KU={</a:t>
            </a:r>
            <a:r>
              <a:rPr lang="en-IN" sz="2000" dirty="0" err="1" smtClean="0"/>
              <a:t>e,N</a:t>
            </a:r>
            <a:r>
              <a:rPr lang="en-IN" sz="2000" dirty="0" smtClean="0"/>
              <a:t>} </a:t>
            </a:r>
          </a:p>
          <a:p>
            <a:pPr lvl="2">
              <a:lnSpc>
                <a:spcPct val="150000"/>
              </a:lnSpc>
            </a:pPr>
            <a:r>
              <a:rPr lang="en-IN" sz="2000" dirty="0" smtClean="0"/>
              <a:t>– computes: C=Me mod N, where 0≤M</a:t>
            </a:r>
          </a:p>
          <a:p>
            <a:pPr>
              <a:lnSpc>
                <a:spcPct val="150000"/>
              </a:lnSpc>
              <a:buFont typeface="Arial" pitchFamily="34" charset="0"/>
              <a:buChar char="•"/>
            </a:pPr>
            <a:r>
              <a:rPr lang="en-IN" sz="2000" dirty="0" smtClean="0"/>
              <a:t>to decrypt the </a:t>
            </a:r>
            <a:r>
              <a:rPr lang="en-IN" sz="2000" dirty="0" err="1" smtClean="0"/>
              <a:t>ciphertext</a:t>
            </a:r>
            <a:r>
              <a:rPr lang="en-IN" sz="2000" dirty="0" smtClean="0"/>
              <a:t> C the owner: </a:t>
            </a:r>
          </a:p>
          <a:p>
            <a:pPr lvl="2">
              <a:lnSpc>
                <a:spcPct val="150000"/>
              </a:lnSpc>
            </a:pPr>
            <a:r>
              <a:rPr lang="en-IN" sz="2000" dirty="0" smtClean="0"/>
              <a:t>– uses their private key KR={</a:t>
            </a:r>
            <a:r>
              <a:rPr lang="en-IN" sz="2000" dirty="0" err="1" smtClean="0"/>
              <a:t>d,p,q</a:t>
            </a:r>
            <a:r>
              <a:rPr lang="en-IN" sz="2000" dirty="0" smtClean="0"/>
              <a:t>} </a:t>
            </a:r>
          </a:p>
          <a:p>
            <a:pPr lvl="2">
              <a:lnSpc>
                <a:spcPct val="150000"/>
              </a:lnSpc>
            </a:pPr>
            <a:r>
              <a:rPr lang="en-IN" sz="2000" dirty="0" smtClean="0"/>
              <a:t>– computes: M=</a:t>
            </a:r>
            <a:r>
              <a:rPr lang="en-IN" sz="2000" dirty="0" err="1" smtClean="0"/>
              <a:t>Cd</a:t>
            </a:r>
            <a:r>
              <a:rPr lang="en-IN" sz="2000" dirty="0" smtClean="0"/>
              <a:t> mod N  </a:t>
            </a:r>
          </a:p>
          <a:p>
            <a:pPr>
              <a:lnSpc>
                <a:spcPct val="150000"/>
              </a:lnSpc>
              <a:buFont typeface="Arial" pitchFamily="34" charset="0"/>
              <a:buChar char="•"/>
            </a:pPr>
            <a:r>
              <a:rPr lang="en-IN" sz="2000" dirty="0" smtClean="0"/>
              <a:t>note that the message M must be smaller than the modulus N (block if needed)</a:t>
            </a:r>
            <a:endParaRPr lang="en-IN" sz="20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29658"/>
            <a:ext cx="7719402" cy="4048120"/>
          </a:xfrm>
          <a:prstGeom prst="rect">
            <a:avLst/>
          </a:prstGeom>
          <a:noFill/>
          <a:ln w="9525">
            <a:noFill/>
            <a:miter lim="800000"/>
            <a:headEnd/>
            <a:tailEnd/>
          </a:ln>
        </p:spPr>
        <p:txBody>
          <a:bodyPr lIns="46570" tIns="23285" rIns="46570" bIns="23285">
            <a:spAutoFit/>
          </a:bodyPr>
          <a:lstStyle/>
          <a:p>
            <a:r>
              <a:rPr lang="en-IN" sz="2000" dirty="0" smtClean="0"/>
              <a:t>RSA Use :</a:t>
            </a:r>
          </a:p>
          <a:p>
            <a:pPr>
              <a:lnSpc>
                <a:spcPct val="150000"/>
              </a:lnSpc>
              <a:buFont typeface="Arial" pitchFamily="34" charset="0"/>
              <a:buChar char="•"/>
            </a:pPr>
            <a:r>
              <a:rPr lang="en-IN" sz="2000" dirty="0" smtClean="0"/>
              <a:t>to encrypt a message M the sender: </a:t>
            </a:r>
          </a:p>
          <a:p>
            <a:pPr lvl="2">
              <a:lnSpc>
                <a:spcPct val="150000"/>
              </a:lnSpc>
            </a:pPr>
            <a:r>
              <a:rPr lang="en-IN" sz="2000" dirty="0" smtClean="0"/>
              <a:t>– obtains public key of recipient KU={</a:t>
            </a:r>
            <a:r>
              <a:rPr lang="en-IN" sz="2000" dirty="0" err="1" smtClean="0"/>
              <a:t>e,N</a:t>
            </a:r>
            <a:r>
              <a:rPr lang="en-IN" sz="2000" dirty="0" smtClean="0"/>
              <a:t>} </a:t>
            </a:r>
          </a:p>
          <a:p>
            <a:pPr lvl="2">
              <a:lnSpc>
                <a:spcPct val="150000"/>
              </a:lnSpc>
            </a:pPr>
            <a:r>
              <a:rPr lang="en-IN" sz="2000" dirty="0" smtClean="0"/>
              <a:t>– computes: C=Me mod N, where 0≤M</a:t>
            </a:r>
          </a:p>
          <a:p>
            <a:pPr>
              <a:lnSpc>
                <a:spcPct val="150000"/>
              </a:lnSpc>
              <a:buFont typeface="Arial" pitchFamily="34" charset="0"/>
              <a:buChar char="•"/>
            </a:pPr>
            <a:r>
              <a:rPr lang="en-IN" sz="2000" dirty="0" smtClean="0"/>
              <a:t>to decrypt the </a:t>
            </a:r>
            <a:r>
              <a:rPr lang="en-IN" sz="2000" dirty="0" err="1" smtClean="0"/>
              <a:t>ciphertext</a:t>
            </a:r>
            <a:r>
              <a:rPr lang="en-IN" sz="2000" dirty="0" smtClean="0"/>
              <a:t> C the owner: </a:t>
            </a:r>
          </a:p>
          <a:p>
            <a:pPr lvl="2">
              <a:lnSpc>
                <a:spcPct val="150000"/>
              </a:lnSpc>
            </a:pPr>
            <a:r>
              <a:rPr lang="en-IN" sz="2000" dirty="0" smtClean="0"/>
              <a:t>– uses their private key KR={</a:t>
            </a:r>
            <a:r>
              <a:rPr lang="en-IN" sz="2000" dirty="0" err="1" smtClean="0"/>
              <a:t>d,p,q</a:t>
            </a:r>
            <a:r>
              <a:rPr lang="en-IN" sz="2000" dirty="0" smtClean="0"/>
              <a:t>} </a:t>
            </a:r>
          </a:p>
          <a:p>
            <a:pPr lvl="2">
              <a:lnSpc>
                <a:spcPct val="150000"/>
              </a:lnSpc>
            </a:pPr>
            <a:r>
              <a:rPr lang="en-IN" sz="2000" dirty="0" smtClean="0"/>
              <a:t>– computes: M=</a:t>
            </a:r>
            <a:r>
              <a:rPr lang="en-IN" sz="2000" dirty="0" err="1" smtClean="0"/>
              <a:t>Cd</a:t>
            </a:r>
            <a:r>
              <a:rPr lang="en-IN" sz="2000" dirty="0" smtClean="0"/>
              <a:t> mod N  </a:t>
            </a:r>
          </a:p>
          <a:p>
            <a:pPr>
              <a:lnSpc>
                <a:spcPct val="150000"/>
              </a:lnSpc>
              <a:buFont typeface="Arial" pitchFamily="34" charset="0"/>
              <a:buChar char="•"/>
            </a:pPr>
            <a:r>
              <a:rPr lang="en-IN" sz="2000" dirty="0" smtClean="0"/>
              <a:t>note that the message M must be smaller than the modulus N (block if needed)</a:t>
            </a:r>
            <a:endParaRPr lang="en-IN" sz="20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29658"/>
            <a:ext cx="7719402" cy="4048120"/>
          </a:xfrm>
          <a:prstGeom prst="rect">
            <a:avLst/>
          </a:prstGeom>
          <a:noFill/>
          <a:ln w="9525">
            <a:noFill/>
            <a:miter lim="800000"/>
            <a:headEnd/>
            <a:tailEnd/>
          </a:ln>
        </p:spPr>
        <p:txBody>
          <a:bodyPr lIns="46570" tIns="23285" rIns="46570" bIns="23285">
            <a:spAutoFit/>
          </a:bodyPr>
          <a:lstStyle/>
          <a:p>
            <a:r>
              <a:rPr lang="en-IN" sz="2000" dirty="0" smtClean="0"/>
              <a:t>RSA Example :</a:t>
            </a:r>
          </a:p>
          <a:p>
            <a:pPr>
              <a:lnSpc>
                <a:spcPct val="150000"/>
              </a:lnSpc>
            </a:pPr>
            <a:r>
              <a:rPr lang="en-IN" sz="2000" dirty="0" smtClean="0"/>
              <a:t>1. Select primes: p=17 &amp; q=11 </a:t>
            </a:r>
          </a:p>
          <a:p>
            <a:pPr>
              <a:lnSpc>
                <a:spcPct val="150000"/>
              </a:lnSpc>
            </a:pPr>
            <a:r>
              <a:rPr lang="en-IN" sz="2000" dirty="0" smtClean="0"/>
              <a:t>2. Compute n = </a:t>
            </a:r>
            <a:r>
              <a:rPr lang="en-IN" sz="2000" dirty="0" err="1" smtClean="0"/>
              <a:t>pq</a:t>
            </a:r>
            <a:r>
              <a:rPr lang="en-IN" sz="2000" dirty="0" smtClean="0"/>
              <a:t> =17 11=187 </a:t>
            </a:r>
          </a:p>
          <a:p>
            <a:pPr>
              <a:lnSpc>
                <a:spcPct val="150000"/>
              </a:lnSpc>
            </a:pPr>
            <a:r>
              <a:rPr lang="en-IN" sz="2000" dirty="0" smtClean="0"/>
              <a:t>3. Compute ø(n)=(p–1)(q-1)=16 10=160 </a:t>
            </a:r>
          </a:p>
          <a:p>
            <a:pPr>
              <a:lnSpc>
                <a:spcPct val="150000"/>
              </a:lnSpc>
            </a:pPr>
            <a:r>
              <a:rPr lang="en-IN" sz="2000" dirty="0" smtClean="0"/>
              <a:t>4. Select e : </a:t>
            </a:r>
            <a:r>
              <a:rPr lang="en-IN" sz="2000" dirty="0" err="1" smtClean="0"/>
              <a:t>gcd</a:t>
            </a:r>
            <a:r>
              <a:rPr lang="en-IN" sz="2000" dirty="0" smtClean="0"/>
              <a:t>(e,160)=1; choose e=7 </a:t>
            </a:r>
          </a:p>
          <a:p>
            <a:pPr>
              <a:lnSpc>
                <a:spcPct val="150000"/>
              </a:lnSpc>
            </a:pPr>
            <a:r>
              <a:rPr lang="en-IN" sz="2000" dirty="0" smtClean="0"/>
              <a:t>5. Determine d: de=1 mod 160 and d &lt; 160 Value is d=23 since 23 7=161= 10 160+1 </a:t>
            </a:r>
          </a:p>
          <a:p>
            <a:pPr>
              <a:lnSpc>
                <a:spcPct val="150000"/>
              </a:lnSpc>
            </a:pPr>
            <a:r>
              <a:rPr lang="en-IN" sz="2000" dirty="0" smtClean="0"/>
              <a:t>6. Publish public key KU={7,187} </a:t>
            </a:r>
          </a:p>
          <a:p>
            <a:pPr>
              <a:lnSpc>
                <a:spcPct val="150000"/>
              </a:lnSpc>
            </a:pPr>
            <a:r>
              <a:rPr lang="en-IN" sz="2000" dirty="0" smtClean="0"/>
              <a:t>7. Keep secret private key KR={23,17,11}</a:t>
            </a:r>
            <a:endParaRPr lang="en-IN" sz="20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29658"/>
            <a:ext cx="7719402" cy="2663126"/>
          </a:xfrm>
          <a:prstGeom prst="rect">
            <a:avLst/>
          </a:prstGeom>
          <a:noFill/>
          <a:ln w="9525">
            <a:noFill/>
            <a:miter lim="800000"/>
            <a:headEnd/>
            <a:tailEnd/>
          </a:ln>
        </p:spPr>
        <p:txBody>
          <a:bodyPr lIns="46570" tIns="23285" rIns="46570" bIns="23285">
            <a:spAutoFit/>
          </a:bodyPr>
          <a:lstStyle/>
          <a:p>
            <a:r>
              <a:rPr lang="en-IN" sz="2000" dirty="0" smtClean="0"/>
              <a:t>RSA Example (</a:t>
            </a:r>
            <a:r>
              <a:rPr lang="en-IN" sz="2000" dirty="0" err="1" smtClean="0"/>
              <a:t>cotd</a:t>
            </a:r>
            <a:r>
              <a:rPr lang="en-IN" sz="2000" dirty="0" smtClean="0"/>
              <a:t>...)</a:t>
            </a:r>
          </a:p>
          <a:p>
            <a:pPr>
              <a:lnSpc>
                <a:spcPct val="150000"/>
              </a:lnSpc>
            </a:pPr>
            <a:r>
              <a:rPr lang="en-IN" sz="2000" dirty="0" smtClean="0"/>
              <a:t>sample RSA encryption/decryption is: </a:t>
            </a:r>
          </a:p>
          <a:p>
            <a:pPr>
              <a:lnSpc>
                <a:spcPct val="150000"/>
              </a:lnSpc>
            </a:pPr>
            <a:r>
              <a:rPr lang="en-IN" sz="2000" dirty="0" smtClean="0"/>
              <a:t>given message M = 88 (</a:t>
            </a:r>
            <a:r>
              <a:rPr lang="en-IN" sz="2000" dirty="0" err="1" smtClean="0"/>
              <a:t>nb</a:t>
            </a:r>
            <a:r>
              <a:rPr lang="en-IN" sz="2000" dirty="0" smtClean="0"/>
              <a:t>. 88&lt;187)</a:t>
            </a:r>
          </a:p>
          <a:p>
            <a:pPr>
              <a:lnSpc>
                <a:spcPct val="150000"/>
              </a:lnSpc>
            </a:pPr>
            <a:r>
              <a:rPr lang="da-DK" sz="2000" dirty="0" smtClean="0"/>
              <a:t>Encryption:</a:t>
            </a:r>
          </a:p>
          <a:p>
            <a:pPr>
              <a:lnSpc>
                <a:spcPct val="150000"/>
              </a:lnSpc>
            </a:pPr>
            <a:endParaRPr lang="da-DK" sz="2000" dirty="0"/>
          </a:p>
          <a:p>
            <a:pPr>
              <a:lnSpc>
                <a:spcPct val="150000"/>
              </a:lnSpc>
            </a:pPr>
            <a:r>
              <a:rPr lang="da-DK" sz="2000" dirty="0" smtClean="0"/>
              <a:t>Decryption: </a:t>
            </a:r>
            <a:endParaRPr lang="en-IN" sz="2000" dirty="0"/>
          </a:p>
        </p:txBody>
      </p:sp>
      <p:pic>
        <p:nvPicPr>
          <p:cNvPr id="99330" name="Picture 2"/>
          <p:cNvPicPr>
            <a:picLocks noChangeAspect="1" noChangeArrowheads="1"/>
          </p:cNvPicPr>
          <p:nvPr/>
        </p:nvPicPr>
        <p:blipFill>
          <a:blip r:embed="rId3"/>
          <a:srcRect/>
          <a:stretch>
            <a:fillRect/>
          </a:stretch>
        </p:blipFill>
        <p:spPr bwMode="auto">
          <a:xfrm>
            <a:off x="1799341" y="2504845"/>
            <a:ext cx="2396145" cy="415870"/>
          </a:xfrm>
          <a:prstGeom prst="rect">
            <a:avLst/>
          </a:prstGeom>
          <a:noFill/>
          <a:ln w="9525">
            <a:noFill/>
            <a:miter lim="800000"/>
            <a:headEnd/>
            <a:tailEnd/>
          </a:ln>
          <a:effectLst/>
        </p:spPr>
      </p:pic>
      <p:pic>
        <p:nvPicPr>
          <p:cNvPr id="99331" name="Picture 3"/>
          <p:cNvPicPr>
            <a:picLocks noChangeAspect="1" noChangeArrowheads="1"/>
          </p:cNvPicPr>
          <p:nvPr/>
        </p:nvPicPr>
        <p:blipFill>
          <a:blip r:embed="rId4"/>
          <a:srcRect/>
          <a:stretch>
            <a:fillRect/>
          </a:stretch>
        </p:blipFill>
        <p:spPr bwMode="auto">
          <a:xfrm>
            <a:off x="1833999" y="3567624"/>
            <a:ext cx="2252786" cy="4302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7"/>
            <a:ext cx="7719402" cy="4355897"/>
          </a:xfrm>
          <a:prstGeom prst="rect">
            <a:avLst/>
          </a:prstGeom>
          <a:noFill/>
          <a:ln w="9525">
            <a:noFill/>
            <a:miter lim="800000"/>
            <a:headEnd/>
            <a:tailEnd/>
          </a:ln>
        </p:spPr>
        <p:txBody>
          <a:bodyPr lIns="46570" tIns="23285" rIns="46570" bIns="23285">
            <a:spAutoFit/>
          </a:bodyPr>
          <a:lstStyle/>
          <a:p>
            <a:r>
              <a:rPr lang="en-IN" sz="2000" dirty="0" smtClean="0"/>
              <a:t>RSA KEY GENERATION </a:t>
            </a:r>
          </a:p>
          <a:p>
            <a:endParaRPr lang="en-IN" sz="2000" dirty="0"/>
          </a:p>
          <a:p>
            <a:pPr>
              <a:lnSpc>
                <a:spcPct val="150000"/>
              </a:lnSpc>
              <a:buFont typeface="Arial" pitchFamily="34" charset="0"/>
              <a:buChar char="•"/>
            </a:pPr>
            <a:r>
              <a:rPr lang="en-IN" sz="2000" dirty="0" smtClean="0"/>
              <a:t>users of RSA must: </a:t>
            </a:r>
          </a:p>
          <a:p>
            <a:pPr lvl="2">
              <a:lnSpc>
                <a:spcPct val="150000"/>
              </a:lnSpc>
            </a:pPr>
            <a:r>
              <a:rPr lang="en-IN" sz="2000" dirty="0" smtClean="0"/>
              <a:t>– determine two primes at random - p, q </a:t>
            </a:r>
          </a:p>
          <a:p>
            <a:pPr lvl="2">
              <a:lnSpc>
                <a:spcPct val="150000"/>
              </a:lnSpc>
            </a:pPr>
            <a:r>
              <a:rPr lang="en-IN" sz="2000" dirty="0" smtClean="0"/>
              <a:t>– select either e or d and compute the other </a:t>
            </a:r>
          </a:p>
          <a:p>
            <a:pPr>
              <a:lnSpc>
                <a:spcPct val="150000"/>
              </a:lnSpc>
            </a:pPr>
            <a:r>
              <a:rPr lang="en-IN" sz="2000" dirty="0" smtClean="0"/>
              <a:t>• primes </a:t>
            </a:r>
            <a:r>
              <a:rPr lang="en-IN" sz="2000" dirty="0" err="1" smtClean="0"/>
              <a:t>p,q</a:t>
            </a:r>
            <a:r>
              <a:rPr lang="en-IN" sz="2000" dirty="0" smtClean="0"/>
              <a:t> must not be easily derived from modulus N=</a:t>
            </a:r>
            <a:r>
              <a:rPr lang="en-IN" sz="2000" dirty="0" err="1" smtClean="0"/>
              <a:t>p.q</a:t>
            </a:r>
            <a:r>
              <a:rPr lang="en-IN" sz="2000" dirty="0" smtClean="0"/>
              <a:t> </a:t>
            </a:r>
          </a:p>
          <a:p>
            <a:pPr lvl="2">
              <a:lnSpc>
                <a:spcPct val="150000"/>
              </a:lnSpc>
            </a:pPr>
            <a:r>
              <a:rPr lang="en-IN" sz="2000" dirty="0" smtClean="0"/>
              <a:t>– means must be sufficiently large </a:t>
            </a:r>
          </a:p>
          <a:p>
            <a:pPr lvl="2">
              <a:lnSpc>
                <a:spcPct val="150000"/>
              </a:lnSpc>
            </a:pPr>
            <a:r>
              <a:rPr lang="en-IN" sz="2000" dirty="0" smtClean="0"/>
              <a:t>– typically guess and use probabilistic test </a:t>
            </a:r>
          </a:p>
          <a:p>
            <a:pPr>
              <a:lnSpc>
                <a:spcPct val="150000"/>
              </a:lnSpc>
            </a:pPr>
            <a:r>
              <a:rPr lang="en-IN" sz="2000" dirty="0" smtClean="0"/>
              <a:t>• exponents e, d are inverses, so use Inverse algorithm to compute the other</a:t>
            </a:r>
            <a:endParaRPr lang="en-IN" sz="20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7"/>
            <a:ext cx="7719402" cy="3432567"/>
          </a:xfrm>
          <a:prstGeom prst="rect">
            <a:avLst/>
          </a:prstGeom>
          <a:noFill/>
          <a:ln w="9525">
            <a:noFill/>
            <a:miter lim="800000"/>
            <a:headEnd/>
            <a:tailEnd/>
          </a:ln>
        </p:spPr>
        <p:txBody>
          <a:bodyPr lIns="46570" tIns="23285" rIns="46570" bIns="23285">
            <a:spAutoFit/>
          </a:bodyPr>
          <a:lstStyle/>
          <a:p>
            <a:r>
              <a:rPr lang="en-IN" sz="2000" dirty="0" smtClean="0"/>
              <a:t>SECURITY OF RSA:</a:t>
            </a:r>
          </a:p>
          <a:p>
            <a:endParaRPr lang="en-IN" sz="2000" dirty="0"/>
          </a:p>
          <a:p>
            <a:pPr>
              <a:lnSpc>
                <a:spcPct val="150000"/>
              </a:lnSpc>
            </a:pPr>
            <a:r>
              <a:rPr lang="en-IN" sz="2000" dirty="0" smtClean="0"/>
              <a:t>• How to attack RSA? </a:t>
            </a:r>
          </a:p>
          <a:p>
            <a:pPr lvl="2">
              <a:lnSpc>
                <a:spcPct val="150000"/>
              </a:lnSpc>
            </a:pPr>
            <a:r>
              <a:rPr lang="en-IN" sz="2000" dirty="0" smtClean="0"/>
              <a:t>– we have public key (</a:t>
            </a:r>
            <a:r>
              <a:rPr lang="en-IN" sz="2000" dirty="0" err="1" smtClean="0"/>
              <a:t>n,e</a:t>
            </a:r>
            <a:r>
              <a:rPr lang="en-IN" sz="2000" dirty="0" smtClean="0"/>
              <a:t>) </a:t>
            </a:r>
          </a:p>
          <a:p>
            <a:pPr lvl="2">
              <a:lnSpc>
                <a:spcPct val="150000"/>
              </a:lnSpc>
            </a:pPr>
            <a:r>
              <a:rPr lang="en-IN" sz="2000" dirty="0" smtClean="0"/>
              <a:t>– compute ɸ (n) and get d </a:t>
            </a:r>
          </a:p>
          <a:p>
            <a:pPr>
              <a:lnSpc>
                <a:spcPct val="150000"/>
              </a:lnSpc>
            </a:pPr>
            <a:r>
              <a:rPr lang="en-IN" sz="2000" dirty="0" smtClean="0"/>
              <a:t>• Easier said than done!! </a:t>
            </a:r>
          </a:p>
          <a:p>
            <a:pPr lvl="2">
              <a:lnSpc>
                <a:spcPct val="150000"/>
              </a:lnSpc>
            </a:pPr>
            <a:r>
              <a:rPr lang="en-IN" sz="2000" dirty="0" smtClean="0"/>
              <a:t>– If we have n and ɸ( n) then we can factor n</a:t>
            </a:r>
          </a:p>
          <a:p>
            <a:pPr lvl="2">
              <a:lnSpc>
                <a:spcPct val="150000"/>
              </a:lnSpc>
            </a:pPr>
            <a:r>
              <a:rPr lang="en-IN" sz="2000" dirty="0" smtClean="0"/>
              <a:t>– If we have e and d then we can factor n</a:t>
            </a:r>
            <a:endParaRPr lang="en-IN" sz="20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6"/>
            <a:ext cx="7719402" cy="4817562"/>
          </a:xfrm>
          <a:prstGeom prst="rect">
            <a:avLst/>
          </a:prstGeom>
          <a:noFill/>
          <a:ln w="9525">
            <a:noFill/>
            <a:miter lim="800000"/>
            <a:headEnd/>
            <a:tailEnd/>
          </a:ln>
        </p:spPr>
        <p:txBody>
          <a:bodyPr lIns="46570" tIns="23285" rIns="46570" bIns="23285">
            <a:spAutoFit/>
          </a:bodyPr>
          <a:lstStyle/>
          <a:p>
            <a:r>
              <a:rPr lang="en-IN" sz="2000" dirty="0" smtClean="0"/>
              <a:t>Various attacks on RSA :</a:t>
            </a:r>
          </a:p>
          <a:p>
            <a:endParaRPr lang="en-IN" sz="2000" dirty="0"/>
          </a:p>
          <a:p>
            <a:pPr>
              <a:lnSpc>
                <a:spcPct val="150000"/>
              </a:lnSpc>
            </a:pPr>
            <a:r>
              <a:rPr lang="en-IN" sz="2000" dirty="0" smtClean="0"/>
              <a:t>Five possible approaches to attacking the RSA algorithm are </a:t>
            </a:r>
          </a:p>
          <a:p>
            <a:pPr>
              <a:lnSpc>
                <a:spcPct val="150000"/>
              </a:lnSpc>
            </a:pPr>
            <a:r>
              <a:rPr lang="en-IN" sz="2000" dirty="0" smtClean="0"/>
              <a:t>• Brute force: This involves trying all possible private keys. </a:t>
            </a:r>
          </a:p>
          <a:p>
            <a:pPr>
              <a:lnSpc>
                <a:spcPct val="150000"/>
              </a:lnSpc>
            </a:pPr>
            <a:r>
              <a:rPr lang="en-IN" sz="2000" dirty="0" smtClean="0"/>
              <a:t>• Mathematical attacks: There are several approaches, all equivalent in effort to factoring the product of two primes. </a:t>
            </a:r>
          </a:p>
          <a:p>
            <a:pPr>
              <a:lnSpc>
                <a:spcPct val="150000"/>
              </a:lnSpc>
            </a:pPr>
            <a:r>
              <a:rPr lang="en-IN" sz="2000" dirty="0" smtClean="0"/>
              <a:t>• Timing attacks: These depend on the running time of the decryption algorithm. • Hardware fault-based attack: This involves inducing hardware faults in the processor that is generating digital signatures. </a:t>
            </a:r>
          </a:p>
          <a:p>
            <a:pPr>
              <a:lnSpc>
                <a:spcPct val="150000"/>
              </a:lnSpc>
            </a:pPr>
            <a:r>
              <a:rPr lang="en-IN" sz="2000" dirty="0" smtClean="0"/>
              <a:t>• Chosen </a:t>
            </a:r>
            <a:r>
              <a:rPr lang="en-IN" sz="2000" dirty="0" err="1" smtClean="0"/>
              <a:t>ciphertext</a:t>
            </a:r>
            <a:r>
              <a:rPr lang="en-IN" sz="2000" dirty="0" smtClean="0"/>
              <a:t> attacks: This type of attack exploits properties of the RSA algorithm.</a:t>
            </a:r>
            <a:endParaRPr lang="en-IN" sz="20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7"/>
            <a:ext cx="7719402" cy="4355897"/>
          </a:xfrm>
          <a:prstGeom prst="rect">
            <a:avLst/>
          </a:prstGeom>
          <a:noFill/>
          <a:ln w="9525">
            <a:noFill/>
            <a:miter lim="800000"/>
            <a:headEnd/>
            <a:tailEnd/>
          </a:ln>
        </p:spPr>
        <p:txBody>
          <a:bodyPr lIns="46570" tIns="23285" rIns="46570" bIns="23285">
            <a:spAutoFit/>
          </a:bodyPr>
          <a:lstStyle/>
          <a:p>
            <a:r>
              <a:rPr lang="en-IN" sz="2000" dirty="0" smtClean="0"/>
              <a:t>Various attacks on RSA :</a:t>
            </a:r>
          </a:p>
          <a:p>
            <a:endParaRPr lang="en-IN" sz="2000" dirty="0"/>
          </a:p>
          <a:p>
            <a:pPr>
              <a:lnSpc>
                <a:spcPct val="150000"/>
              </a:lnSpc>
            </a:pPr>
            <a:r>
              <a:rPr lang="en-IN" sz="2000" dirty="0" smtClean="0"/>
              <a:t>The Factoring Problem </a:t>
            </a:r>
          </a:p>
          <a:p>
            <a:pPr>
              <a:lnSpc>
                <a:spcPct val="150000"/>
              </a:lnSpc>
            </a:pPr>
            <a:r>
              <a:rPr lang="en-IN" sz="2000" dirty="0" smtClean="0"/>
              <a:t>We can identify three approaches to attacking RSA mathematically. </a:t>
            </a:r>
          </a:p>
          <a:p>
            <a:pPr marL="378384" indent="-378384">
              <a:lnSpc>
                <a:spcPct val="150000"/>
              </a:lnSpc>
              <a:buAutoNum type="arabicPeriod"/>
            </a:pPr>
            <a:r>
              <a:rPr lang="en-IN" sz="2000" dirty="0" smtClean="0"/>
              <a:t>Factor n into its two prime factors. This enables calculation of f(n) = (p - 1) * (q - 1), which in turn enables determination of d K e-1 (mod f(n)). </a:t>
            </a:r>
          </a:p>
          <a:p>
            <a:pPr marL="378384" indent="-378384">
              <a:lnSpc>
                <a:spcPct val="150000"/>
              </a:lnSpc>
              <a:buAutoNum type="arabicPeriod"/>
            </a:pPr>
            <a:r>
              <a:rPr lang="en-IN" sz="2000" dirty="0" smtClean="0"/>
              <a:t>Determine f(n) directly, without first determining p and q. Again, this enables determination of d K e-1 (mod f(n)). </a:t>
            </a:r>
          </a:p>
          <a:p>
            <a:pPr marL="378384" indent="-378384">
              <a:lnSpc>
                <a:spcPct val="150000"/>
              </a:lnSpc>
              <a:buAutoNum type="arabicPeriod"/>
            </a:pPr>
            <a:r>
              <a:rPr lang="en-IN" sz="2000" dirty="0" smtClean="0"/>
              <a:t>Determine d directly, without first determining f(n).</a:t>
            </a:r>
            <a:endParaRPr lang="en-IN" sz="20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6"/>
            <a:ext cx="7719402" cy="4817562"/>
          </a:xfrm>
          <a:prstGeom prst="rect">
            <a:avLst/>
          </a:prstGeom>
          <a:noFill/>
          <a:ln w="9525">
            <a:noFill/>
            <a:miter lim="800000"/>
            <a:headEnd/>
            <a:tailEnd/>
          </a:ln>
        </p:spPr>
        <p:txBody>
          <a:bodyPr lIns="46570" tIns="23285" rIns="46570" bIns="23285">
            <a:spAutoFit/>
          </a:bodyPr>
          <a:lstStyle/>
          <a:p>
            <a:r>
              <a:rPr lang="en-IN" sz="2000" dirty="0" smtClean="0"/>
              <a:t>Various attacks on RSA :</a:t>
            </a:r>
          </a:p>
          <a:p>
            <a:endParaRPr lang="en-IN" sz="2000" dirty="0"/>
          </a:p>
          <a:p>
            <a:pPr>
              <a:lnSpc>
                <a:spcPct val="150000"/>
              </a:lnSpc>
            </a:pPr>
            <a:r>
              <a:rPr lang="en-IN" sz="2000" dirty="0" smtClean="0"/>
              <a:t>A </a:t>
            </a:r>
            <a:r>
              <a:rPr lang="en-IN" sz="2000" b="1" dirty="0" smtClean="0"/>
              <a:t>timing attack </a:t>
            </a:r>
            <a:r>
              <a:rPr lang="en-IN" sz="2000" dirty="0" smtClean="0"/>
              <a:t>is somewhat analogous to a burglar guessing the combination of a safe by observing how long it takes for someone to turn the dial from number to number. </a:t>
            </a:r>
          </a:p>
          <a:p>
            <a:pPr>
              <a:lnSpc>
                <a:spcPct val="150000"/>
              </a:lnSpc>
            </a:pPr>
            <a:r>
              <a:rPr lang="en-IN" sz="2000" dirty="0" smtClean="0"/>
              <a:t>We can explain the attack using the modular exponentiation algorithm, but the attack can be adapted to work with any implementation that does not run in fixed time. </a:t>
            </a:r>
          </a:p>
          <a:p>
            <a:pPr>
              <a:lnSpc>
                <a:spcPct val="150000"/>
              </a:lnSpc>
            </a:pPr>
            <a:r>
              <a:rPr lang="en-IN" sz="2000" dirty="0" smtClean="0"/>
              <a:t>In this algorithm, modular exponentiation is accomplished bit by bit, with one modular multiplication performed at each iteration and an additional modular multiplication performed for each 1 bit.</a:t>
            </a:r>
            <a:endParaRPr lang="en-IN" sz="20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6"/>
            <a:ext cx="7719402" cy="5864002"/>
          </a:xfrm>
          <a:prstGeom prst="rect">
            <a:avLst/>
          </a:prstGeom>
          <a:noFill/>
          <a:ln w="9525">
            <a:noFill/>
            <a:miter lim="800000"/>
            <a:headEnd/>
            <a:tailEnd/>
          </a:ln>
        </p:spPr>
        <p:txBody>
          <a:bodyPr lIns="46570" tIns="23285" rIns="46570" bIns="23285">
            <a:spAutoFit/>
          </a:bodyPr>
          <a:lstStyle/>
          <a:p>
            <a:pPr>
              <a:lnSpc>
                <a:spcPct val="150000"/>
              </a:lnSpc>
              <a:buFont typeface="Arial" pitchFamily="34" charset="0"/>
              <a:buChar char="•"/>
            </a:pPr>
            <a:r>
              <a:rPr lang="en-IN" dirty="0" smtClean="0"/>
              <a:t>Although the timing attack is a serious threat, there are simple countermeasures that can be used, including the following. </a:t>
            </a:r>
          </a:p>
          <a:p>
            <a:pPr>
              <a:lnSpc>
                <a:spcPct val="150000"/>
              </a:lnSpc>
              <a:buFont typeface="Arial" pitchFamily="34" charset="0"/>
              <a:buChar char="•"/>
            </a:pPr>
            <a:r>
              <a:rPr lang="en-IN" dirty="0" smtClean="0"/>
              <a:t>Constant exponentiation time: Ensure that all exponentiations take the same amount of time before returning a result. This is a simple fix but does degrade performance. </a:t>
            </a:r>
          </a:p>
          <a:p>
            <a:pPr>
              <a:lnSpc>
                <a:spcPct val="150000"/>
              </a:lnSpc>
              <a:buFont typeface="Arial" pitchFamily="34" charset="0"/>
              <a:buChar char="•"/>
            </a:pPr>
            <a:r>
              <a:rPr lang="en-IN" dirty="0" smtClean="0"/>
              <a:t>Random delay: Better performance could be achieved by adding a random delay to the exponentiation algorithm to confuse the timing attack. Kocher points out that if defenders don’t add enough noise, attackers could still succeed by collecting additional measurements to compensate for the random delays. </a:t>
            </a:r>
          </a:p>
          <a:p>
            <a:pPr>
              <a:lnSpc>
                <a:spcPct val="150000"/>
              </a:lnSpc>
              <a:buFont typeface="Arial" pitchFamily="34" charset="0"/>
              <a:buChar char="•"/>
            </a:pPr>
            <a:r>
              <a:rPr lang="en-IN" dirty="0" smtClean="0"/>
              <a:t>Blinding: Multiply the </a:t>
            </a:r>
            <a:r>
              <a:rPr lang="en-IN" dirty="0" err="1" smtClean="0"/>
              <a:t>ciphertext</a:t>
            </a:r>
            <a:r>
              <a:rPr lang="en-IN" dirty="0" smtClean="0"/>
              <a:t> by a random number before performing exponentiation. </a:t>
            </a:r>
          </a:p>
          <a:p>
            <a:pPr>
              <a:lnSpc>
                <a:spcPct val="150000"/>
              </a:lnSpc>
              <a:buFont typeface="Arial" pitchFamily="34" charset="0"/>
              <a:buChar char="•"/>
            </a:pPr>
            <a:r>
              <a:rPr lang="en-IN" dirty="0" smtClean="0"/>
              <a:t>This process prevents the attacker from knowing what </a:t>
            </a:r>
            <a:r>
              <a:rPr lang="en-IN" dirty="0" err="1" smtClean="0"/>
              <a:t>ciphertext</a:t>
            </a:r>
            <a:r>
              <a:rPr lang="en-IN" dirty="0" smtClean="0"/>
              <a:t> bits are being processed inside the computer and therefore prevents the bit-by-bit analysis essential to the timing attack.</a:t>
            </a:r>
            <a:endParaRPr lang="en-IN"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6"/>
            <a:ext cx="7719402" cy="4617507"/>
          </a:xfrm>
          <a:prstGeom prst="rect">
            <a:avLst/>
          </a:prstGeom>
          <a:noFill/>
          <a:ln w="9525">
            <a:noFill/>
            <a:miter lim="800000"/>
            <a:headEnd/>
            <a:tailEnd/>
          </a:ln>
        </p:spPr>
        <p:txBody>
          <a:bodyPr lIns="46570" tIns="23285" rIns="46570" bIns="23285">
            <a:spAutoFit/>
          </a:bodyPr>
          <a:lstStyle/>
          <a:p>
            <a:pPr>
              <a:lnSpc>
                <a:spcPct val="150000"/>
              </a:lnSpc>
            </a:pPr>
            <a:r>
              <a:rPr lang="en-IN" dirty="0" smtClean="0"/>
              <a:t>RSA algorithm is vulnerable to a </a:t>
            </a:r>
            <a:r>
              <a:rPr lang="en-IN" b="1" dirty="0" smtClean="0"/>
              <a:t>chosen </a:t>
            </a:r>
            <a:r>
              <a:rPr lang="en-IN" b="1" dirty="0" err="1" smtClean="0"/>
              <a:t>ciphertext</a:t>
            </a:r>
            <a:r>
              <a:rPr lang="en-IN" b="1" dirty="0" smtClean="0"/>
              <a:t> attack </a:t>
            </a:r>
            <a:r>
              <a:rPr lang="en-IN" dirty="0" smtClean="0"/>
              <a:t>(CCA). </a:t>
            </a:r>
          </a:p>
          <a:p>
            <a:pPr>
              <a:lnSpc>
                <a:spcPct val="150000"/>
              </a:lnSpc>
              <a:buFont typeface="Arial" pitchFamily="34" charset="0"/>
              <a:buChar char="•"/>
            </a:pPr>
            <a:r>
              <a:rPr lang="en-IN" dirty="0" smtClean="0"/>
              <a:t>CCA is defined as an attack in which the adversary chooses a number of </a:t>
            </a:r>
            <a:r>
              <a:rPr lang="en-IN" dirty="0" err="1" smtClean="0"/>
              <a:t>ciphertexts</a:t>
            </a:r>
            <a:r>
              <a:rPr lang="en-IN" dirty="0" smtClean="0"/>
              <a:t> and is then given the corresponding plaintexts, decrypted with the target’s private key. </a:t>
            </a:r>
          </a:p>
          <a:p>
            <a:pPr>
              <a:lnSpc>
                <a:spcPct val="150000"/>
              </a:lnSpc>
              <a:buFont typeface="Arial" pitchFamily="34" charset="0"/>
              <a:buChar char="•"/>
            </a:pPr>
            <a:r>
              <a:rPr lang="en-IN" dirty="0" smtClean="0"/>
              <a:t>Thus, the adversary could select a plaintext, encrypt it with the target’s public key, and then be able to get the plaintext back by having it decrypted with the private key. </a:t>
            </a:r>
          </a:p>
          <a:p>
            <a:pPr>
              <a:lnSpc>
                <a:spcPct val="150000"/>
              </a:lnSpc>
              <a:buFont typeface="Arial" pitchFamily="34" charset="0"/>
              <a:buChar char="•"/>
            </a:pPr>
            <a:r>
              <a:rPr lang="en-IN" dirty="0" smtClean="0"/>
              <a:t>Clearly, this provides the adversary with no new information. </a:t>
            </a:r>
          </a:p>
          <a:p>
            <a:pPr>
              <a:lnSpc>
                <a:spcPct val="150000"/>
              </a:lnSpc>
              <a:buFont typeface="Arial" pitchFamily="34" charset="0"/>
              <a:buChar char="•"/>
            </a:pPr>
            <a:r>
              <a:rPr lang="en-IN" dirty="0" smtClean="0"/>
              <a:t>Instead, the adversary exploits properties of RSA and selects blocks of data that, when processed using the target’s private key, yield information needed for cryptanalysis.</a:t>
            </a:r>
            <a:endParaRPr lang="en-IN"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6888"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70" tIns="23285" rIns="46570" bIns="23285" anchor="ctr"/>
          <a:lstStyle/>
          <a:p>
            <a:pPr algn="ctr">
              <a:defRPr/>
            </a:pPr>
            <a:endParaRPr lang="en-IN" dirty="0">
              <a:solidFill>
                <a:srgbClr val="FFFFFF"/>
              </a:solidFill>
            </a:endParaRPr>
          </a:p>
        </p:txBody>
      </p:sp>
      <p:sp>
        <p:nvSpPr>
          <p:cNvPr id="11267" name="object 4"/>
          <p:cNvSpPr>
            <a:spLocks noChangeArrowheads="1"/>
          </p:cNvSpPr>
          <p:nvPr/>
        </p:nvSpPr>
        <p:spPr bwMode="auto">
          <a:xfrm>
            <a:off x="457056" y="182906"/>
            <a:ext cx="322755" cy="430310"/>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a:p>
        </p:txBody>
      </p:sp>
      <p:sp>
        <p:nvSpPr>
          <p:cNvPr id="11268" name="object 5"/>
          <p:cNvSpPr>
            <a:spLocks/>
          </p:cNvSpPr>
          <p:nvPr/>
        </p:nvSpPr>
        <p:spPr bwMode="auto">
          <a:xfrm>
            <a:off x="1358892" y="438011"/>
            <a:ext cx="25994" cy="34656"/>
          </a:xfrm>
          <a:custGeom>
            <a:avLst/>
            <a:gdLst>
              <a:gd name="T0" fmla="*/ 33663 w 56514"/>
              <a:gd name="T1" fmla="*/ 0 h 56515"/>
              <a:gd name="T2" fmla="*/ 20578 w 56514"/>
              <a:gd name="T3" fmla="*/ 2639 h 56515"/>
              <a:gd name="T4" fmla="*/ 9875 w 56514"/>
              <a:gd name="T5" fmla="*/ 9838 h 56515"/>
              <a:gd name="T6" fmla="*/ 2653 w 56514"/>
              <a:gd name="T7" fmla="*/ 20515 h 56515"/>
              <a:gd name="T8" fmla="*/ 0 w 56514"/>
              <a:gd name="T9" fmla="*/ 33592 h 56515"/>
              <a:gd name="T10" fmla="*/ 2653 w 56514"/>
              <a:gd name="T11" fmla="*/ 46681 h 56515"/>
              <a:gd name="T12" fmla="*/ 9875 w 56514"/>
              <a:gd name="T13" fmla="*/ 57379 h 56515"/>
              <a:gd name="T14" fmla="*/ 20578 w 56514"/>
              <a:gd name="T15" fmla="*/ 64599 h 56515"/>
              <a:gd name="T16" fmla="*/ 33663 w 56514"/>
              <a:gd name="T17" fmla="*/ 67249 h 56515"/>
              <a:gd name="T18" fmla="*/ 46733 w 56514"/>
              <a:gd name="T19" fmla="*/ 64599 h 56515"/>
              <a:gd name="T20" fmla="*/ 50000 w 56514"/>
              <a:gd name="T21" fmla="*/ 62389 h 56515"/>
              <a:gd name="T22" fmla="*/ 33663 w 56514"/>
              <a:gd name="T23" fmla="*/ 62389 h 56515"/>
              <a:gd name="T24" fmla="*/ 22448 w 56514"/>
              <a:gd name="T25" fmla="*/ 60123 h 56515"/>
              <a:gd name="T26" fmla="*/ 13291 w 56514"/>
              <a:gd name="T27" fmla="*/ 53944 h 56515"/>
              <a:gd name="T28" fmla="*/ 7122 w 56514"/>
              <a:gd name="T29" fmla="*/ 44789 h 56515"/>
              <a:gd name="T30" fmla="*/ 4858 w 56514"/>
              <a:gd name="T31" fmla="*/ 33592 h 56515"/>
              <a:gd name="T32" fmla="*/ 7122 w 56514"/>
              <a:gd name="T33" fmla="*/ 22387 h 56515"/>
              <a:gd name="T34" fmla="*/ 13291 w 56514"/>
              <a:gd name="T35" fmla="*/ 13215 h 56515"/>
              <a:gd name="T36" fmla="*/ 22448 w 56514"/>
              <a:gd name="T37" fmla="*/ 7019 h 56515"/>
              <a:gd name="T38" fmla="*/ 33663 w 56514"/>
              <a:gd name="T39" fmla="*/ 4746 h 56515"/>
              <a:gd name="T40" fmla="*/ 49860 w 56514"/>
              <a:gd name="T41" fmla="*/ 4746 h 56515"/>
              <a:gd name="T42" fmla="*/ 46733 w 56514"/>
              <a:gd name="T43" fmla="*/ 2639 h 56515"/>
              <a:gd name="T44" fmla="*/ 33663 w 56514"/>
              <a:gd name="T45" fmla="*/ 0 h 56515"/>
              <a:gd name="T46" fmla="*/ 49860 w 56514"/>
              <a:gd name="T47" fmla="*/ 4746 h 56515"/>
              <a:gd name="T48" fmla="*/ 33663 w 56514"/>
              <a:gd name="T49" fmla="*/ 4746 h 56515"/>
              <a:gd name="T50" fmla="*/ 44889 w 56514"/>
              <a:gd name="T51" fmla="*/ 7019 h 56515"/>
              <a:gd name="T52" fmla="*/ 54048 w 56514"/>
              <a:gd name="T53" fmla="*/ 13215 h 56515"/>
              <a:gd name="T54" fmla="*/ 60221 w 56514"/>
              <a:gd name="T55" fmla="*/ 22387 h 56515"/>
              <a:gd name="T56" fmla="*/ 62484 w 56514"/>
              <a:gd name="T57" fmla="*/ 33592 h 56515"/>
              <a:gd name="T58" fmla="*/ 60221 w 56514"/>
              <a:gd name="T59" fmla="*/ 44789 h 56515"/>
              <a:gd name="T60" fmla="*/ 54048 w 56514"/>
              <a:gd name="T61" fmla="*/ 53944 h 56515"/>
              <a:gd name="T62" fmla="*/ 44889 w 56514"/>
              <a:gd name="T63" fmla="*/ 60123 h 56515"/>
              <a:gd name="T64" fmla="*/ 33663 w 56514"/>
              <a:gd name="T65" fmla="*/ 62389 h 56515"/>
              <a:gd name="T66" fmla="*/ 50000 w 56514"/>
              <a:gd name="T67" fmla="*/ 62389 h 56515"/>
              <a:gd name="T68" fmla="*/ 57417 w 56514"/>
              <a:gd name="T69" fmla="*/ 57379 h 56515"/>
              <a:gd name="T70" fmla="*/ 64632 w 56514"/>
              <a:gd name="T71" fmla="*/ 46681 h 56515"/>
              <a:gd name="T72" fmla="*/ 67278 w 56514"/>
              <a:gd name="T73" fmla="*/ 33592 h 56515"/>
              <a:gd name="T74" fmla="*/ 64632 w 56514"/>
              <a:gd name="T75" fmla="*/ 20515 h 56515"/>
              <a:gd name="T76" fmla="*/ 57417 w 56514"/>
              <a:gd name="T77" fmla="*/ 9838 h 56515"/>
              <a:gd name="T78" fmla="*/ 49860 w 56514"/>
              <a:gd name="T79" fmla="*/ 4746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514"/>
              <a:gd name="T121" fmla="*/ 0 h 56515"/>
              <a:gd name="T122" fmla="*/ 56514 w 56514"/>
              <a:gd name="T123" fmla="*/ 56515 h 5651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514" h="56515">
                <a:moveTo>
                  <a:pt x="28145" y="0"/>
                </a:moveTo>
                <a:lnTo>
                  <a:pt x="17205" y="2207"/>
                </a:lnTo>
                <a:lnTo>
                  <a:pt x="8257" y="8227"/>
                </a:lnTo>
                <a:lnTo>
                  <a:pt x="2217" y="17157"/>
                </a:lnTo>
                <a:lnTo>
                  <a:pt x="0" y="28093"/>
                </a:lnTo>
                <a:lnTo>
                  <a:pt x="2217" y="39037"/>
                </a:lnTo>
                <a:lnTo>
                  <a:pt x="8257" y="47985"/>
                </a:lnTo>
                <a:lnTo>
                  <a:pt x="17205" y="54023"/>
                </a:lnTo>
                <a:lnTo>
                  <a:pt x="28145" y="56239"/>
                </a:lnTo>
                <a:lnTo>
                  <a:pt x="39070" y="54023"/>
                </a:lnTo>
                <a:lnTo>
                  <a:pt x="41803" y="52176"/>
                </a:lnTo>
                <a:lnTo>
                  <a:pt x="28145" y="52176"/>
                </a:lnTo>
                <a:lnTo>
                  <a:pt x="18768" y="50280"/>
                </a:lnTo>
                <a:lnTo>
                  <a:pt x="11113" y="45113"/>
                </a:lnTo>
                <a:lnTo>
                  <a:pt x="5954" y="37457"/>
                </a:lnTo>
                <a:lnTo>
                  <a:pt x="4062" y="28093"/>
                </a:lnTo>
                <a:lnTo>
                  <a:pt x="5954" y="18722"/>
                </a:lnTo>
                <a:lnTo>
                  <a:pt x="11113" y="11052"/>
                </a:lnTo>
                <a:lnTo>
                  <a:pt x="18768" y="5870"/>
                </a:lnTo>
                <a:lnTo>
                  <a:pt x="28145" y="3968"/>
                </a:lnTo>
                <a:lnTo>
                  <a:pt x="41684" y="3968"/>
                </a:lnTo>
                <a:lnTo>
                  <a:pt x="39070" y="2207"/>
                </a:lnTo>
                <a:lnTo>
                  <a:pt x="28145" y="0"/>
                </a:lnTo>
                <a:close/>
              </a:path>
              <a:path w="56514" h="56515">
                <a:moveTo>
                  <a:pt x="41684" y="3968"/>
                </a:moveTo>
                <a:lnTo>
                  <a:pt x="28145" y="3968"/>
                </a:lnTo>
                <a:lnTo>
                  <a:pt x="37529" y="5870"/>
                </a:lnTo>
                <a:lnTo>
                  <a:pt x="45187" y="11052"/>
                </a:lnTo>
                <a:lnTo>
                  <a:pt x="50347" y="18722"/>
                </a:lnTo>
                <a:lnTo>
                  <a:pt x="52239" y="28093"/>
                </a:lnTo>
                <a:lnTo>
                  <a:pt x="50347" y="37457"/>
                </a:lnTo>
                <a:lnTo>
                  <a:pt x="45187" y="45113"/>
                </a:lnTo>
                <a:lnTo>
                  <a:pt x="37529"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w="9525">
            <a:noFill/>
            <a:round/>
            <a:headEnd/>
            <a:tailEnd/>
          </a:ln>
        </p:spPr>
        <p:txBody>
          <a:bodyPr lIns="0" tIns="0" rIns="0" bIns="0"/>
          <a:lstStyle/>
          <a:p>
            <a:endParaRPr lang="en-IN"/>
          </a:p>
        </p:txBody>
      </p:sp>
      <p:sp>
        <p:nvSpPr>
          <p:cNvPr id="11269" name="object 6"/>
          <p:cNvSpPr>
            <a:spLocks/>
          </p:cNvSpPr>
          <p:nvPr/>
        </p:nvSpPr>
        <p:spPr bwMode="auto">
          <a:xfrm>
            <a:off x="1366112" y="445713"/>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46 w 25400"/>
              <a:gd name="T23" fmla="*/ 5329 h 31750"/>
              <a:gd name="T24" fmla="*/ 21894 w 25400"/>
              <a:gd name="T25" fmla="*/ 3863 h 31750"/>
              <a:gd name="T26" fmla="*/ 18564 w 25400"/>
              <a:gd name="T27" fmla="*/ 848 h 31750"/>
              <a:gd name="T28" fmla="*/ 11999 w 25400"/>
              <a:gd name="T29" fmla="*/ 0 h 31750"/>
              <a:gd name="T30" fmla="*/ 16472 w 25400"/>
              <a:gd name="T31" fmla="*/ 18292 h 31750"/>
              <a:gd name="T32" fmla="*/ 6827 w 25400"/>
              <a:gd name="T33" fmla="*/ 18292 h 31750"/>
              <a:gd name="T34" fmla="*/ 9737 w 25400"/>
              <a:gd name="T35" fmla="*/ 18680 h 31750"/>
              <a:gd name="T36" fmla="*/ 11465 w 25400"/>
              <a:gd name="T37" fmla="*/ 19999 h 31750"/>
              <a:gd name="T38" fmla="*/ 14481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46 w 25400"/>
              <a:gd name="T51" fmla="*/ 5329 h 31750"/>
              <a:gd name="T52" fmla="*/ 10156 w 25400"/>
              <a:gd name="T53" fmla="*/ 5329 h 31750"/>
              <a:gd name="T54" fmla="*/ 14324 w 25400"/>
              <a:gd name="T55" fmla="*/ 5444 h 31750"/>
              <a:gd name="T56" fmla="*/ 16439 w 25400"/>
              <a:gd name="T57" fmla="*/ 6638 h 31750"/>
              <a:gd name="T58" fmla="*/ 17224 w 25400"/>
              <a:gd name="T59" fmla="*/ 9224 h 31750"/>
              <a:gd name="T60" fmla="*/ 16638 w 25400"/>
              <a:gd name="T61" fmla="*/ 11580 h 31750"/>
              <a:gd name="T62" fmla="*/ 15057 w 25400"/>
              <a:gd name="T63" fmla="*/ 12889 h 31750"/>
              <a:gd name="T64" fmla="*/ 9915 w 25400"/>
              <a:gd name="T65" fmla="*/ 13277 h 31750"/>
              <a:gd name="T66" fmla="*/ 21701 w 25400"/>
              <a:gd name="T67" fmla="*/ 13277 h 31750"/>
              <a:gd name="T68" fmla="*/ 23088 w 25400"/>
              <a:gd name="T69" fmla="*/ 8837 h 31750"/>
              <a:gd name="T70" fmla="*/ 22246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5400"/>
              <a:gd name="T109" fmla="*/ 0 h 31750"/>
              <a:gd name="T110" fmla="*/ 25400 w 25400"/>
              <a:gd name="T111" fmla="*/ 31750 h 3175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46" y="5329"/>
                </a:lnTo>
                <a:lnTo>
                  <a:pt x="21894" y="3863"/>
                </a:lnTo>
                <a:lnTo>
                  <a:pt x="18564" y="848"/>
                </a:lnTo>
                <a:lnTo>
                  <a:pt x="11999" y="0"/>
                </a:lnTo>
                <a:close/>
              </a:path>
              <a:path w="25400" h="31750">
                <a:moveTo>
                  <a:pt x="16472" y="18292"/>
                </a:moveTo>
                <a:lnTo>
                  <a:pt x="6827" y="18292"/>
                </a:lnTo>
                <a:lnTo>
                  <a:pt x="9737" y="18680"/>
                </a:lnTo>
                <a:lnTo>
                  <a:pt x="11465" y="19999"/>
                </a:lnTo>
                <a:lnTo>
                  <a:pt x="14481" y="24596"/>
                </a:lnTo>
                <a:lnTo>
                  <a:pt x="18564" y="31423"/>
                </a:lnTo>
                <a:lnTo>
                  <a:pt x="25402" y="31423"/>
                </a:lnTo>
                <a:lnTo>
                  <a:pt x="21967" y="25318"/>
                </a:lnTo>
                <a:lnTo>
                  <a:pt x="18721" y="20229"/>
                </a:lnTo>
                <a:lnTo>
                  <a:pt x="16472" y="18292"/>
                </a:lnTo>
                <a:close/>
              </a:path>
              <a:path w="25400" h="31750">
                <a:moveTo>
                  <a:pt x="22246" y="5329"/>
                </a:moveTo>
                <a:lnTo>
                  <a:pt x="10156" y="5329"/>
                </a:lnTo>
                <a:lnTo>
                  <a:pt x="14324" y="5444"/>
                </a:lnTo>
                <a:lnTo>
                  <a:pt x="16439" y="6638"/>
                </a:lnTo>
                <a:lnTo>
                  <a:pt x="17224" y="9224"/>
                </a:lnTo>
                <a:lnTo>
                  <a:pt x="16638" y="11580"/>
                </a:lnTo>
                <a:lnTo>
                  <a:pt x="15057" y="12889"/>
                </a:lnTo>
                <a:lnTo>
                  <a:pt x="9915" y="13277"/>
                </a:lnTo>
                <a:lnTo>
                  <a:pt x="21701" y="13277"/>
                </a:lnTo>
                <a:lnTo>
                  <a:pt x="23088" y="8837"/>
                </a:lnTo>
                <a:lnTo>
                  <a:pt x="22246" y="5329"/>
                </a:lnTo>
                <a:close/>
              </a:path>
            </a:pathLst>
          </a:custGeom>
          <a:solidFill>
            <a:srgbClr val="231F20"/>
          </a:solidFill>
          <a:ln w="9525">
            <a:noFill/>
            <a:round/>
            <a:headEnd/>
            <a:tailEnd/>
          </a:ln>
        </p:spPr>
        <p:txBody>
          <a:bodyPr lIns="0" tIns="0" rIns="0" bIns="0"/>
          <a:lstStyle/>
          <a:p>
            <a:endParaRPr lang="en-IN"/>
          </a:p>
        </p:txBody>
      </p:sp>
      <p:sp>
        <p:nvSpPr>
          <p:cNvPr id="7" name="object 7"/>
          <p:cNvSpPr txBox="1"/>
          <p:nvPr/>
        </p:nvSpPr>
        <p:spPr>
          <a:xfrm>
            <a:off x="828910" y="273396"/>
            <a:ext cx="623848" cy="367890"/>
          </a:xfrm>
          <a:prstGeom prst="rect">
            <a:avLst/>
          </a:prstGeom>
        </p:spPr>
        <p:txBody>
          <a:bodyPr lIns="0" tIns="8732" rIns="0" bIns="0">
            <a:spAutoFit/>
          </a:bodyPr>
          <a:lstStyle/>
          <a:p>
            <a:pPr marL="6468">
              <a:lnSpc>
                <a:spcPts val="909"/>
              </a:lnSpc>
              <a:spcBef>
                <a:spcPts val="69"/>
              </a:spcBef>
              <a:defRPr/>
            </a:pPr>
            <a:r>
              <a:rPr lang="en-IN" sz="800" b="1" spc="3" dirty="0">
                <a:solidFill>
                  <a:srgbClr val="231F20"/>
                </a:solidFill>
                <a:latin typeface="Helvetica-Bold"/>
                <a:cs typeface="Helvetica-Bold"/>
              </a:rPr>
              <a:t>RV College of </a:t>
            </a:r>
          </a:p>
          <a:p>
            <a:pPr marL="6468">
              <a:lnSpc>
                <a:spcPts val="909"/>
              </a:lnSpc>
              <a:spcBef>
                <a:spcPts val="69"/>
              </a:spcBef>
              <a:defRPr/>
            </a:pPr>
            <a:r>
              <a:rPr lang="en-IN" sz="800" b="1" spc="3" dirty="0">
                <a:solidFill>
                  <a:srgbClr val="231F20"/>
                </a:solidFill>
                <a:latin typeface="Helvetica-Bold"/>
                <a:cs typeface="Helvetica-Bold"/>
              </a:rPr>
              <a:t>Engineering</a:t>
            </a:r>
            <a:endParaRPr sz="800" dirty="0">
              <a:latin typeface="Helvetica-Bold"/>
              <a:cs typeface="Helvetica-Bold"/>
            </a:endParaRPr>
          </a:p>
        </p:txBody>
      </p:sp>
      <p:sp>
        <p:nvSpPr>
          <p:cNvPr id="11271" name="object 10"/>
          <p:cNvSpPr>
            <a:spLocks/>
          </p:cNvSpPr>
          <p:nvPr/>
        </p:nvSpPr>
        <p:spPr bwMode="auto">
          <a:xfrm>
            <a:off x="458500" y="722959"/>
            <a:ext cx="8427007" cy="0"/>
          </a:xfrm>
          <a:custGeom>
            <a:avLst/>
            <a:gdLst>
              <a:gd name="T0" fmla="*/ 0 w 18527395"/>
              <a:gd name="T1" fmla="*/ 18531936 w 18527395"/>
              <a:gd name="T2" fmla="*/ 0 60000 65536"/>
              <a:gd name="T3" fmla="*/ 0 60000 65536"/>
              <a:gd name="T4" fmla="*/ 0 w 18527395"/>
              <a:gd name="T5" fmla="*/ 18527395 w 18527395"/>
            </a:gdLst>
            <a:ahLst/>
            <a:cxnLst>
              <a:cxn ang="T2">
                <a:pos x="T0" y="0"/>
              </a:cxn>
              <a:cxn ang="T3">
                <a:pos x="T1" y="0"/>
              </a:cxn>
            </a:cxnLst>
            <a:rect l="T4" t="0" r="T5" b="0"/>
            <a:pathLst>
              <a:path w="18527395">
                <a:moveTo>
                  <a:pt x="0" y="0"/>
                </a:moveTo>
                <a:lnTo>
                  <a:pt x="18526859" y="0"/>
                </a:lnTo>
              </a:path>
            </a:pathLst>
          </a:custGeom>
          <a:noFill/>
          <a:ln w="15706">
            <a:solidFill>
              <a:srgbClr val="5E6DB3"/>
            </a:solidFill>
            <a:round/>
            <a:headEnd/>
            <a:tailEnd/>
          </a:ln>
        </p:spPr>
        <p:txBody>
          <a:bodyPr lIns="0" tIns="0" rIns="0" bIns="0"/>
          <a:lstStyle/>
          <a:p>
            <a:endParaRPr lang="en-IN"/>
          </a:p>
        </p:txBody>
      </p:sp>
      <p:sp>
        <p:nvSpPr>
          <p:cNvPr id="1127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273" name="TextBox 1"/>
          <p:cNvSpPr txBox="1">
            <a:spLocks noChangeArrowheads="1"/>
          </p:cNvSpPr>
          <p:nvPr/>
        </p:nvSpPr>
        <p:spPr bwMode="auto">
          <a:xfrm>
            <a:off x="447669" y="841366"/>
            <a:ext cx="7719402" cy="4617507"/>
          </a:xfrm>
          <a:prstGeom prst="rect">
            <a:avLst/>
          </a:prstGeom>
          <a:noFill/>
          <a:ln w="9525">
            <a:noFill/>
            <a:miter lim="800000"/>
            <a:headEnd/>
            <a:tailEnd/>
          </a:ln>
        </p:spPr>
        <p:txBody>
          <a:bodyPr lIns="46570" tIns="23285" rIns="46570" bIns="23285">
            <a:spAutoFit/>
          </a:bodyPr>
          <a:lstStyle/>
          <a:p>
            <a:pPr>
              <a:lnSpc>
                <a:spcPct val="150000"/>
              </a:lnSpc>
            </a:pPr>
            <a:r>
              <a:rPr lang="en-IN" dirty="0" smtClean="0"/>
              <a:t>RSA algorithm is vulnerable to a </a:t>
            </a:r>
            <a:r>
              <a:rPr lang="en-IN" b="1" dirty="0" smtClean="0"/>
              <a:t>chosen </a:t>
            </a:r>
            <a:r>
              <a:rPr lang="en-IN" b="1" dirty="0" err="1" smtClean="0"/>
              <a:t>ciphertext</a:t>
            </a:r>
            <a:r>
              <a:rPr lang="en-IN" b="1" dirty="0" smtClean="0"/>
              <a:t> attack </a:t>
            </a:r>
            <a:r>
              <a:rPr lang="en-IN" dirty="0" smtClean="0"/>
              <a:t>(CCA). </a:t>
            </a:r>
          </a:p>
          <a:p>
            <a:pPr>
              <a:lnSpc>
                <a:spcPct val="150000"/>
              </a:lnSpc>
            </a:pPr>
            <a:r>
              <a:rPr lang="en-IN" dirty="0" smtClean="0"/>
              <a:t>A simple example of a CCA against RSA takes advantage of the following property of RSA:</a:t>
            </a:r>
          </a:p>
          <a:p>
            <a:pPr>
              <a:lnSpc>
                <a:spcPct val="150000"/>
              </a:lnSpc>
            </a:pPr>
            <a:endParaRPr lang="en-IN" dirty="0" smtClean="0"/>
          </a:p>
          <a:p>
            <a:pPr>
              <a:lnSpc>
                <a:spcPct val="150000"/>
              </a:lnSpc>
            </a:pPr>
            <a:r>
              <a:rPr lang="en-IN" dirty="0" smtClean="0"/>
              <a:t>We can decrypt C = Me mod n using a CCA as follows. </a:t>
            </a:r>
          </a:p>
          <a:p>
            <a:pPr marL="378384" indent="-378384">
              <a:lnSpc>
                <a:spcPct val="150000"/>
              </a:lnSpc>
              <a:buAutoNum type="arabicPeriod"/>
            </a:pPr>
            <a:r>
              <a:rPr lang="en-IN" dirty="0" smtClean="0"/>
              <a:t>Compute</a:t>
            </a:r>
          </a:p>
          <a:p>
            <a:pPr marL="378384" indent="-378384">
              <a:lnSpc>
                <a:spcPct val="150000"/>
              </a:lnSpc>
              <a:buAutoNum type="arabicPeriod"/>
            </a:pPr>
            <a:r>
              <a:rPr lang="en-IN" dirty="0" smtClean="0"/>
              <a:t> Submit X as a chosen </a:t>
            </a:r>
            <a:r>
              <a:rPr lang="en-IN" dirty="0" err="1" smtClean="0"/>
              <a:t>ciphertext</a:t>
            </a:r>
            <a:r>
              <a:rPr lang="en-IN" dirty="0" smtClean="0"/>
              <a:t> and receive back</a:t>
            </a:r>
          </a:p>
          <a:p>
            <a:pPr marL="378384" indent="-378384">
              <a:lnSpc>
                <a:spcPct val="150000"/>
              </a:lnSpc>
            </a:pPr>
            <a:r>
              <a:rPr lang="en-IN" dirty="0"/>
              <a:t>	</a:t>
            </a:r>
            <a:r>
              <a:rPr lang="en-IN" dirty="0" smtClean="0"/>
              <a:t>But now note that </a:t>
            </a:r>
          </a:p>
          <a:p>
            <a:pPr marL="378384" indent="-378384">
              <a:lnSpc>
                <a:spcPct val="150000"/>
              </a:lnSpc>
            </a:pPr>
            <a:endParaRPr lang="en-IN" dirty="0"/>
          </a:p>
          <a:p>
            <a:pPr marL="378384" indent="-378384">
              <a:lnSpc>
                <a:spcPct val="150000"/>
              </a:lnSpc>
            </a:pPr>
            <a:endParaRPr lang="en-IN" dirty="0" smtClean="0"/>
          </a:p>
          <a:p>
            <a:pPr marL="378384" indent="-378384">
              <a:lnSpc>
                <a:spcPct val="150000"/>
              </a:lnSpc>
            </a:pPr>
            <a:r>
              <a:rPr lang="en-IN" dirty="0" smtClean="0"/>
              <a:t>Therefore, Y = (2M) mod n. From this, we can deduce M.</a:t>
            </a:r>
            <a:endParaRPr lang="en-IN" dirty="0"/>
          </a:p>
        </p:txBody>
      </p:sp>
      <p:pic>
        <p:nvPicPr>
          <p:cNvPr id="100354" name="Picture 2"/>
          <p:cNvPicPr>
            <a:picLocks noChangeAspect="1" noChangeArrowheads="1"/>
          </p:cNvPicPr>
          <p:nvPr/>
        </p:nvPicPr>
        <p:blipFill>
          <a:blip r:embed="rId3"/>
          <a:srcRect/>
          <a:stretch>
            <a:fillRect/>
          </a:stretch>
        </p:blipFill>
        <p:spPr bwMode="auto">
          <a:xfrm>
            <a:off x="2492505" y="4260740"/>
            <a:ext cx="2287444" cy="986290"/>
          </a:xfrm>
          <a:prstGeom prst="rect">
            <a:avLst/>
          </a:prstGeom>
          <a:noFill/>
          <a:ln w="9525">
            <a:noFill/>
            <a:miter lim="800000"/>
            <a:headEnd/>
            <a:tailEnd/>
          </a:ln>
          <a:effectLst/>
        </p:spPr>
      </p:pic>
      <p:pic>
        <p:nvPicPr>
          <p:cNvPr id="100355" name="Picture 3"/>
          <p:cNvPicPr>
            <a:picLocks noChangeAspect="1" noChangeArrowheads="1"/>
          </p:cNvPicPr>
          <p:nvPr/>
        </p:nvPicPr>
        <p:blipFill>
          <a:blip r:embed="rId4"/>
          <a:srcRect/>
          <a:stretch>
            <a:fillRect/>
          </a:stretch>
        </p:blipFill>
        <p:spPr bwMode="auto">
          <a:xfrm>
            <a:off x="1730024" y="3059338"/>
            <a:ext cx="1490304" cy="269197"/>
          </a:xfrm>
          <a:prstGeom prst="rect">
            <a:avLst/>
          </a:prstGeom>
          <a:noFill/>
          <a:ln w="9525">
            <a:noFill/>
            <a:miter lim="800000"/>
            <a:headEnd/>
            <a:tailEnd/>
          </a:ln>
          <a:effectLst/>
        </p:spPr>
      </p:pic>
      <p:pic>
        <p:nvPicPr>
          <p:cNvPr id="100356" name="Picture 4"/>
          <p:cNvPicPr>
            <a:picLocks noChangeAspect="1" noChangeArrowheads="1"/>
          </p:cNvPicPr>
          <p:nvPr/>
        </p:nvPicPr>
        <p:blipFill>
          <a:blip r:embed="rId5"/>
          <a:srcRect/>
          <a:stretch>
            <a:fillRect/>
          </a:stretch>
        </p:blipFill>
        <p:spPr bwMode="auto">
          <a:xfrm>
            <a:off x="5126532" y="3475208"/>
            <a:ext cx="1039747" cy="277246"/>
          </a:xfrm>
          <a:prstGeom prst="rect">
            <a:avLst/>
          </a:prstGeom>
          <a:noFill/>
          <a:ln w="9525">
            <a:noFill/>
            <a:miter lim="800000"/>
            <a:headEnd/>
            <a:tailEnd/>
          </a:ln>
          <a:effectLst/>
        </p:spPr>
      </p:pic>
      <p:pic>
        <p:nvPicPr>
          <p:cNvPr id="100357" name="Picture 5"/>
          <p:cNvPicPr>
            <a:picLocks noChangeAspect="1" noChangeArrowheads="1"/>
          </p:cNvPicPr>
          <p:nvPr/>
        </p:nvPicPr>
        <p:blipFill>
          <a:blip r:embed="rId6"/>
          <a:srcRect/>
          <a:stretch>
            <a:fillRect/>
          </a:stretch>
        </p:blipFill>
        <p:spPr bwMode="auto">
          <a:xfrm>
            <a:off x="1279467" y="1950352"/>
            <a:ext cx="3084584" cy="3841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5" name="object 2"/>
          <p:cNvSpPr txBox="1">
            <a:spLocks noChangeArrowheads="1"/>
          </p:cNvSpPr>
          <p:nvPr/>
        </p:nvSpPr>
        <p:spPr bwMode="auto">
          <a:xfrm>
            <a:off x="584858" y="1673106"/>
            <a:ext cx="7974284" cy="18103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584200" indent="-571500">
              <a:tabLst>
                <a:tab pos="8416925" algn="l"/>
              </a:tabLst>
              <a:defRPr>
                <a:solidFill>
                  <a:schemeClr val="tx1"/>
                </a:solidFill>
                <a:latin typeface="Calibri" pitchFamily="34" charset="0"/>
                <a:ea typeface="ＭＳ Ｐゴシック" pitchFamily="34" charset="-128"/>
              </a:defRPr>
            </a:lvl1pPr>
            <a:lvl2pPr marL="742950" indent="-285750">
              <a:tabLst>
                <a:tab pos="8416925" algn="l"/>
              </a:tabLst>
              <a:defRPr>
                <a:solidFill>
                  <a:schemeClr val="tx1"/>
                </a:solidFill>
                <a:latin typeface="Calibri" pitchFamily="34" charset="0"/>
                <a:ea typeface="ＭＳ Ｐゴシック" pitchFamily="34" charset="-128"/>
              </a:defRPr>
            </a:lvl2pPr>
            <a:lvl3pPr marL="1143000" indent="-228600">
              <a:tabLst>
                <a:tab pos="8416925" algn="l"/>
              </a:tabLst>
              <a:defRPr>
                <a:solidFill>
                  <a:schemeClr val="tx1"/>
                </a:solidFill>
                <a:latin typeface="Calibri" pitchFamily="34" charset="0"/>
                <a:ea typeface="ＭＳ Ｐゴシック" pitchFamily="34" charset="-128"/>
              </a:defRPr>
            </a:lvl3pPr>
            <a:lvl4pPr marL="1600200" indent="-228600">
              <a:tabLst>
                <a:tab pos="8416925" algn="l"/>
              </a:tabLst>
              <a:defRPr>
                <a:solidFill>
                  <a:schemeClr val="tx1"/>
                </a:solidFill>
                <a:latin typeface="Calibri" pitchFamily="34" charset="0"/>
                <a:ea typeface="ＭＳ Ｐゴシック" pitchFamily="34" charset="-128"/>
              </a:defRPr>
            </a:lvl4pPr>
            <a:lvl5pPr marL="2057400" indent="-228600">
              <a:tabLst>
                <a:tab pos="8416925"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8416925" algn="l"/>
              </a:tabLst>
              <a:defRPr>
                <a:solidFill>
                  <a:schemeClr val="tx1"/>
                </a:solidFill>
                <a:latin typeface="Calibri" pitchFamily="34" charset="0"/>
                <a:ea typeface="ＭＳ Ｐゴシック" pitchFamily="34" charset="-128"/>
              </a:defRPr>
            </a:lvl9pPr>
          </a:lstStyle>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Not a Public Key Encryption system, but can allow A and B to agree on a shared secret in a public channel (against passive, i.e., eavesdropping only adversaries)</a:t>
            </a:r>
          </a:p>
          <a:p>
            <a:pPr marL="263525" indent="-250825" defTabSz="232795" fontAlgn="base">
              <a:lnSpc>
                <a:spcPct val="150000"/>
              </a:lnSpc>
              <a:spcBef>
                <a:spcPts val="51"/>
              </a:spcBef>
              <a:spcAft>
                <a:spcPct val="0"/>
              </a:spcAft>
              <a:buFont typeface="Arial" pitchFamily="34" charset="0"/>
              <a:buChar char="•"/>
            </a:pPr>
            <a:r>
              <a:rPr lang="en-US" sz="2000" dirty="0" smtClean="0">
                <a:latin typeface="Times New Roman" pitchFamily="18" charset="0"/>
                <a:cs typeface="Times New Roman" pitchFamily="18" charset="0"/>
              </a:rPr>
              <a:t>Setup: p prime and g generator of </a:t>
            </a:r>
            <a:r>
              <a:rPr lang="en-US" sz="2000" dirty="0" err="1" smtClean="0">
                <a:latin typeface="Times New Roman" pitchFamily="18" charset="0"/>
                <a:cs typeface="Times New Roman" pitchFamily="18" charset="0"/>
              </a:rPr>
              <a:t>Zp</a:t>
            </a:r>
            <a:r>
              <a:rPr lang="en-US" sz="2000" dirty="0" smtClean="0">
                <a:latin typeface="Times New Roman" pitchFamily="18" charset="0"/>
                <a:cs typeface="Times New Roman" pitchFamily="18" charset="0"/>
              </a:rPr>
              <a:t>*, p and g public.</a:t>
            </a: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618072" y="979990"/>
            <a:ext cx="7211803" cy="4125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000" dirty="0">
                <a:solidFill>
                  <a:prstClr val="black"/>
                </a:solidFill>
                <a:latin typeface="Times New Roman" pitchFamily="18" charset="0"/>
                <a:cs typeface="Times New Roman" pitchFamily="18" charset="0"/>
              </a:rPr>
              <a:t>Other Public key Cryptosystems: </a:t>
            </a:r>
            <a:r>
              <a:rPr lang="en-US" altLang="en-US" sz="2000" dirty="0" err="1">
                <a:solidFill>
                  <a:prstClr val="black"/>
                </a:solidFill>
                <a:latin typeface="Times New Roman" pitchFamily="18" charset="0"/>
                <a:cs typeface="Times New Roman" pitchFamily="18" charset="0"/>
              </a:rPr>
              <a:t>Diffie</a:t>
            </a:r>
            <a:r>
              <a:rPr lang="en-US" altLang="en-US" sz="2000" dirty="0">
                <a:solidFill>
                  <a:prstClr val="black"/>
                </a:solidFill>
                <a:latin typeface="Times New Roman" pitchFamily="18" charset="0"/>
                <a:cs typeface="Times New Roman" pitchFamily="18" charset="0"/>
              </a:rPr>
              <a:t>-Hellman Key Exchange.</a:t>
            </a: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004229" y="3493659"/>
            <a:ext cx="7554913" cy="1577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2" name="Text Box 12"/>
          <p:cNvSpPr txBox="1">
            <a:spLocks noChangeArrowheads="1"/>
          </p:cNvSpPr>
          <p:nvPr/>
        </p:nvSpPr>
        <p:spPr bwMode="auto">
          <a:xfrm>
            <a:off x="609600" y="5059252"/>
            <a:ext cx="3530600" cy="101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a:lnSpc>
                <a:spcPct val="140000"/>
              </a:lnSpc>
              <a:spcBef>
                <a:spcPct val="20000"/>
              </a:spcBef>
              <a:buClr>
                <a:schemeClr val="accent2"/>
              </a:buClr>
              <a:buSzPct val="100000"/>
              <a:buFont typeface="Times" pitchFamily="18" charset="0"/>
              <a:buNone/>
            </a:pPr>
            <a:r>
              <a:rPr lang="en-US" sz="2000" dirty="0"/>
              <a:t>Pick</a:t>
            </a:r>
            <a:r>
              <a:rPr lang="en-US" sz="2000" dirty="0">
                <a:solidFill>
                  <a:srgbClr val="1002F1"/>
                </a:solidFill>
              </a:rPr>
              <a:t> </a:t>
            </a:r>
            <a:r>
              <a:rPr lang="en-US" sz="2000" dirty="0"/>
              <a:t>random, secret a</a:t>
            </a:r>
          </a:p>
          <a:p>
            <a:pPr>
              <a:lnSpc>
                <a:spcPct val="140000"/>
              </a:lnSpc>
              <a:spcBef>
                <a:spcPct val="20000"/>
              </a:spcBef>
              <a:buClr>
                <a:schemeClr val="accent2"/>
              </a:buClr>
              <a:buSzPct val="100000"/>
              <a:buFont typeface="Times" pitchFamily="18" charset="0"/>
              <a:buNone/>
            </a:pPr>
            <a:r>
              <a:rPr lang="en-US" sz="2000" dirty="0"/>
              <a:t>Compute and send </a:t>
            </a:r>
            <a:r>
              <a:rPr lang="en-US" sz="2000" dirty="0" err="1"/>
              <a:t>g</a:t>
            </a:r>
            <a:r>
              <a:rPr lang="en-US" sz="2000" baseline="30000" dirty="0" err="1"/>
              <a:t>a</a:t>
            </a:r>
            <a:r>
              <a:rPr lang="en-US" sz="2000" dirty="0"/>
              <a:t> mod p</a:t>
            </a:r>
            <a:endParaRPr lang="en-US" sz="2000" dirty="0">
              <a:solidFill>
                <a:srgbClr val="1002F1"/>
              </a:solidFill>
            </a:endParaRPr>
          </a:p>
        </p:txBody>
      </p:sp>
      <p:sp>
        <p:nvSpPr>
          <p:cNvPr id="13" name="Text Box 13"/>
          <p:cNvSpPr txBox="1">
            <a:spLocks noChangeArrowheads="1"/>
          </p:cNvSpPr>
          <p:nvPr/>
        </p:nvSpPr>
        <p:spPr bwMode="auto">
          <a:xfrm>
            <a:off x="5508104" y="5059252"/>
            <a:ext cx="3530600" cy="966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a:lnSpc>
                <a:spcPct val="140000"/>
              </a:lnSpc>
              <a:spcBef>
                <a:spcPct val="20000"/>
              </a:spcBef>
              <a:buClr>
                <a:schemeClr val="accent2"/>
              </a:buClr>
              <a:buSzPct val="100000"/>
              <a:buFont typeface="Times" pitchFamily="18" charset="0"/>
              <a:buNone/>
            </a:pPr>
            <a:r>
              <a:rPr lang="en-US" sz="2000" dirty="0"/>
              <a:t>Pick</a:t>
            </a:r>
            <a:r>
              <a:rPr lang="en-US" sz="2000" dirty="0">
                <a:solidFill>
                  <a:srgbClr val="1002F1"/>
                </a:solidFill>
              </a:rPr>
              <a:t> </a:t>
            </a:r>
            <a:r>
              <a:rPr lang="en-US" sz="2000" dirty="0"/>
              <a:t>random, secret b</a:t>
            </a:r>
          </a:p>
          <a:p>
            <a:pPr>
              <a:lnSpc>
                <a:spcPct val="140000"/>
              </a:lnSpc>
              <a:spcBef>
                <a:spcPct val="20000"/>
              </a:spcBef>
              <a:buClr>
                <a:schemeClr val="accent2"/>
              </a:buClr>
              <a:buSzPct val="100000"/>
              <a:buFont typeface="Times" pitchFamily="18" charset="0"/>
              <a:buNone/>
            </a:pPr>
            <a:r>
              <a:rPr lang="en-US" sz="2000" dirty="0"/>
              <a:t>Compute and send </a:t>
            </a:r>
            <a:r>
              <a:rPr lang="en-US" sz="2000" dirty="0" err="1"/>
              <a:t>g</a:t>
            </a:r>
            <a:r>
              <a:rPr lang="en-US" sz="2000" baseline="30000" dirty="0" err="1"/>
              <a:t>b</a:t>
            </a:r>
            <a:r>
              <a:rPr lang="en-US" sz="2000" dirty="0"/>
              <a:t> mod p</a:t>
            </a:r>
            <a:endParaRPr lang="en-US" sz="2000" dirty="0">
              <a:solidFill>
                <a:srgbClr val="1002F1"/>
              </a:solidFill>
            </a:endParaRPr>
          </a:p>
        </p:txBody>
      </p:sp>
      <p:sp>
        <p:nvSpPr>
          <p:cNvPr id="14" name="Text Box 6"/>
          <p:cNvSpPr txBox="1">
            <a:spLocks noChangeArrowheads="1"/>
          </p:cNvSpPr>
          <p:nvPr/>
        </p:nvSpPr>
        <p:spPr bwMode="auto">
          <a:xfrm>
            <a:off x="685800" y="6026039"/>
            <a:ext cx="3405188" cy="917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a:lnSpc>
                <a:spcPct val="140000"/>
              </a:lnSpc>
              <a:spcBef>
                <a:spcPct val="20000"/>
              </a:spcBef>
              <a:buClr>
                <a:schemeClr val="accent2"/>
              </a:buClr>
              <a:buSzPct val="100000"/>
              <a:buFont typeface="Times" pitchFamily="18" charset="0"/>
              <a:buNone/>
            </a:pPr>
            <a:r>
              <a:rPr lang="en-US" sz="2000" dirty="0"/>
              <a:t>K = (</a:t>
            </a:r>
            <a:r>
              <a:rPr lang="en-US" sz="2000" dirty="0" err="1"/>
              <a:t>g</a:t>
            </a:r>
            <a:r>
              <a:rPr lang="en-US" sz="2000" baseline="30000" dirty="0" err="1"/>
              <a:t>b</a:t>
            </a:r>
            <a:r>
              <a:rPr lang="en-US" sz="2000" dirty="0"/>
              <a:t> mod p)</a:t>
            </a:r>
            <a:r>
              <a:rPr lang="en-US" sz="2000" baseline="30000" dirty="0"/>
              <a:t>a</a:t>
            </a:r>
            <a:r>
              <a:rPr lang="en-US" sz="2000" dirty="0"/>
              <a:t> = g</a:t>
            </a:r>
            <a:r>
              <a:rPr lang="en-US" sz="2000" baseline="30000" dirty="0"/>
              <a:t>ab</a:t>
            </a:r>
            <a:r>
              <a:rPr lang="en-US" sz="2000" dirty="0"/>
              <a:t> mod p </a:t>
            </a:r>
          </a:p>
          <a:p>
            <a:pPr>
              <a:lnSpc>
                <a:spcPct val="140000"/>
              </a:lnSpc>
              <a:spcBef>
                <a:spcPct val="20000"/>
              </a:spcBef>
              <a:buClr>
                <a:schemeClr val="accent2"/>
              </a:buClr>
              <a:buSzPct val="100000"/>
              <a:buFont typeface="Times" pitchFamily="18" charset="0"/>
              <a:buNone/>
            </a:pPr>
            <a:r>
              <a:rPr lang="en-US" sz="1600" dirty="0"/>
              <a:t> </a:t>
            </a:r>
            <a:endParaRPr lang="en-US" sz="1600" dirty="0">
              <a:solidFill>
                <a:srgbClr val="1002F1"/>
              </a:solidFill>
            </a:endParaRPr>
          </a:p>
        </p:txBody>
      </p:sp>
      <p:sp>
        <p:nvSpPr>
          <p:cNvPr id="15" name="Text Box 10"/>
          <p:cNvSpPr txBox="1">
            <a:spLocks noChangeArrowheads="1"/>
          </p:cNvSpPr>
          <p:nvPr/>
        </p:nvSpPr>
        <p:spPr bwMode="auto">
          <a:xfrm>
            <a:off x="5618163" y="6073982"/>
            <a:ext cx="3335337" cy="474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a:lnSpc>
                <a:spcPct val="140000"/>
              </a:lnSpc>
              <a:spcBef>
                <a:spcPct val="20000"/>
              </a:spcBef>
              <a:buClr>
                <a:schemeClr val="accent2"/>
              </a:buClr>
              <a:buSzPct val="100000"/>
              <a:buFont typeface="Times" pitchFamily="18" charset="0"/>
              <a:buNone/>
            </a:pPr>
            <a:r>
              <a:rPr lang="en-US" sz="2000" dirty="0"/>
              <a:t>K = (</a:t>
            </a:r>
            <a:r>
              <a:rPr lang="en-US" sz="2000" dirty="0" err="1"/>
              <a:t>g</a:t>
            </a:r>
            <a:r>
              <a:rPr lang="en-US" sz="2000" baseline="30000" dirty="0" err="1"/>
              <a:t>a</a:t>
            </a:r>
            <a:r>
              <a:rPr lang="en-US" sz="2000" dirty="0"/>
              <a:t> mod p)</a:t>
            </a:r>
            <a:r>
              <a:rPr lang="en-US" sz="2000" baseline="30000" dirty="0"/>
              <a:t>b</a:t>
            </a:r>
            <a:r>
              <a:rPr lang="en-US" sz="2000" dirty="0"/>
              <a:t> = g</a:t>
            </a:r>
            <a:r>
              <a:rPr lang="en-US" sz="2000" baseline="30000" dirty="0"/>
              <a:t>ab</a:t>
            </a:r>
            <a:r>
              <a:rPr lang="en-US" sz="2000" dirty="0"/>
              <a:t> mod p</a:t>
            </a:r>
            <a:endParaRPr lang="en-US" sz="2000" dirty="0">
              <a:solidFill>
                <a:srgbClr val="1002F1"/>
              </a:solidFill>
            </a:endParaRPr>
          </a:p>
        </p:txBody>
      </p:sp>
    </p:spTree>
    <p:extLst>
      <p:ext uri="{BB962C8B-B14F-4D97-AF65-F5344CB8AC3E}">
        <p14:creationId xmlns:p14="http://schemas.microsoft.com/office/powerpoint/2010/main" xmlns="" val="29757678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p:cNvSpPr/>
          <p:nvPr/>
        </p:nvSpPr>
        <p:spPr>
          <a:xfrm>
            <a:off x="0" y="9627"/>
            <a:ext cx="9144000"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lIns="46559" tIns="23279" rIns="46559" bIns="23279" anchor="ctr"/>
          <a:lstStyle/>
          <a:p>
            <a:pPr algn="ctr" defTabSz="232795" eaLnBrk="0" fontAlgn="base" hangingPunct="0">
              <a:spcBef>
                <a:spcPct val="0"/>
              </a:spcBef>
              <a:spcAft>
                <a:spcPct val="0"/>
              </a:spcAft>
              <a:defRPr/>
            </a:pPr>
            <a:endParaRPr lang="en-IN" dirty="0">
              <a:solidFill>
                <a:srgbClr val="681748"/>
              </a:solidFill>
            </a:endParaRPr>
          </a:p>
        </p:txBody>
      </p:sp>
      <p:sp>
        <p:nvSpPr>
          <p:cNvPr id="8196" name="object 4"/>
          <p:cNvSpPr>
            <a:spLocks/>
          </p:cNvSpPr>
          <p:nvPr/>
        </p:nvSpPr>
        <p:spPr bwMode="auto">
          <a:xfrm>
            <a:off x="458501" y="722959"/>
            <a:ext cx="8427007" cy="0"/>
          </a:xfrm>
          <a:custGeom>
            <a:avLst/>
            <a:gdLst>
              <a:gd name="T0" fmla="*/ 0 w 18527395"/>
              <a:gd name="T1" fmla="*/ 18537637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7" name="object 5"/>
          <p:cNvSpPr>
            <a:spLocks noChangeArrowheads="1"/>
          </p:cNvSpPr>
          <p:nvPr/>
        </p:nvSpPr>
        <p:spPr bwMode="auto">
          <a:xfrm>
            <a:off x="457057" y="182907"/>
            <a:ext cx="322033" cy="430310"/>
          </a:xfrm>
          <a:prstGeom prst="rect">
            <a:avLst/>
          </a:prstGeom>
          <a:blipFill dpi="0" rotWithShape="1">
            <a:blip r:embed="rId2" cstate="print"/>
            <a:srcRect/>
            <a:stretch>
              <a:fillRect/>
            </a:stretch>
          </a:blip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p>
            <a:pPr defTabSz="232795" fontAlgn="base">
              <a:spcBef>
                <a:spcPct val="0"/>
              </a:spcBef>
              <a:spcAft>
                <a:spcPct val="0"/>
              </a:spcAft>
            </a:pPr>
            <a:endParaRPr lang="en-US" altLang="en-US">
              <a:solidFill>
                <a:prstClr val="black"/>
              </a:solidFill>
              <a:ea typeface="ＭＳ Ｐゴシック" pitchFamily="34" charset="-128"/>
            </a:endParaRPr>
          </a:p>
        </p:txBody>
      </p:sp>
      <p:sp>
        <p:nvSpPr>
          <p:cNvPr id="8198" name="object 6"/>
          <p:cNvSpPr>
            <a:spLocks/>
          </p:cNvSpPr>
          <p:nvPr/>
        </p:nvSpPr>
        <p:spPr bwMode="auto">
          <a:xfrm>
            <a:off x="1356726" y="432235"/>
            <a:ext cx="25994" cy="34656"/>
          </a:xfrm>
          <a:custGeom>
            <a:avLst/>
            <a:gdLst>
              <a:gd name="T0" fmla="*/ 41174 w 56514"/>
              <a:gd name="T1" fmla="*/ 0 h 56515"/>
              <a:gd name="T2" fmla="*/ 25166 w 56514"/>
              <a:gd name="T3" fmla="*/ 3227 h 56515"/>
              <a:gd name="T4" fmla="*/ 12072 w 56514"/>
              <a:gd name="T5" fmla="*/ 12031 h 56515"/>
              <a:gd name="T6" fmla="*/ 3240 w 56514"/>
              <a:gd name="T7" fmla="*/ 25088 h 56515"/>
              <a:gd name="T8" fmla="*/ 0 w 56514"/>
              <a:gd name="T9" fmla="*/ 41074 h 56515"/>
              <a:gd name="T10" fmla="*/ 3240 w 56514"/>
              <a:gd name="T11" fmla="*/ 57080 h 56515"/>
              <a:gd name="T12" fmla="*/ 12072 w 56514"/>
              <a:gd name="T13" fmla="*/ 70161 h 56515"/>
              <a:gd name="T14" fmla="*/ 25166 w 56514"/>
              <a:gd name="T15" fmla="*/ 78992 h 56515"/>
              <a:gd name="T16" fmla="*/ 41174 w 56514"/>
              <a:gd name="T17" fmla="*/ 82231 h 56515"/>
              <a:gd name="T18" fmla="*/ 57162 w 56514"/>
              <a:gd name="T19" fmla="*/ 78992 h 56515"/>
              <a:gd name="T20" fmla="*/ 61158 w 56514"/>
              <a:gd name="T21" fmla="*/ 76290 h 56515"/>
              <a:gd name="T22" fmla="*/ 41174 w 56514"/>
              <a:gd name="T23" fmla="*/ 76290 h 56515"/>
              <a:gd name="T24" fmla="*/ 27449 w 56514"/>
              <a:gd name="T25" fmla="*/ 73516 h 56515"/>
              <a:gd name="T26" fmla="*/ 16253 w 56514"/>
              <a:gd name="T27" fmla="*/ 65962 h 56515"/>
              <a:gd name="T28" fmla="*/ 8712 w 56514"/>
              <a:gd name="T29" fmla="*/ 54764 h 56515"/>
              <a:gd name="T30" fmla="*/ 5942 w 56514"/>
              <a:gd name="T31" fmla="*/ 41074 h 56515"/>
              <a:gd name="T32" fmla="*/ 8712 w 56514"/>
              <a:gd name="T33" fmla="*/ 27373 h 56515"/>
              <a:gd name="T34" fmla="*/ 16253 w 56514"/>
              <a:gd name="T35" fmla="*/ 16161 h 56515"/>
              <a:gd name="T36" fmla="*/ 27449 w 56514"/>
              <a:gd name="T37" fmla="*/ 8580 h 56515"/>
              <a:gd name="T38" fmla="*/ 41174 w 56514"/>
              <a:gd name="T39" fmla="*/ 5803 h 56515"/>
              <a:gd name="T40" fmla="*/ 60988 w 56514"/>
              <a:gd name="T41" fmla="*/ 5803 h 56515"/>
              <a:gd name="T42" fmla="*/ 57162 w 56514"/>
              <a:gd name="T43" fmla="*/ 3227 h 56515"/>
              <a:gd name="T44" fmla="*/ 41174 w 56514"/>
              <a:gd name="T45" fmla="*/ 0 h 56515"/>
              <a:gd name="T46" fmla="*/ 60988 w 56514"/>
              <a:gd name="T47" fmla="*/ 5803 h 56515"/>
              <a:gd name="T48" fmla="*/ 41174 w 56514"/>
              <a:gd name="T49" fmla="*/ 5803 h 56515"/>
              <a:gd name="T50" fmla="*/ 54902 w 56514"/>
              <a:gd name="T51" fmla="*/ 8580 h 56515"/>
              <a:gd name="T52" fmla="*/ 66100 w 56514"/>
              <a:gd name="T53" fmla="*/ 16161 h 56515"/>
              <a:gd name="T54" fmla="*/ 73648 w 56514"/>
              <a:gd name="T55" fmla="*/ 27373 h 56515"/>
              <a:gd name="T56" fmla="*/ 76410 w 56514"/>
              <a:gd name="T57" fmla="*/ 41074 h 56515"/>
              <a:gd name="T58" fmla="*/ 73648 w 56514"/>
              <a:gd name="T59" fmla="*/ 54764 h 56515"/>
              <a:gd name="T60" fmla="*/ 66100 w 56514"/>
              <a:gd name="T61" fmla="*/ 65962 h 56515"/>
              <a:gd name="T62" fmla="*/ 54902 w 56514"/>
              <a:gd name="T63" fmla="*/ 73516 h 56515"/>
              <a:gd name="T64" fmla="*/ 41174 w 56514"/>
              <a:gd name="T65" fmla="*/ 76290 h 56515"/>
              <a:gd name="T66" fmla="*/ 61158 w 56514"/>
              <a:gd name="T67" fmla="*/ 76290 h 56515"/>
              <a:gd name="T68" fmla="*/ 70231 w 56514"/>
              <a:gd name="T69" fmla="*/ 70161 h 56515"/>
              <a:gd name="T70" fmla="*/ 79055 w 56514"/>
              <a:gd name="T71" fmla="*/ 57080 h 56515"/>
              <a:gd name="T72" fmla="*/ 82294 w 56514"/>
              <a:gd name="T73" fmla="*/ 41074 h 56515"/>
              <a:gd name="T74" fmla="*/ 79055 w 56514"/>
              <a:gd name="T75" fmla="*/ 25088 h 56515"/>
              <a:gd name="T76" fmla="*/ 70231 w 56514"/>
              <a:gd name="T77" fmla="*/ 12031 h 56515"/>
              <a:gd name="T78" fmla="*/ 60988 w 56514"/>
              <a:gd name="T79" fmla="*/ 5803 h 5651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514" h="56515">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199" name="object 7"/>
          <p:cNvSpPr>
            <a:spLocks/>
          </p:cNvSpPr>
          <p:nvPr/>
        </p:nvSpPr>
        <p:spPr bwMode="auto">
          <a:xfrm>
            <a:off x="1363947" y="439937"/>
            <a:ext cx="11553" cy="19253"/>
          </a:xfrm>
          <a:custGeom>
            <a:avLst/>
            <a:gdLst>
              <a:gd name="T0" fmla="*/ 11999 w 25400"/>
              <a:gd name="T1" fmla="*/ 0 h 31750"/>
              <a:gd name="T2" fmla="*/ 0 w 25400"/>
              <a:gd name="T3" fmla="*/ 0 h 31750"/>
              <a:gd name="T4" fmla="*/ 0 w 25400"/>
              <a:gd name="T5" fmla="*/ 31423 h 31750"/>
              <a:gd name="T6" fmla="*/ 5675 w 25400"/>
              <a:gd name="T7" fmla="*/ 31423 h 31750"/>
              <a:gd name="T8" fmla="*/ 5675 w 25400"/>
              <a:gd name="T9" fmla="*/ 18292 h 31750"/>
              <a:gd name="T10" fmla="*/ 16472 w 25400"/>
              <a:gd name="T11" fmla="*/ 18292 h 31750"/>
              <a:gd name="T12" fmla="*/ 15633 w 25400"/>
              <a:gd name="T13" fmla="*/ 17570 h 31750"/>
              <a:gd name="T14" fmla="*/ 21266 w 25400"/>
              <a:gd name="T15" fmla="*/ 14669 h 31750"/>
              <a:gd name="T16" fmla="*/ 21701 w 25400"/>
              <a:gd name="T17" fmla="*/ 13277 h 31750"/>
              <a:gd name="T18" fmla="*/ 5675 w 25400"/>
              <a:gd name="T19" fmla="*/ 13277 h 31750"/>
              <a:gd name="T20" fmla="*/ 5675 w 25400"/>
              <a:gd name="T21" fmla="*/ 5329 h 31750"/>
              <a:gd name="T22" fmla="*/ 22239 w 25400"/>
              <a:gd name="T23" fmla="*/ 5329 h 31750"/>
              <a:gd name="T24" fmla="*/ 21884 w 25400"/>
              <a:gd name="T25" fmla="*/ 3863 h 31750"/>
              <a:gd name="T26" fmla="*/ 18564 w 25400"/>
              <a:gd name="T27" fmla="*/ 848 h 31750"/>
              <a:gd name="T28" fmla="*/ 11999 w 25400"/>
              <a:gd name="T29" fmla="*/ 0 h 31750"/>
              <a:gd name="T30" fmla="*/ 16472 w 25400"/>
              <a:gd name="T31" fmla="*/ 18292 h 31750"/>
              <a:gd name="T32" fmla="*/ 6837 w 25400"/>
              <a:gd name="T33" fmla="*/ 18292 h 31750"/>
              <a:gd name="T34" fmla="*/ 9727 w 25400"/>
              <a:gd name="T35" fmla="*/ 18680 h 31750"/>
              <a:gd name="T36" fmla="*/ 11465 w 25400"/>
              <a:gd name="T37" fmla="*/ 19999 h 31750"/>
              <a:gd name="T38" fmla="*/ 14470 w 25400"/>
              <a:gd name="T39" fmla="*/ 24596 h 31750"/>
              <a:gd name="T40" fmla="*/ 18564 w 25400"/>
              <a:gd name="T41" fmla="*/ 31423 h 31750"/>
              <a:gd name="T42" fmla="*/ 25402 w 25400"/>
              <a:gd name="T43" fmla="*/ 31423 h 31750"/>
              <a:gd name="T44" fmla="*/ 21967 w 25400"/>
              <a:gd name="T45" fmla="*/ 25318 h 31750"/>
              <a:gd name="T46" fmla="*/ 18721 w 25400"/>
              <a:gd name="T47" fmla="*/ 20229 h 31750"/>
              <a:gd name="T48" fmla="*/ 16472 w 25400"/>
              <a:gd name="T49" fmla="*/ 18292 h 31750"/>
              <a:gd name="T50" fmla="*/ 22239 w 25400"/>
              <a:gd name="T51" fmla="*/ 5329 h 31750"/>
              <a:gd name="T52" fmla="*/ 10156 w 25400"/>
              <a:gd name="T53" fmla="*/ 5329 h 31750"/>
              <a:gd name="T54" fmla="*/ 14324 w 25400"/>
              <a:gd name="T55" fmla="*/ 5444 h 31750"/>
              <a:gd name="T56" fmla="*/ 16449 w 25400"/>
              <a:gd name="T57" fmla="*/ 6638 h 31750"/>
              <a:gd name="T58" fmla="*/ 17224 w 25400"/>
              <a:gd name="T59" fmla="*/ 9224 h 31750"/>
              <a:gd name="T60" fmla="*/ 16638 w 25400"/>
              <a:gd name="T61" fmla="*/ 11580 h 31750"/>
              <a:gd name="T62" fmla="*/ 15057 w 25400"/>
              <a:gd name="T63" fmla="*/ 12889 h 31750"/>
              <a:gd name="T64" fmla="*/ 9926 w 25400"/>
              <a:gd name="T65" fmla="*/ 13277 h 31750"/>
              <a:gd name="T66" fmla="*/ 21701 w 25400"/>
              <a:gd name="T67" fmla="*/ 13277 h 31750"/>
              <a:gd name="T68" fmla="*/ 23088 w 25400"/>
              <a:gd name="T69" fmla="*/ 8837 h 31750"/>
              <a:gd name="T70" fmla="*/ 22239 w 25400"/>
              <a:gd name="T71" fmla="*/ 5329 h 317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5400" h="3175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a:extLst>
            <a:ext uri="{91240B29-F687-4F45-9708-019B960494DF}">
              <a14:hiddenLine xmlns:a14="http://schemas.microsoft.com/office/drawing/2010/main" xmlns="" w="9525">
                <a:solidFill>
                  <a:srgbClr val="000000"/>
                </a:solidFill>
                <a:round/>
                <a:headEnd/>
                <a:tailEnd/>
              </a14:hiddenLine>
            </a:ext>
          </a:extLst>
        </p:spPr>
        <p:txBody>
          <a:bodyPr lIns="0" tIns="0" rIns="0" bIns="0"/>
          <a:lstStyle/>
          <a:p>
            <a:pPr defTabSz="232795" eaLnBrk="0" fontAlgn="base" hangingPunct="0">
              <a:spcBef>
                <a:spcPct val="0"/>
              </a:spcBef>
              <a:spcAft>
                <a:spcPct val="0"/>
              </a:spcAft>
            </a:pPr>
            <a:endParaRPr lang="en-IN">
              <a:solidFill>
                <a:prstClr val="black"/>
              </a:solidFill>
              <a:ea typeface="ＭＳ Ｐゴシック" pitchFamily="34" charset="-128"/>
            </a:endParaRPr>
          </a:p>
        </p:txBody>
      </p:sp>
      <p:sp>
        <p:nvSpPr>
          <p:cNvPr id="8" name="object 8"/>
          <p:cNvSpPr txBox="1"/>
          <p:nvPr/>
        </p:nvSpPr>
        <p:spPr>
          <a:xfrm>
            <a:off x="828910" y="265696"/>
            <a:ext cx="623848" cy="367888"/>
          </a:xfrm>
          <a:prstGeom prst="rect">
            <a:avLst/>
          </a:prstGeom>
        </p:spPr>
        <p:txBody>
          <a:bodyPr lIns="0" tIns="8730" rIns="0" bIns="0">
            <a:spAutoFit/>
          </a:bodyPr>
          <a:lstStyle/>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RV College of</a:t>
            </a:r>
          </a:p>
          <a:p>
            <a:pPr marL="6467" defTabSz="232795">
              <a:lnSpc>
                <a:spcPts val="909"/>
              </a:lnSpc>
              <a:spcBef>
                <a:spcPts val="69"/>
              </a:spcBef>
              <a:defRPr/>
            </a:pPr>
            <a:r>
              <a:rPr lang="en-IN" sz="800" b="1" spc="3" dirty="0">
                <a:solidFill>
                  <a:srgbClr val="231F20"/>
                </a:solidFill>
                <a:latin typeface="Helvetica-Bold"/>
                <a:ea typeface="ＭＳ Ｐゴシック" pitchFamily="34" charset="-128"/>
                <a:cs typeface="Helvetica-Bold"/>
              </a:rPr>
              <a:t>Engineering </a:t>
            </a:r>
            <a:endParaRPr sz="800" dirty="0">
              <a:solidFill>
                <a:prstClr val="black"/>
              </a:solidFill>
              <a:latin typeface="Helvetica-Bold"/>
              <a:ea typeface="ＭＳ Ｐゴシック" pitchFamily="34" charset="-128"/>
              <a:cs typeface="Helvetica-Bold"/>
            </a:endParaRPr>
          </a:p>
        </p:txBody>
      </p:sp>
      <p:sp>
        <p:nvSpPr>
          <p:cNvPr id="8201" name="object 9"/>
          <p:cNvSpPr txBox="1">
            <a:spLocks noChangeArrowheads="1"/>
          </p:cNvSpPr>
          <p:nvPr/>
        </p:nvSpPr>
        <p:spPr bwMode="auto">
          <a:xfrm>
            <a:off x="599816" y="742829"/>
            <a:ext cx="7211803" cy="5750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6144" rIns="0" bIns="0">
            <a:spAutoFit/>
          </a:bodyPr>
          <a:lstStyle>
            <a:lvl1pPr marL="12700">
              <a:tabLst>
                <a:tab pos="6483350" algn="l"/>
              </a:tabLst>
              <a:defRPr>
                <a:solidFill>
                  <a:schemeClr val="tx1"/>
                </a:solidFill>
                <a:latin typeface="Calibri" pitchFamily="34" charset="0"/>
                <a:ea typeface="ＭＳ Ｐゴシック" pitchFamily="34" charset="-128"/>
              </a:defRPr>
            </a:lvl1pPr>
            <a:lvl2pPr marL="742950" indent="-285750">
              <a:tabLst>
                <a:tab pos="6483350" algn="l"/>
              </a:tabLst>
              <a:defRPr>
                <a:solidFill>
                  <a:schemeClr val="tx1"/>
                </a:solidFill>
                <a:latin typeface="Calibri" pitchFamily="34" charset="0"/>
                <a:ea typeface="ＭＳ Ｐゴシック" pitchFamily="34" charset="-128"/>
              </a:defRPr>
            </a:lvl2pPr>
            <a:lvl3pPr marL="1143000" indent="-228600">
              <a:tabLst>
                <a:tab pos="6483350" algn="l"/>
              </a:tabLst>
              <a:defRPr>
                <a:solidFill>
                  <a:schemeClr val="tx1"/>
                </a:solidFill>
                <a:latin typeface="Calibri" pitchFamily="34" charset="0"/>
                <a:ea typeface="ＭＳ Ｐゴシック" pitchFamily="34" charset="-128"/>
              </a:defRPr>
            </a:lvl3pPr>
            <a:lvl4pPr marL="1600200" indent="-228600">
              <a:tabLst>
                <a:tab pos="6483350" algn="l"/>
              </a:tabLst>
              <a:defRPr>
                <a:solidFill>
                  <a:schemeClr val="tx1"/>
                </a:solidFill>
                <a:latin typeface="Calibri" pitchFamily="34" charset="0"/>
                <a:ea typeface="ＭＳ Ｐゴシック" pitchFamily="34" charset="-128"/>
              </a:defRPr>
            </a:lvl4pPr>
            <a:lvl5pPr marL="2057400" indent="-228600">
              <a:tabLst>
                <a:tab pos="6483350" algn="l"/>
              </a:tabLst>
              <a:defRPr>
                <a:solidFill>
                  <a:schemeClr val="tx1"/>
                </a:solidFill>
                <a:latin typeface="Calibri" pitchFamily="34" charset="0"/>
                <a:ea typeface="ＭＳ Ｐゴシック" pitchFamily="34" charset="-128"/>
              </a:defRPr>
            </a:lvl5pPr>
            <a:lvl6pPr marL="25146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6pPr>
            <a:lvl7pPr marL="29718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7pPr>
            <a:lvl8pPr marL="34290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8pPr>
            <a:lvl9pPr marL="3886200" indent="-228600" defTabSz="457200" eaLnBrk="0" fontAlgn="base" hangingPunct="0">
              <a:spcBef>
                <a:spcPct val="0"/>
              </a:spcBef>
              <a:spcAft>
                <a:spcPct val="0"/>
              </a:spcAft>
              <a:tabLst>
                <a:tab pos="6483350" algn="l"/>
              </a:tabLst>
              <a:defRPr>
                <a:solidFill>
                  <a:schemeClr val="tx1"/>
                </a:solidFill>
                <a:latin typeface="Calibri" pitchFamily="34" charset="0"/>
                <a:ea typeface="ＭＳ Ｐゴシック" pitchFamily="34" charset="-128"/>
              </a:defRPr>
            </a:lvl9pPr>
          </a:lstStyle>
          <a:p>
            <a:pPr defTabSz="232795" fontAlgn="base">
              <a:lnSpc>
                <a:spcPct val="150000"/>
              </a:lnSpc>
              <a:spcBef>
                <a:spcPts val="51"/>
              </a:spcBef>
              <a:spcAft>
                <a:spcPct val="0"/>
              </a:spcAft>
            </a:pPr>
            <a:r>
              <a:rPr lang="en-US" altLang="en-US" sz="2800" dirty="0" err="1" smtClean="0">
                <a:solidFill>
                  <a:prstClr val="black"/>
                </a:solidFill>
                <a:latin typeface="Times New Roman" pitchFamily="18" charset="0"/>
                <a:cs typeface="Times New Roman" pitchFamily="18" charset="0"/>
              </a:rPr>
              <a:t>Diffie</a:t>
            </a:r>
            <a:r>
              <a:rPr lang="en-US" altLang="en-US" sz="2800" smtClean="0">
                <a:solidFill>
                  <a:prstClr val="black"/>
                </a:solidFill>
                <a:latin typeface="Times New Roman" pitchFamily="18" charset="0"/>
                <a:cs typeface="Times New Roman" pitchFamily="18" charset="0"/>
              </a:rPr>
              <a:t>-Hellman Algorithm</a:t>
            </a:r>
            <a:endParaRPr lang="en-US" altLang="en-US" sz="2800" dirty="0">
              <a:solidFill>
                <a:prstClr val="black"/>
              </a:solidFill>
              <a:latin typeface="Times New Roman" pitchFamily="18" charset="0"/>
              <a:cs typeface="Times New Roman" pitchFamily="18" charset="0"/>
            </a:endParaRPr>
          </a:p>
        </p:txBody>
      </p:sp>
      <p:sp>
        <p:nvSpPr>
          <p:cNvPr id="8202" name="Title 10"/>
          <p:cNvSpPr>
            <a:spLocks noGrp="1"/>
          </p:cNvSpPr>
          <p:nvPr>
            <p:ph type="title"/>
          </p:nvPr>
        </p:nvSpPr>
        <p:spPr>
          <a:xfrm>
            <a:off x="7206027" y="247404"/>
            <a:ext cx="1673704" cy="461665"/>
          </a:xfrm>
        </p:spPr>
        <p:txBody>
          <a:bodyPr/>
          <a:lstStyle/>
          <a:p>
            <a:pPr algn="r" eaLnBrk="1" hangingPunct="1"/>
            <a:r>
              <a:rPr lang="en-US" altLang="en-US" smtClean="0">
                <a:latin typeface="Playfair Display" charset="0"/>
                <a:ea typeface="ＭＳ Ｐゴシック" pitchFamily="34" charset="-128"/>
              </a:rPr>
              <a:t>Go, change the world</a:t>
            </a:r>
          </a:p>
        </p:txBody>
      </p:sp>
      <p:sp>
        <p:nvSpPr>
          <p:cNvPr id="11" name="Content Placeholder 2"/>
          <p:cNvSpPr txBox="1">
            <a:spLocks/>
          </p:cNvSpPr>
          <p:nvPr/>
        </p:nvSpPr>
        <p:spPr bwMode="auto">
          <a:xfrm>
            <a:off x="457200" y="1524000"/>
            <a:ext cx="8305800"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174639" indent="-174639" algn="l" rtl="0" eaLnBrk="0" fontAlgn="base" hangingPunct="0">
              <a:spcBef>
                <a:spcPct val="20000"/>
              </a:spcBef>
              <a:spcAft>
                <a:spcPct val="0"/>
              </a:spcAft>
              <a:defRPr b="0" i="0">
                <a:solidFill>
                  <a:schemeClr val="tx1"/>
                </a:solidFill>
                <a:latin typeface="+mn-lt"/>
                <a:ea typeface="ＭＳ Ｐゴシック" charset="0"/>
                <a:cs typeface="ＭＳ Ｐゴシック" charset="0"/>
              </a:defRPr>
            </a:lvl1pPr>
            <a:lvl2pPr marL="232852" algn="l" rtl="0" eaLnBrk="0" fontAlgn="base" hangingPunct="0">
              <a:spcBef>
                <a:spcPct val="20000"/>
              </a:spcBef>
              <a:spcAft>
                <a:spcPct val="0"/>
              </a:spcAft>
              <a:defRPr>
                <a:solidFill>
                  <a:schemeClr val="tx1"/>
                </a:solidFill>
                <a:latin typeface="+mn-lt"/>
                <a:ea typeface="ＭＳ Ｐゴシック" charset="0"/>
                <a:cs typeface="+mn-cs"/>
              </a:defRPr>
            </a:lvl2pPr>
            <a:lvl3pPr marL="465704" algn="l" rtl="0" eaLnBrk="0" fontAlgn="base" hangingPunct="0">
              <a:spcBef>
                <a:spcPct val="20000"/>
              </a:spcBef>
              <a:spcAft>
                <a:spcPct val="0"/>
              </a:spcAft>
              <a:defRPr>
                <a:solidFill>
                  <a:schemeClr val="tx1"/>
                </a:solidFill>
                <a:latin typeface="+mn-lt"/>
                <a:ea typeface="ＭＳ Ｐゴシック" charset="0"/>
                <a:cs typeface="+mn-cs"/>
              </a:defRPr>
            </a:lvl3pPr>
            <a:lvl4pPr marL="698556" algn="l" rtl="0" eaLnBrk="0" fontAlgn="base" hangingPunct="0">
              <a:spcBef>
                <a:spcPct val="20000"/>
              </a:spcBef>
              <a:spcAft>
                <a:spcPct val="0"/>
              </a:spcAft>
              <a:defRPr>
                <a:solidFill>
                  <a:schemeClr val="tx1"/>
                </a:solidFill>
                <a:latin typeface="+mn-lt"/>
                <a:ea typeface="ＭＳ Ｐゴシック" charset="0"/>
                <a:cs typeface="+mn-cs"/>
              </a:defRPr>
            </a:lvl4pPr>
            <a:lvl5pPr marL="931408" algn="l" rtl="0" eaLnBrk="0" fontAlgn="base" hangingPunct="0">
              <a:spcBef>
                <a:spcPct val="20000"/>
              </a:spcBef>
              <a:spcAft>
                <a:spcPct val="0"/>
              </a:spcAft>
              <a:defRPr>
                <a:solidFill>
                  <a:schemeClr val="tx1"/>
                </a:solidFill>
                <a:latin typeface="+mn-lt"/>
                <a:ea typeface="ＭＳ Ｐゴシック" charset="0"/>
                <a:cs typeface="+mn-cs"/>
              </a:defRPr>
            </a:lvl5pPr>
            <a:lvl6pPr marL="1164260">
              <a:defRPr>
                <a:latin typeface="+mn-lt"/>
                <a:ea typeface="+mn-ea"/>
                <a:cs typeface="+mn-cs"/>
              </a:defRPr>
            </a:lvl6pPr>
            <a:lvl7pPr marL="1397112">
              <a:defRPr>
                <a:latin typeface="+mn-lt"/>
                <a:ea typeface="+mn-ea"/>
                <a:cs typeface="+mn-cs"/>
              </a:defRPr>
            </a:lvl7pPr>
            <a:lvl8pPr marL="1629964">
              <a:defRPr>
                <a:latin typeface="+mn-lt"/>
                <a:ea typeface="+mn-ea"/>
                <a:cs typeface="+mn-cs"/>
              </a:defRPr>
            </a:lvl8pPr>
            <a:lvl9pPr marL="1862816">
              <a:defRPr>
                <a:latin typeface="+mn-lt"/>
                <a:ea typeface="+mn-ea"/>
                <a:cs typeface="+mn-cs"/>
              </a:defRPr>
            </a:lvl9pPr>
          </a:lstStyle>
          <a:p>
            <a:r>
              <a:rPr lang="en-US" sz="2400" dirty="0" smtClean="0"/>
              <a:t>Example: Let p=11, g=2, then</a:t>
            </a:r>
          </a:p>
          <a:p>
            <a:endParaRPr lang="en-US" sz="2400" dirty="0" smtClean="0"/>
          </a:p>
          <a:p>
            <a:endParaRPr lang="en-US" sz="2400" dirty="0" smtClean="0"/>
          </a:p>
          <a:p>
            <a:endParaRPr lang="en-US" sz="2400" dirty="0" smtClean="0"/>
          </a:p>
          <a:p>
            <a:endParaRPr lang="en-US" sz="2400" dirty="0" smtClean="0"/>
          </a:p>
          <a:p>
            <a:pPr>
              <a:buFont typeface="Times" pitchFamily="18" charset="0"/>
              <a:buNone/>
            </a:pPr>
            <a:r>
              <a:rPr lang="en-US" sz="2400" dirty="0" smtClean="0"/>
              <a:t>     A chooses 4, B chooses 3, then shared secret is 		(2</a:t>
            </a:r>
            <a:r>
              <a:rPr lang="en-US" sz="2400" baseline="30000" dirty="0" smtClean="0"/>
              <a:t>3</a:t>
            </a:r>
            <a:r>
              <a:rPr lang="en-US" sz="2400" dirty="0" smtClean="0"/>
              <a:t>)</a:t>
            </a:r>
            <a:r>
              <a:rPr lang="en-US" sz="2400" baseline="30000" dirty="0" smtClean="0"/>
              <a:t>4</a:t>
            </a:r>
            <a:r>
              <a:rPr lang="en-US" sz="2400" dirty="0" smtClean="0"/>
              <a:t>  =  (2</a:t>
            </a:r>
            <a:r>
              <a:rPr lang="en-US" sz="2400" baseline="30000" dirty="0" smtClean="0"/>
              <a:t>4</a:t>
            </a:r>
            <a:r>
              <a:rPr lang="en-US" sz="2400" dirty="0" smtClean="0"/>
              <a:t>)</a:t>
            </a:r>
            <a:r>
              <a:rPr lang="en-US" sz="2400" baseline="30000" dirty="0" smtClean="0"/>
              <a:t>3</a:t>
            </a:r>
            <a:r>
              <a:rPr lang="en-US" sz="2400" dirty="0" smtClean="0"/>
              <a:t>  =  2</a:t>
            </a:r>
            <a:r>
              <a:rPr lang="en-US" sz="2400" baseline="30000" dirty="0" smtClean="0"/>
              <a:t>12</a:t>
            </a:r>
            <a:r>
              <a:rPr lang="en-US" sz="2400" dirty="0" smtClean="0"/>
              <a:t>  =  4  (mod 11)</a:t>
            </a:r>
          </a:p>
          <a:p>
            <a:pPr>
              <a:buFont typeface="Times" pitchFamily="18" charset="0"/>
              <a:buNone/>
            </a:pPr>
            <a:r>
              <a:rPr lang="en-US" sz="2400" dirty="0" smtClean="0"/>
              <a:t>     Adversaries sees 2</a:t>
            </a:r>
            <a:r>
              <a:rPr lang="en-US" sz="2400" baseline="30000" dirty="0" smtClean="0"/>
              <a:t>3</a:t>
            </a:r>
            <a:r>
              <a:rPr lang="en-US" sz="2400" dirty="0" smtClean="0"/>
              <a:t>=8 and 2</a:t>
            </a:r>
            <a:r>
              <a:rPr lang="en-US" sz="2400" baseline="30000" dirty="0" smtClean="0"/>
              <a:t>4</a:t>
            </a:r>
            <a:r>
              <a:rPr lang="en-US" sz="2400" dirty="0" smtClean="0"/>
              <a:t>=5, needs to solve one of 2</a:t>
            </a:r>
            <a:r>
              <a:rPr lang="en-US" sz="2400" baseline="30000" dirty="0" smtClean="0"/>
              <a:t>x</a:t>
            </a:r>
            <a:r>
              <a:rPr lang="en-US" sz="2400" dirty="0" smtClean="0"/>
              <a:t>=8 and 2</a:t>
            </a:r>
            <a:r>
              <a:rPr lang="en-US" sz="2400" baseline="30000" dirty="0" smtClean="0"/>
              <a:t>y</a:t>
            </a:r>
            <a:r>
              <a:rPr lang="en-US" sz="2400" dirty="0" smtClean="0"/>
              <a:t>=5 to figure out the shared secret.</a:t>
            </a:r>
          </a:p>
        </p:txBody>
      </p:sp>
      <p:graphicFrame>
        <p:nvGraphicFramePr>
          <p:cNvPr id="12" name="Table 11"/>
          <p:cNvGraphicFramePr>
            <a:graphicFrameLocks noGrp="1"/>
          </p:cNvGraphicFramePr>
          <p:nvPr>
            <p:extLst>
              <p:ext uri="{D42A27DB-BD31-4B8C-83A1-F6EECF244321}">
                <p14:modId xmlns:p14="http://schemas.microsoft.com/office/powerpoint/2010/main" xmlns="" val="488904047"/>
              </p:ext>
            </p:extLst>
          </p:nvPr>
        </p:nvGraphicFramePr>
        <p:xfrm>
          <a:off x="618073" y="1988839"/>
          <a:ext cx="7543800" cy="1476095"/>
        </p:xfrm>
        <a:graphic>
          <a:graphicData uri="http://schemas.openxmlformats.org/drawingml/2006/table">
            <a:tbl>
              <a:tblPr/>
              <a:tblGrid>
                <a:gridCol w="1143000"/>
                <a:gridCol w="457200"/>
                <a:gridCol w="381000"/>
                <a:gridCol w="381000"/>
                <a:gridCol w="457200"/>
                <a:gridCol w="457200"/>
                <a:gridCol w="457200"/>
                <a:gridCol w="609600"/>
                <a:gridCol w="609600"/>
                <a:gridCol w="609600"/>
                <a:gridCol w="762000"/>
                <a:gridCol w="1219200"/>
              </a:tblGrid>
              <a:tr h="39609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FFFFFF"/>
                          </a:solidFill>
                          <a:effectLst/>
                          <a:latin typeface="Arial" pitchFamily="34" charset="0"/>
                        </a:rPr>
                        <a:t>  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3</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FFFFFF"/>
                          </a:solidFill>
                          <a:effectLst/>
                          <a:latin typeface="Arial" pitchFamily="34" charset="0"/>
                        </a:rPr>
                        <a:t>7</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9</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pitchFamily="34" charset="0"/>
                        </a:rPr>
                        <a:t>11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390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g</a:t>
                      </a:r>
                      <a:r>
                        <a:rPr kumimoji="0" lang="en-US" sz="1800" b="0" i="0" u="none" strike="noStrike" cap="none" normalizeH="0" baseline="30000" smtClean="0">
                          <a:ln>
                            <a:noFill/>
                          </a:ln>
                          <a:solidFill>
                            <a:srgbClr val="000000"/>
                          </a:solidFill>
                          <a:effectLst/>
                          <a:latin typeface="Arial" pitchFamily="34" charset="0"/>
                        </a:rPr>
                        <a:t>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pitchFamily="34"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16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32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64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128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256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512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1024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2048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DEEC"/>
                    </a:solidFill>
                  </a:tcPr>
                </a:tc>
              </a:tr>
              <a:tr h="39609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g</a:t>
                      </a:r>
                      <a:r>
                        <a:rPr kumimoji="0" lang="en-US" sz="1800" b="0" i="0" u="none" strike="noStrike" cap="none" normalizeH="0" baseline="30000" smtClean="0">
                          <a:ln>
                            <a:noFill/>
                          </a:ln>
                          <a:solidFill>
                            <a:srgbClr val="000000"/>
                          </a:solidFill>
                          <a:effectLst/>
                          <a:latin typeface="Arial" pitchFamily="34" charset="0"/>
                        </a:rPr>
                        <a:t>a</a:t>
                      </a:r>
                      <a:r>
                        <a:rPr kumimoji="0" lang="en-US" sz="1800" b="0" i="0" u="none" strike="noStrike" cap="none" normalizeH="0" baseline="0" smtClean="0">
                          <a:ln>
                            <a:noFill/>
                          </a:ln>
                          <a:solidFill>
                            <a:srgbClr val="000000"/>
                          </a:solidFill>
                          <a:effectLst/>
                          <a:latin typeface="Arial" pitchFamily="34" charset="0"/>
                        </a:rPr>
                        <a:t> mod p</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pitchFamily="34" charset="0"/>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9</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7</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3</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pitchFamily="34" charset="0"/>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pitchFamily="34" charset="0"/>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FF6"/>
                    </a:solidFill>
                  </a:tcPr>
                </a:tc>
              </a:tr>
            </a:tbl>
          </a:graphicData>
        </a:graphic>
      </p:graphicFrame>
    </p:spTree>
    <p:extLst>
      <p:ext uri="{BB962C8B-B14F-4D97-AF65-F5344CB8AC3E}">
        <p14:creationId xmlns:p14="http://schemas.microsoft.com/office/powerpoint/2010/main" xmlns="" val="29892156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lt1">
            <a:alpha val="99000"/>
          </a:schemeClr>
        </a:solidFill>
        <a:ln w="76200">
          <a:solidFill>
            <a:srgbClr val="5E6DB3"/>
          </a:solidFill>
        </a:ln>
      </a:spPr>
      <a:bodyPr rtlCol="0" anchor="ctr"/>
      <a:lstStyle>
        <a:defPPr algn="ctr">
          <a:defRPr dirty="0">
            <a:solidFill>
              <a:srgbClr val="FFFFFF"/>
            </a:solidFill>
          </a:defRPr>
        </a:defPPr>
      </a:lstStyle>
      <a:style>
        <a:lnRef idx="2">
          <a:schemeClr val="accent4"/>
        </a:lnRef>
        <a:fillRef idx="1">
          <a:schemeClr val="lt1"/>
        </a:fillRef>
        <a:effectRef idx="0">
          <a:schemeClr val="accent4"/>
        </a:effectRef>
        <a:fontRef idx="minor">
          <a:schemeClr val="dk1"/>
        </a:fontRef>
      </a:style>
    </a:spDef>
  </a:objectDefaults>
  <a:extraClrSchemeLst/>
</a:theme>
</file>

<file path=docProps/app.xml><?xml version="1.0" encoding="utf-8"?>
<Properties xmlns="http://schemas.openxmlformats.org/officeDocument/2006/extended-properties" xmlns:vt="http://schemas.openxmlformats.org/officeDocument/2006/docPropsVTypes">
  <TotalTime>50</TotalTime>
  <Words>3275</Words>
  <Application>Microsoft Office PowerPoint</Application>
  <PresentationFormat>On-screen Show (4:3)</PresentationFormat>
  <Paragraphs>432</Paragraphs>
  <Slides>45</Slides>
  <Notes>0</Notes>
  <HiddenSlides>0</HiddenSlides>
  <MMClips>0</MMClips>
  <ScaleCrop>false</ScaleCrop>
  <HeadingPairs>
    <vt:vector size="4" baseType="variant">
      <vt:variant>
        <vt:lpstr>Theme</vt:lpstr>
      </vt:variant>
      <vt:variant>
        <vt:i4>2</vt:i4>
      </vt:variant>
      <vt:variant>
        <vt:lpstr>Slide Titles</vt:lpstr>
      </vt:variant>
      <vt:variant>
        <vt:i4>45</vt:i4>
      </vt:variant>
    </vt:vector>
  </HeadingPairs>
  <TitlesOfParts>
    <vt:vector size="47" baseType="lpstr">
      <vt:lpstr>Office Theme</vt:lpstr>
      <vt:lpstr>1_Office Theme</vt:lpstr>
      <vt:lpstr>Slide 1</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lpstr>Go, change the world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RVCECS</dc:creator>
  <cp:lastModifiedBy>Sneha</cp:lastModifiedBy>
  <cp:revision>10</cp:revision>
  <dcterms:created xsi:type="dcterms:W3CDTF">2020-10-20T00:29:00Z</dcterms:created>
  <dcterms:modified xsi:type="dcterms:W3CDTF">2020-10-20T06:52:33Z</dcterms:modified>
</cp:coreProperties>
</file>